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73" r:id="rId24"/>
    <p:sldId id="261" r:id="rId7"/>
    <p:sldId id="262" r:id="rId8"/>
    <p:sldId id="263" r:id="rId9"/>
    <p:sldId id="264" r:id="rId10"/>
    <p:sldId id="265" r:id="rId11"/>
    <p:sldId id="266" r:id="rId12"/>
    <p:sldId id="267" r:id="rId13"/>
    <p:sldId id="274" r:id="rId25"/>
    <p:sldId id="275" r:id="rId26"/>
    <p:sldId id="268" r:id="rId14"/>
    <p:sldId id="276" r:id="rId27"/>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0739" autoAdjust="0"/>
  </p:normalViewPr>
  <p:slideViewPr>
    <p:cSldViewPr snapToGrid="0" snapToObjects="1">
      <p:cViewPr varScale="1">
        <p:scale>
          <a:sx n="73" d="100"/>
          <a:sy n="73" d="100"/>
        </p:scale>
        <p:origin x="127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5244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Je vais vous présenter aujourd'hui le POC Avantages Sportifs, un projet que nous avons développé pour automatiser le calcul des avantages liés à l'activité physique de nos employés. Cette présentation durera environ 15 minutes. Je vais vous expliquer le contexte, l'architecture technique, et vous montrer les résultats concrets que nous avons obtenus.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plan de notre présentation. Nous allons d'abord poser le contexte, puis je vous expliquerai les deux avantages que nous calculons automatiquement. Ensuite nous plongerons dans l'architecture technique avec ses trois flows Docker, l'orchestration Kestra, et enfin les rapports PowerBI que nous avons construits. Je terminerai par les résultats et les évolutions possibles vers la production.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de départ de ce projet est simple : aujourd'hui, le calcul des avantages liés à l'activité physique des salariés est fait manuellement par les RH. C'est long, fastidieux et source d'erreurs. Nous avons 161 salariés concernés. L'idée du POC est d'automatiser entièrement ce processus en s'appuyant sur Strava, l'application de suivi d'activité physique utilisée par plus de 100 millions de personnes dans </a:t>
            </a:r>
            <a:r>
              <a:rPr lang="en-US"/>
              <a:t>le monde</a:t>
            </a:r>
            <a:r>
              <a:rPr lang="en-US" dirty="0"/>
              <a:t>. Les salariés qui utilisent déjà Strava au quotidien peuvent simplement autoriser notre application à lire leurs données, sans rien changer à leurs habitudes.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avantages sont calculés automatiquement. Le premier : la prime de trajet. Elle correspond à 5% du salaire brut annuel et est accordée aux salariés qui déclarent se déplacer sportivement. Nous validons ces déclarations grâce à l'API Google Maps : si quelqu'un déclare venir à pied mais habite à 30 km, nous le détectons. Le deuxième avantage : les 5 jours bien-être. Ce sont 5 jours de congés supplémentaires accordés aux salariés qui ont enregistré au moins 15 activités physiques sur les 12 derniers mois glissants. Peu importe le sport — course, vélo, natation, tout compte.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L'architecture est structurée en trois flows Docker Compose indépendants, orchestrés par Kestra. Chaque flow a une responsabilité claire. Le premier gère l'autorisation OAuth et la collecte des activités Strava. Le deuxième envoie des notifications Slack en temps réel dès qu'une nouvelle activité est détectée. Le troisième est le pipeline ETL qui nettoie les données et calcule les primes. Tous ces composants communiquent via un réseau Docker partagé et une base SQL Server centrale. L'intérêt de cette architecture modulaire est que chaque composant peut être démarré, arrêté ou modifié indépendamment.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comment fonctionne la collecte des données Strava. Chaque salarié reçoit un email personnalisé avec un lien unique. Ce lien contient son identifiant employé dans le paramètre state de la requête OAuth. Quand il clique et autorise l'application sur Strava, Strava nous renvoie ce même identifiant avec les tokens d'accès. On sait donc exactement à quel employé RH correspondent les données Strava. La clé technique ici est l'utilisation du paramètre state d'OAuth 2.0 — c'est une fonctionnalité standard du protocole qui nous permet de lier chaque autorisation à un identifiant employé sans créer de compte utilisateur supplémentaire.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deuxième flow gère les notifications Slack en temps réel. Dès qu'un salarié enregistre une nouvelle activité sur Strava, notre système la détecte et envoie une notification sur Slack en quelques secondes. Techniquement, nous utilisons le CDC — Change Data Capture — de SQL Server. Debezium capture ces événements et les envoie en HTTP à notre service Flask. Flask filtre uniquement les insertions et poste le message sur Slack. Un point important : nous avons évité Kafka, qui aurait ajouté une complexité importante. Debezium peut fonctionner avec un simple fichier local pour stocker sa position de lecture.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troisième flow est le pipeline ETL. Il enchaîne trois conteneurs. Le premier exporte les données brutes depuis SQL Server, les passe dans DuckDB pour les enrichir, puis les réinsère proprement. Il nettoie également les données : suppression des doublons, normalisation des formats. Le deuxième conteneur exécute des tests qualité automatisés et envoie un rapport par email. Le troisième conteneur calcule les deux primes. Les résultats sont exportés à la fois en base SQL Server et en fichiers Excel horodatés.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point important du POC est la validation des déclarations de mode de transport. Un salarié pourrait déclarer venir à pied pour bénéficier de la prime de trajet, alors qu'il habite à 40 kilomètres. Pour éviter cela, nous interrogeons l'API Google Maps Distance Matrix. Pour chaque salarié ayant déclaré venir à pied ou en vélo, nous calculons la distance réelle entre son domicile et son lieu de travail. Si la distance est supérieure au seuil défini, nous signalons une anomalie. Les RH reçoivent alors un email avec la liste des déclarations suspectes à vérifier.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Kestra orchestre l'ensemble du projet. Deux flows sont configurés. Le premier, flow_getdata, s'exécute toutes les 2 minutes pour synchroniser les activités Strava. Il est configuré pour n'autoriser qu'une seule exécution simultanée. Le deuxième flow, flow_powerbi, s'exécute chaque lundi matin à 6h. Il enchaîne tous les scripts dans l'ordre. En cas d'échec, Kestra réessaie automatiquement 3 fois. Dans tous les cas, une notification email est envoyée. L'interface web de Kestra permet de suivre en temps réel l'état des exécutions.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la sécurité, nous avons appliqué les bonnes pratiques de base pour le POC. Aucun credential n'est hardcodé dans le code — tout passe par des variables d'environnement. Les fichiers .env sont exclus du git. Les requêtes SQL sont paramétrées pour prévenir les injections. Pour la production, plusieurs points sont à améliorer : remplacer le compte administrateur SQL par un compte avec des droits limités, mettre en place un vrai certificat TLS, et utiliser Kestra Enterprise pour la gestion native des secrets.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avons construit deux rapports PowerBI. Le rapport RH donne une vue de pilotage complète avec quatre pages. La première est un tableau de bord avec les KPIs principaux filtrable par Business Unit. Les pages suivantes donnent le détail par salarié pour chaque avantage. La page sur les 5 jours bien-être affiche notamment un histogramme avec une ligne rouge à 15 activités — le seuil d'éligibilité — ce qui permet aux RH de voir d'un coup d'œil qui est proche du seuil.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deuxième rapport est orienté employé. Chaque salarié peut consulter son propre tableau de bord : combien d'activités il a faites sur les 12 derniers mois, s'il est éligible aux 5 jours bien-être, et s'il est éligible à la prime de trajet. Une jauge visuelle montre sa progression vers le seuil des 15 activités. Pour le POC, nous avons utilisé un sélecteur d'identifiant pour simuler la vue par employé. En production, cela serait remplacé par du Row-Level Security sur PowerBI Service.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POC remplit ses objectifs. Nous avons démontré que la collecte OAuth Strava fonctionne de bout en bout. Le pipeline ETL enchaîne automatiquement l'export, le nettoyage, les tests qualité et le calcul des primes. Les notifications Slack arrivent en moins de 5 secondes. Les deux rapports PowerBI sont opérationnels et permettent aux RH et aux employés de consulter leurs données en temps réel.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passer en production, plusieurs évolutions sont nécessaires. Les trois priorités hautes sont : la sécurité SQL, l'historisation des primes — aujourd'hui chaque calcul écrase le précédent — et la table de mapping entre identifiants Strava et employés RH. En priorité moyenne, le Row-Level Security sur PowerBI Service est indispensable pour le rapport employé en production.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ce POC démontre la faisabilité technique complète du projet. En partant de zéro, nous avons construit une architecture Docker modulaire qui collecte les données Strava via OAuth, les traite dans un pipeline ETL automatisé, calcule les primes en quelques secondes, notifie les équipes via Slack en temps réel, et présente les résultats dans des rapports PowerBI dédiés aux RH et aux employés. Ce qui prenait plusieurs heures de travail manuel peut maintenant être fait automatiquement chaque lundi matin. Merci pour votre attention.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vous remercie pour votre attention. N'hésitez pas à poser vos questions sur l'architecture, les choix techniques, ou les évolutions envisagées.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a:effectLst/>
      </p:bgPr>
    </p:bg>
    <p:spTree>
      <p:nvGrpSpPr>
        <p:cNvPr id="1" name=""/>
        <p:cNvGrpSpPr/>
        <p:nvPr/>
      </p:nvGrpSpPr>
      <p:grpSpPr>
        <a:xfrm>
          <a:off x="0" y="0"/>
          <a:ext cx="0" cy="0"/>
          <a:chOff x="0" y="0"/>
          <a:chExt cx="0" cy="0"/>
        </a:xfrm>
      </p:grpSpPr>
      <p:sp>
        <p:nvSpPr>
          <p:cNvPr id="2" name="Shape 0"/>
          <p:cNvSpPr/>
          <p:nvPr/>
        </p:nvSpPr>
        <p:spPr>
          <a:xfrm>
            <a:off x="6217920" y="-457200"/>
            <a:ext cx="4114800" cy="4114800"/>
          </a:xfrm>
          <a:prstGeom prst="ellipse">
            <a:avLst/>
          </a:prstGeom>
          <a:solidFill>
            <a:srgbClr val="2E75B6">
              <a:alpha val="30000"/>
            </a:srgbClr>
          </a:solidFill>
          <a:ln w="12700">
            <a:solidFill>
              <a:srgbClr val="2E75B6">
                <a:alpha val="30000"/>
              </a:srgbClr>
            </a:solidFill>
            <a:prstDash val="solid"/>
          </a:ln>
        </p:spPr>
        <p:txBody>
          <a:bodyPr/>
          <a:lstStyle/>
          <a:p>
            <a:endParaRPr lang="fr-FR"/>
          </a:p>
        </p:txBody>
      </p:sp>
      <p:sp>
        <p:nvSpPr>
          <p:cNvPr id="3" name="Shape 1"/>
          <p:cNvSpPr/>
          <p:nvPr/>
        </p:nvSpPr>
        <p:spPr>
          <a:xfrm>
            <a:off x="6858000" y="457200"/>
            <a:ext cx="2743200" cy="2743200"/>
          </a:xfrm>
          <a:prstGeom prst="ellipse">
            <a:avLst/>
          </a:prstGeom>
          <a:solidFill>
            <a:srgbClr val="70AD47">
              <a:alpha val="40000"/>
            </a:srgbClr>
          </a:solidFill>
          <a:ln w="12700">
            <a:solidFill>
              <a:srgbClr val="70AD47">
                <a:alpha val="40000"/>
              </a:srgbClr>
            </a:solidFill>
            <a:prstDash val="solid"/>
          </a:ln>
        </p:spPr>
        <p:txBody>
          <a:bodyPr/>
          <a:lstStyle/>
          <a:p>
            <a:endParaRPr lang="fr-FR"/>
          </a:p>
        </p:txBody>
      </p:sp>
      <p:sp>
        <p:nvSpPr>
          <p:cNvPr id="4" name="Text 2"/>
          <p:cNvSpPr/>
          <p:nvPr/>
        </p:nvSpPr>
        <p:spPr>
          <a:xfrm>
            <a:off x="548640" y="1097280"/>
            <a:ext cx="7315200" cy="1097280"/>
          </a:xfrm>
          <a:prstGeom prst="rect">
            <a:avLst/>
          </a:prstGeom>
          <a:noFill/>
          <a:ln/>
        </p:spPr>
        <p:txBody>
          <a:bodyPr wrap="square" rtlCol="0" anchor="ctr"/>
          <a:lstStyle/>
          <a:p>
            <a:pPr marL="0" indent="0">
              <a:buNone/>
            </a:pPr>
            <a:r>
              <a:rPr lang="en-US" sz="4400" b="1" dirty="0">
                <a:solidFill>
                  <a:srgbClr val="FFFFFF"/>
                </a:solidFill>
                <a:latin typeface="Arial" pitchFamily="34" charset="0"/>
                <a:ea typeface="Arial" pitchFamily="34" charset="-122"/>
                <a:cs typeface="Arial" pitchFamily="34" charset="-120"/>
              </a:rPr>
              <a:t>Avantages Sportifs</a:t>
            </a:r>
            <a:endParaRPr lang="en-US" sz="4400" dirty="0"/>
          </a:p>
        </p:txBody>
      </p:sp>
      <p:sp>
        <p:nvSpPr>
          <p:cNvPr id="5" name="Text 3"/>
          <p:cNvSpPr/>
          <p:nvPr/>
        </p:nvSpPr>
        <p:spPr>
          <a:xfrm>
            <a:off x="548640" y="2331720"/>
            <a:ext cx="6858000" cy="640080"/>
          </a:xfrm>
          <a:prstGeom prst="rect">
            <a:avLst/>
          </a:prstGeom>
          <a:noFill/>
          <a:ln/>
        </p:spPr>
        <p:txBody>
          <a:bodyPr wrap="square" rtlCol="0" anchor="ctr"/>
          <a:lstStyle/>
          <a:p>
            <a:pPr marL="0" indent="0">
              <a:buNone/>
            </a:pPr>
            <a:r>
              <a:rPr lang="en-US" sz="1800" i="1" dirty="0">
                <a:solidFill>
                  <a:srgbClr val="BDD7EE"/>
                </a:solidFill>
                <a:latin typeface="Arial" pitchFamily="34" charset="0"/>
                <a:ea typeface="Arial" pitchFamily="34" charset="-122"/>
                <a:cs typeface="Arial" pitchFamily="34" charset="-120"/>
              </a:rPr>
              <a:t>POC — Automatisation du calcul des avantages employés via Strava</a:t>
            </a:r>
            <a:endParaRPr lang="en-US" sz="1800" dirty="0"/>
          </a:p>
        </p:txBody>
      </p:sp>
      <p:sp>
        <p:nvSpPr>
          <p:cNvPr id="6" name="Shape 4"/>
          <p:cNvSpPr/>
          <p:nvPr/>
        </p:nvSpPr>
        <p:spPr>
          <a:xfrm>
            <a:off x="548640" y="3200400"/>
            <a:ext cx="3200400" cy="54864"/>
          </a:xfrm>
          <a:prstGeom prst="rect">
            <a:avLst/>
          </a:prstGeom>
          <a:solidFill>
            <a:srgbClr val="70AD47"/>
          </a:solidFill>
          <a:ln w="12700">
            <a:solidFill>
              <a:srgbClr val="70AD47"/>
            </a:solidFill>
            <a:prstDash val="solid"/>
          </a:ln>
        </p:spPr>
        <p:txBody>
          <a:bodyPr/>
          <a:lstStyle/>
          <a:p>
            <a:endParaRPr lang="fr-FR"/>
          </a:p>
        </p:txBody>
      </p:sp>
      <p:sp>
        <p:nvSpPr>
          <p:cNvPr id="7" name="Text 5"/>
          <p:cNvSpPr/>
          <p:nvPr/>
        </p:nvSpPr>
        <p:spPr>
          <a:xfrm>
            <a:off x="548640" y="3429000"/>
            <a:ext cx="5486400" cy="365760"/>
          </a:xfrm>
          <a:prstGeom prst="rect">
            <a:avLst/>
          </a:prstGeom>
          <a:noFill/>
          <a:ln/>
        </p:spPr>
        <p:txBody>
          <a:bodyPr wrap="square" rtlCol="0" anchor="ctr"/>
          <a:lstStyle/>
          <a:p>
            <a:pPr marL="0" indent="0">
              <a:buNone/>
            </a:pPr>
            <a:r>
              <a:rPr lang="en-US" sz="1300" dirty="0">
                <a:solidFill>
                  <a:srgbClr val="9DC3E6"/>
                </a:solidFill>
                <a:latin typeface="Arial" pitchFamily="34" charset="0"/>
                <a:ea typeface="Arial" pitchFamily="34" charset="-122"/>
                <a:cs typeface="Arial" pitchFamily="34" charset="-120"/>
              </a:rPr>
              <a:t>Sport Data Solution  |  Juin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marL="0" indent="0">
              <a:buNone/>
            </a:pPr>
            <a:r>
              <a:rPr lang="en-US" sz="2600" b="1" dirty="0">
                <a:solidFill>
                  <a:srgbClr val="1F4E79"/>
                </a:solidFill>
                <a:latin typeface="Arial" pitchFamily="34" charset="0"/>
                <a:ea typeface="Arial" pitchFamily="34" charset="-122"/>
                <a:cs typeface="Arial" pitchFamily="34" charset="-120"/>
              </a:rPr>
              <a:t>Au programme</a:t>
            </a:r>
            <a:endParaRPr lang="en-US" sz="2600" dirty="0"/>
          </a:p>
        </p:txBody>
      </p:sp>
      <p:sp>
        <p:nvSpPr>
          <p:cNvPr id="3" name="Shape 1"/>
          <p:cNvSpPr/>
          <p:nvPr/>
        </p:nvSpPr>
        <p:spPr>
          <a:xfrm>
            <a:off x="457200" y="896112"/>
            <a:ext cx="1097280" cy="54864"/>
          </a:xfrm>
          <a:prstGeom prst="rect">
            <a:avLst/>
          </a:prstGeom>
          <a:solidFill>
            <a:srgbClr val="2E75B6"/>
          </a:solidFill>
          <a:ln w="12700">
            <a:solidFill>
              <a:srgbClr val="2E75B6"/>
            </a:solidFill>
            <a:prstDash val="solid"/>
          </a:ln>
        </p:spPr>
        <p:txBody>
          <a:bodyPr/>
          <a:lstStyle/>
          <a:p>
            <a:endParaRPr lang="fr-FR"/>
          </a:p>
        </p:txBody>
      </p:sp>
      <p:sp>
        <p:nvSpPr>
          <p:cNvPr id="4" name="Shape 2"/>
          <p:cNvSpPr/>
          <p:nvPr/>
        </p:nvSpPr>
        <p:spPr>
          <a:xfrm>
            <a:off x="457200" y="1051560"/>
            <a:ext cx="347472" cy="347472"/>
          </a:xfrm>
          <a:prstGeom prst="ellipse">
            <a:avLst/>
          </a:prstGeom>
          <a:solidFill>
            <a:srgbClr val="2E75B6"/>
          </a:solidFill>
          <a:ln w="12700">
            <a:solidFill>
              <a:srgbClr val="2E75B6"/>
            </a:solidFill>
            <a:prstDash val="solid"/>
          </a:ln>
        </p:spPr>
        <p:txBody>
          <a:bodyPr/>
          <a:lstStyle/>
          <a:p>
            <a:endParaRPr lang="fr-FR"/>
          </a:p>
        </p:txBody>
      </p:sp>
      <p:sp>
        <p:nvSpPr>
          <p:cNvPr id="5" name="Text 3"/>
          <p:cNvSpPr/>
          <p:nvPr/>
        </p:nvSpPr>
        <p:spPr>
          <a:xfrm>
            <a:off x="457200" y="105156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6" name="Text 4"/>
          <p:cNvSpPr/>
          <p:nvPr/>
        </p:nvSpPr>
        <p:spPr>
          <a:xfrm>
            <a:off x="960120" y="1078992"/>
            <a:ext cx="3657600" cy="320040"/>
          </a:xfrm>
          <a:prstGeom prst="rect">
            <a:avLst/>
          </a:prstGeom>
          <a:noFill/>
          <a:ln/>
        </p:spPr>
        <p:txBody>
          <a:bodyPr wrap="square" lIns="0" tIns="0" rIns="0" bIns="0" rtlCol="0" anchor="ctr"/>
          <a:lstStyle/>
          <a:p>
            <a:pPr marL="0" indent="0">
              <a:buNone/>
            </a:pPr>
            <a:r>
              <a:rPr lang="en-US" sz="1300" dirty="0">
                <a:solidFill>
                  <a:srgbClr val="1A1A2E"/>
                </a:solidFill>
                <a:latin typeface="Arial" pitchFamily="34" charset="0"/>
                <a:ea typeface="Arial" pitchFamily="34" charset="-122"/>
                <a:cs typeface="Arial" pitchFamily="34" charset="-120"/>
              </a:rPr>
              <a:t>Contexte et objectifs</a:t>
            </a:r>
            <a:endParaRPr lang="en-US" sz="1300" dirty="0"/>
          </a:p>
        </p:txBody>
      </p:sp>
      <p:sp>
        <p:nvSpPr>
          <p:cNvPr id="7" name="Shape 5"/>
          <p:cNvSpPr/>
          <p:nvPr/>
        </p:nvSpPr>
        <p:spPr>
          <a:xfrm>
            <a:off x="457200" y="1764792"/>
            <a:ext cx="347472" cy="347472"/>
          </a:xfrm>
          <a:prstGeom prst="ellipse">
            <a:avLst/>
          </a:prstGeom>
          <a:solidFill>
            <a:srgbClr val="2E75B6"/>
          </a:solidFill>
          <a:ln w="12700">
            <a:solidFill>
              <a:srgbClr val="2E75B6"/>
            </a:solidFill>
            <a:prstDash val="solid"/>
          </a:ln>
        </p:spPr>
        <p:txBody>
          <a:bodyPr/>
          <a:lstStyle/>
          <a:p>
            <a:endParaRPr lang="fr-FR"/>
          </a:p>
        </p:txBody>
      </p:sp>
      <p:sp>
        <p:nvSpPr>
          <p:cNvPr id="8" name="Text 6"/>
          <p:cNvSpPr/>
          <p:nvPr/>
        </p:nvSpPr>
        <p:spPr>
          <a:xfrm>
            <a:off x="457200" y="176479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9" name="Text 7"/>
          <p:cNvSpPr/>
          <p:nvPr/>
        </p:nvSpPr>
        <p:spPr>
          <a:xfrm>
            <a:off x="960120" y="1792224"/>
            <a:ext cx="3657600" cy="320040"/>
          </a:xfrm>
          <a:prstGeom prst="rect">
            <a:avLst/>
          </a:prstGeom>
          <a:noFill/>
          <a:ln/>
        </p:spPr>
        <p:txBody>
          <a:bodyPr wrap="square" lIns="0" tIns="0" rIns="0" bIns="0" rtlCol="0" anchor="ctr"/>
          <a:lstStyle/>
          <a:p>
            <a:pPr marL="0" indent="0">
              <a:buNone/>
            </a:pPr>
            <a:r>
              <a:rPr lang="en-US" sz="1300" dirty="0">
                <a:solidFill>
                  <a:srgbClr val="1A1A2E"/>
                </a:solidFill>
                <a:latin typeface="Arial" pitchFamily="34" charset="0"/>
                <a:ea typeface="Arial" pitchFamily="34" charset="-122"/>
                <a:cs typeface="Arial" pitchFamily="34" charset="-120"/>
              </a:rPr>
              <a:t>Les deux avantages calculés</a:t>
            </a:r>
            <a:endParaRPr lang="en-US" sz="1300" dirty="0"/>
          </a:p>
        </p:txBody>
      </p:sp>
      <p:sp>
        <p:nvSpPr>
          <p:cNvPr id="10" name="Shape 8"/>
          <p:cNvSpPr/>
          <p:nvPr/>
        </p:nvSpPr>
        <p:spPr>
          <a:xfrm>
            <a:off x="457200" y="2478024"/>
            <a:ext cx="347472" cy="347472"/>
          </a:xfrm>
          <a:prstGeom prst="ellipse">
            <a:avLst/>
          </a:prstGeom>
          <a:solidFill>
            <a:srgbClr val="2E75B6"/>
          </a:solidFill>
          <a:ln w="12700">
            <a:solidFill>
              <a:srgbClr val="2E75B6"/>
            </a:solidFill>
            <a:prstDash val="solid"/>
          </a:ln>
        </p:spPr>
        <p:txBody>
          <a:bodyPr/>
          <a:lstStyle/>
          <a:p>
            <a:endParaRPr lang="fr-FR"/>
          </a:p>
        </p:txBody>
      </p:sp>
      <p:sp>
        <p:nvSpPr>
          <p:cNvPr id="11" name="Text 9"/>
          <p:cNvSpPr/>
          <p:nvPr/>
        </p:nvSpPr>
        <p:spPr>
          <a:xfrm>
            <a:off x="457200" y="247802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2" name="Text 10"/>
          <p:cNvSpPr/>
          <p:nvPr/>
        </p:nvSpPr>
        <p:spPr>
          <a:xfrm>
            <a:off x="960120" y="2505456"/>
            <a:ext cx="3657600" cy="320040"/>
          </a:xfrm>
          <a:prstGeom prst="rect">
            <a:avLst/>
          </a:prstGeom>
          <a:noFill/>
          <a:ln/>
        </p:spPr>
        <p:txBody>
          <a:bodyPr wrap="square" lIns="0" tIns="0" rIns="0" bIns="0" rtlCol="0" anchor="ctr"/>
          <a:lstStyle/>
          <a:p>
            <a:pPr marL="0" indent="0">
              <a:buNone/>
            </a:pPr>
            <a:r>
              <a:rPr lang="en-US" sz="1300" dirty="0">
                <a:solidFill>
                  <a:srgbClr val="1A1A2E"/>
                </a:solidFill>
                <a:latin typeface="Arial" pitchFamily="34" charset="0"/>
                <a:ea typeface="Arial" pitchFamily="34" charset="-122"/>
                <a:cs typeface="Arial" pitchFamily="34" charset="-120"/>
              </a:rPr>
              <a:t>Architecture technique</a:t>
            </a:r>
            <a:endParaRPr lang="en-US" sz="1300" dirty="0"/>
          </a:p>
        </p:txBody>
      </p:sp>
      <p:sp>
        <p:nvSpPr>
          <p:cNvPr id="13" name="Shape 11"/>
          <p:cNvSpPr/>
          <p:nvPr/>
        </p:nvSpPr>
        <p:spPr>
          <a:xfrm>
            <a:off x="457200" y="3191256"/>
            <a:ext cx="347472" cy="347472"/>
          </a:xfrm>
          <a:prstGeom prst="ellipse">
            <a:avLst/>
          </a:prstGeom>
          <a:solidFill>
            <a:srgbClr val="2E75B6"/>
          </a:solidFill>
          <a:ln w="12700">
            <a:solidFill>
              <a:srgbClr val="2E75B6"/>
            </a:solidFill>
            <a:prstDash val="solid"/>
          </a:ln>
        </p:spPr>
        <p:txBody>
          <a:bodyPr/>
          <a:lstStyle/>
          <a:p>
            <a:endParaRPr lang="fr-FR"/>
          </a:p>
        </p:txBody>
      </p:sp>
      <p:sp>
        <p:nvSpPr>
          <p:cNvPr id="14" name="Text 12"/>
          <p:cNvSpPr/>
          <p:nvPr/>
        </p:nvSpPr>
        <p:spPr>
          <a:xfrm>
            <a:off x="457200" y="319125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15" name="Text 13"/>
          <p:cNvSpPr/>
          <p:nvPr/>
        </p:nvSpPr>
        <p:spPr>
          <a:xfrm>
            <a:off x="960120" y="3218688"/>
            <a:ext cx="3657600" cy="320040"/>
          </a:xfrm>
          <a:prstGeom prst="rect">
            <a:avLst/>
          </a:prstGeom>
          <a:noFill/>
          <a:ln/>
        </p:spPr>
        <p:txBody>
          <a:bodyPr wrap="square" lIns="0" tIns="0" rIns="0" bIns="0" rtlCol="0" anchor="ctr"/>
          <a:lstStyle/>
          <a:p>
            <a:pPr marL="0" indent="0">
              <a:buNone/>
            </a:pPr>
            <a:r>
              <a:rPr lang="en-US" sz="1300" dirty="0">
                <a:solidFill>
                  <a:srgbClr val="1A1A2E"/>
                </a:solidFill>
                <a:latin typeface="Arial" pitchFamily="34" charset="0"/>
                <a:ea typeface="Arial" pitchFamily="34" charset="-122"/>
                <a:cs typeface="Arial" pitchFamily="34" charset="-120"/>
              </a:rPr>
              <a:t>Flow 1 — Collecte Strava (OAuth)</a:t>
            </a:r>
            <a:endParaRPr lang="en-US" sz="1300" dirty="0"/>
          </a:p>
        </p:txBody>
      </p:sp>
      <p:sp>
        <p:nvSpPr>
          <p:cNvPr id="16" name="Shape 14"/>
          <p:cNvSpPr/>
          <p:nvPr/>
        </p:nvSpPr>
        <p:spPr>
          <a:xfrm>
            <a:off x="457200" y="3904488"/>
            <a:ext cx="347472" cy="347472"/>
          </a:xfrm>
          <a:prstGeom prst="ellipse">
            <a:avLst/>
          </a:prstGeom>
          <a:solidFill>
            <a:srgbClr val="2E75B6"/>
          </a:solidFill>
          <a:ln w="12700">
            <a:solidFill>
              <a:srgbClr val="2E75B6"/>
            </a:solidFill>
            <a:prstDash val="solid"/>
          </a:ln>
        </p:spPr>
        <p:txBody>
          <a:bodyPr/>
          <a:lstStyle/>
          <a:p>
            <a:endParaRPr lang="fr-FR"/>
          </a:p>
        </p:txBody>
      </p:sp>
      <p:sp>
        <p:nvSpPr>
          <p:cNvPr id="17" name="Text 15"/>
          <p:cNvSpPr/>
          <p:nvPr/>
        </p:nvSpPr>
        <p:spPr>
          <a:xfrm>
            <a:off x="457200" y="3904488"/>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18" name="Text 16"/>
          <p:cNvSpPr/>
          <p:nvPr/>
        </p:nvSpPr>
        <p:spPr>
          <a:xfrm>
            <a:off x="960120" y="3931920"/>
            <a:ext cx="3657600" cy="320040"/>
          </a:xfrm>
          <a:prstGeom prst="rect">
            <a:avLst/>
          </a:prstGeom>
          <a:noFill/>
          <a:ln/>
        </p:spPr>
        <p:txBody>
          <a:bodyPr wrap="square" lIns="0" tIns="0" rIns="0" bIns="0" rtlCol="0" anchor="ctr"/>
          <a:lstStyle/>
          <a:p>
            <a:pPr marL="0" indent="0">
              <a:buNone/>
            </a:pPr>
            <a:r>
              <a:rPr lang="en-US" sz="1300" dirty="0">
                <a:solidFill>
                  <a:srgbClr val="1A1A2E"/>
                </a:solidFill>
                <a:latin typeface="Arial" pitchFamily="34" charset="0"/>
                <a:ea typeface="Arial" pitchFamily="34" charset="-122"/>
                <a:cs typeface="Arial" pitchFamily="34" charset="-120"/>
              </a:rPr>
              <a:t>Flow 2 — Notifications Slack</a:t>
            </a:r>
            <a:endParaRPr lang="en-US" sz="1300" dirty="0"/>
          </a:p>
        </p:txBody>
      </p:sp>
      <p:sp>
        <p:nvSpPr>
          <p:cNvPr id="19" name="Shape 17"/>
          <p:cNvSpPr/>
          <p:nvPr/>
        </p:nvSpPr>
        <p:spPr>
          <a:xfrm>
            <a:off x="4846320" y="1051560"/>
            <a:ext cx="347472" cy="347472"/>
          </a:xfrm>
          <a:prstGeom prst="ellipse">
            <a:avLst/>
          </a:prstGeom>
          <a:solidFill>
            <a:srgbClr val="2E75B6"/>
          </a:solidFill>
          <a:ln w="12700">
            <a:solidFill>
              <a:srgbClr val="2E75B6"/>
            </a:solidFill>
            <a:prstDash val="solid"/>
          </a:ln>
        </p:spPr>
        <p:txBody>
          <a:bodyPr/>
          <a:lstStyle/>
          <a:p>
            <a:endParaRPr lang="fr-FR"/>
          </a:p>
        </p:txBody>
      </p:sp>
      <p:sp>
        <p:nvSpPr>
          <p:cNvPr id="20" name="Text 18"/>
          <p:cNvSpPr/>
          <p:nvPr/>
        </p:nvSpPr>
        <p:spPr>
          <a:xfrm>
            <a:off x="4846320" y="105156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21" name="Text 19"/>
          <p:cNvSpPr/>
          <p:nvPr/>
        </p:nvSpPr>
        <p:spPr>
          <a:xfrm>
            <a:off x="5349240" y="1078992"/>
            <a:ext cx="3657600" cy="320040"/>
          </a:xfrm>
          <a:prstGeom prst="rect">
            <a:avLst/>
          </a:prstGeom>
          <a:noFill/>
          <a:ln/>
        </p:spPr>
        <p:txBody>
          <a:bodyPr wrap="square" lIns="0" tIns="0" rIns="0" bIns="0" rtlCol="0" anchor="ctr"/>
          <a:lstStyle/>
          <a:p>
            <a:pPr marL="0" indent="0">
              <a:buNone/>
            </a:pPr>
            <a:r>
              <a:rPr lang="en-US" sz="1300" dirty="0">
                <a:solidFill>
                  <a:srgbClr val="1A1A2E"/>
                </a:solidFill>
                <a:latin typeface="Arial" pitchFamily="34" charset="0"/>
                <a:ea typeface="Arial" pitchFamily="34" charset="-122"/>
                <a:cs typeface="Arial" pitchFamily="34" charset="-120"/>
              </a:rPr>
              <a:t>Flow 3 — ETL et calcul des primes</a:t>
            </a:r>
            <a:endParaRPr lang="en-US" sz="1300" dirty="0"/>
          </a:p>
        </p:txBody>
      </p:sp>
      <p:sp>
        <p:nvSpPr>
          <p:cNvPr id="22" name="Shape 20"/>
          <p:cNvSpPr/>
          <p:nvPr/>
        </p:nvSpPr>
        <p:spPr>
          <a:xfrm>
            <a:off x="4846320" y="1764792"/>
            <a:ext cx="347472" cy="347472"/>
          </a:xfrm>
          <a:prstGeom prst="ellipse">
            <a:avLst/>
          </a:prstGeom>
          <a:solidFill>
            <a:srgbClr val="2E75B6"/>
          </a:solidFill>
          <a:ln w="12700">
            <a:solidFill>
              <a:srgbClr val="2E75B6"/>
            </a:solidFill>
            <a:prstDash val="solid"/>
          </a:ln>
        </p:spPr>
        <p:txBody>
          <a:bodyPr/>
          <a:lstStyle/>
          <a:p>
            <a:endParaRPr lang="fr-FR"/>
          </a:p>
        </p:txBody>
      </p:sp>
      <p:sp>
        <p:nvSpPr>
          <p:cNvPr id="23" name="Text 21"/>
          <p:cNvSpPr/>
          <p:nvPr/>
        </p:nvSpPr>
        <p:spPr>
          <a:xfrm>
            <a:off x="4846320" y="176479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7</a:t>
            </a:r>
            <a:endParaRPr lang="en-US" sz="1100" dirty="0"/>
          </a:p>
        </p:txBody>
      </p:sp>
      <p:sp>
        <p:nvSpPr>
          <p:cNvPr id="24" name="Text 22"/>
          <p:cNvSpPr/>
          <p:nvPr/>
        </p:nvSpPr>
        <p:spPr>
          <a:xfrm>
            <a:off x="5349240" y="1792224"/>
            <a:ext cx="3657600" cy="320040"/>
          </a:xfrm>
          <a:prstGeom prst="rect">
            <a:avLst/>
          </a:prstGeom>
          <a:noFill/>
          <a:ln/>
        </p:spPr>
        <p:txBody>
          <a:bodyPr wrap="square" lIns="0" tIns="0" rIns="0" bIns="0" rtlCol="0" anchor="ctr"/>
          <a:lstStyle/>
          <a:p>
            <a:pPr marL="0" indent="0">
              <a:buNone/>
            </a:pPr>
            <a:r>
              <a:rPr lang="en-US" sz="1300" dirty="0">
                <a:solidFill>
                  <a:srgbClr val="1A1A2E"/>
                </a:solidFill>
                <a:latin typeface="Arial" pitchFamily="34" charset="0"/>
                <a:ea typeface="Arial" pitchFamily="34" charset="-122"/>
                <a:cs typeface="Arial" pitchFamily="34" charset="-120"/>
              </a:rPr>
              <a:t>Orchestration Kestra</a:t>
            </a:r>
            <a:endParaRPr lang="en-US" sz="1300" dirty="0"/>
          </a:p>
        </p:txBody>
      </p:sp>
      <p:sp>
        <p:nvSpPr>
          <p:cNvPr id="25" name="Shape 23"/>
          <p:cNvSpPr/>
          <p:nvPr/>
        </p:nvSpPr>
        <p:spPr>
          <a:xfrm>
            <a:off x="4846320" y="2478024"/>
            <a:ext cx="347472" cy="347472"/>
          </a:xfrm>
          <a:prstGeom prst="ellipse">
            <a:avLst/>
          </a:prstGeom>
          <a:solidFill>
            <a:srgbClr val="2E75B6"/>
          </a:solidFill>
          <a:ln w="12700">
            <a:solidFill>
              <a:srgbClr val="2E75B6"/>
            </a:solidFill>
            <a:prstDash val="solid"/>
          </a:ln>
        </p:spPr>
        <p:txBody>
          <a:bodyPr/>
          <a:lstStyle/>
          <a:p>
            <a:endParaRPr lang="fr-FR"/>
          </a:p>
        </p:txBody>
      </p:sp>
      <p:sp>
        <p:nvSpPr>
          <p:cNvPr id="26" name="Text 24"/>
          <p:cNvSpPr/>
          <p:nvPr/>
        </p:nvSpPr>
        <p:spPr>
          <a:xfrm>
            <a:off x="4846320" y="247802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8</a:t>
            </a:r>
            <a:endParaRPr lang="en-US" sz="1100" dirty="0"/>
          </a:p>
        </p:txBody>
      </p:sp>
      <p:sp>
        <p:nvSpPr>
          <p:cNvPr id="27" name="Text 25"/>
          <p:cNvSpPr/>
          <p:nvPr/>
        </p:nvSpPr>
        <p:spPr>
          <a:xfrm>
            <a:off x="5349240" y="2505456"/>
            <a:ext cx="3657600" cy="320040"/>
          </a:xfrm>
          <a:prstGeom prst="rect">
            <a:avLst/>
          </a:prstGeom>
          <a:noFill/>
          <a:ln/>
        </p:spPr>
        <p:txBody>
          <a:bodyPr wrap="square" lIns="0" tIns="0" rIns="0" bIns="0" rtlCol="0" anchor="ctr"/>
          <a:lstStyle/>
          <a:p>
            <a:pPr marL="0" indent="0">
              <a:buNone/>
            </a:pPr>
            <a:r>
              <a:rPr lang="en-US" sz="1300" dirty="0">
                <a:solidFill>
                  <a:srgbClr val="1A1A2E"/>
                </a:solidFill>
                <a:latin typeface="Arial" pitchFamily="34" charset="0"/>
                <a:ea typeface="Arial" pitchFamily="34" charset="-122"/>
                <a:cs typeface="Arial" pitchFamily="34" charset="-120"/>
              </a:rPr>
              <a:t>Rapports PowerBI</a:t>
            </a:r>
            <a:endParaRPr lang="en-US" sz="1300" dirty="0"/>
          </a:p>
        </p:txBody>
      </p:sp>
      <p:sp>
        <p:nvSpPr>
          <p:cNvPr id="28" name="Shape 26"/>
          <p:cNvSpPr/>
          <p:nvPr/>
        </p:nvSpPr>
        <p:spPr>
          <a:xfrm>
            <a:off x="4846320" y="3191256"/>
            <a:ext cx="347472" cy="347472"/>
          </a:xfrm>
          <a:prstGeom prst="ellipse">
            <a:avLst/>
          </a:prstGeom>
          <a:solidFill>
            <a:srgbClr val="2E75B6"/>
          </a:solidFill>
          <a:ln w="12700">
            <a:solidFill>
              <a:srgbClr val="2E75B6"/>
            </a:solidFill>
            <a:prstDash val="solid"/>
          </a:ln>
        </p:spPr>
        <p:txBody>
          <a:bodyPr/>
          <a:lstStyle/>
          <a:p>
            <a:endParaRPr lang="fr-FR"/>
          </a:p>
        </p:txBody>
      </p:sp>
      <p:sp>
        <p:nvSpPr>
          <p:cNvPr id="29" name="Text 27"/>
          <p:cNvSpPr/>
          <p:nvPr/>
        </p:nvSpPr>
        <p:spPr>
          <a:xfrm>
            <a:off x="4846320" y="319125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9</a:t>
            </a:r>
            <a:endParaRPr lang="en-US" sz="1100" dirty="0"/>
          </a:p>
        </p:txBody>
      </p:sp>
      <p:sp>
        <p:nvSpPr>
          <p:cNvPr id="30" name="Text 28"/>
          <p:cNvSpPr/>
          <p:nvPr/>
        </p:nvSpPr>
        <p:spPr>
          <a:xfrm>
            <a:off x="5349240" y="3218688"/>
            <a:ext cx="3657600" cy="320040"/>
          </a:xfrm>
          <a:prstGeom prst="rect">
            <a:avLst/>
          </a:prstGeom>
          <a:noFill/>
          <a:ln/>
        </p:spPr>
        <p:txBody>
          <a:bodyPr wrap="square" lIns="0" tIns="0" rIns="0" bIns="0" rtlCol="0" anchor="ctr"/>
          <a:lstStyle/>
          <a:p>
            <a:pPr marL="0" indent="0">
              <a:buNone/>
            </a:pPr>
            <a:r>
              <a:rPr lang="en-US" sz="1300" dirty="0">
                <a:solidFill>
                  <a:srgbClr val="1A1A2E"/>
                </a:solidFill>
                <a:latin typeface="Arial" pitchFamily="34" charset="0"/>
                <a:ea typeface="Arial" pitchFamily="34" charset="-122"/>
                <a:cs typeface="Arial" pitchFamily="34" charset="-120"/>
              </a:rPr>
              <a:t>Résultats</a:t>
            </a:r>
            <a:endParaRPr lang="en-US" sz="1300" dirty="0"/>
          </a:p>
        </p:txBody>
      </p:sp>
      <p:sp>
        <p:nvSpPr>
          <p:cNvPr id="31" name="Shape 29"/>
          <p:cNvSpPr/>
          <p:nvPr/>
        </p:nvSpPr>
        <p:spPr>
          <a:xfrm>
            <a:off x="4846320" y="3904488"/>
            <a:ext cx="347472" cy="347472"/>
          </a:xfrm>
          <a:prstGeom prst="ellipse">
            <a:avLst/>
          </a:prstGeom>
          <a:solidFill>
            <a:srgbClr val="2E75B6"/>
          </a:solidFill>
          <a:ln w="12700">
            <a:solidFill>
              <a:srgbClr val="2E75B6"/>
            </a:solidFill>
            <a:prstDash val="solid"/>
          </a:ln>
        </p:spPr>
        <p:txBody>
          <a:bodyPr/>
          <a:lstStyle/>
          <a:p>
            <a:endParaRPr lang="fr-FR"/>
          </a:p>
        </p:txBody>
      </p:sp>
      <p:sp>
        <p:nvSpPr>
          <p:cNvPr id="32" name="Text 30"/>
          <p:cNvSpPr/>
          <p:nvPr/>
        </p:nvSpPr>
        <p:spPr>
          <a:xfrm>
            <a:off x="4846320" y="3904488"/>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10</a:t>
            </a:r>
            <a:endParaRPr lang="en-US" sz="1100" dirty="0"/>
          </a:p>
        </p:txBody>
      </p:sp>
      <p:sp>
        <p:nvSpPr>
          <p:cNvPr id="33" name="Text 31"/>
          <p:cNvSpPr/>
          <p:nvPr/>
        </p:nvSpPr>
        <p:spPr>
          <a:xfrm>
            <a:off x="5349240" y="3931920"/>
            <a:ext cx="3657600" cy="320040"/>
          </a:xfrm>
          <a:prstGeom prst="rect">
            <a:avLst/>
          </a:prstGeom>
          <a:noFill/>
          <a:ln/>
        </p:spPr>
        <p:txBody>
          <a:bodyPr wrap="square" lIns="0" tIns="0" rIns="0" bIns="0" rtlCol="0" anchor="ctr"/>
          <a:lstStyle/>
          <a:p>
            <a:pPr marL="0" indent="0">
              <a:buNone/>
            </a:pPr>
            <a:r>
              <a:rPr lang="en-US" sz="1300" dirty="0">
                <a:solidFill>
                  <a:srgbClr val="1A1A2E"/>
                </a:solidFill>
                <a:latin typeface="Arial" pitchFamily="34" charset="0"/>
                <a:ea typeface="Arial" pitchFamily="34" charset="-122"/>
                <a:cs typeface="Arial" pitchFamily="34" charset="-120"/>
              </a:rPr>
              <a:t>Évolutions recommandées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marL="0" indent="0">
              <a:buNone/>
            </a:pPr>
            <a:r>
              <a:rPr lang="en-US" sz="2600" b="1" dirty="0">
                <a:solidFill>
                  <a:srgbClr val="1F4E79"/>
                </a:solidFill>
                <a:latin typeface="Arial" pitchFamily="34" charset="0"/>
                <a:ea typeface="Arial" pitchFamily="34" charset="-122"/>
                <a:cs typeface="Arial" pitchFamily="34" charset="-120"/>
              </a:rPr>
              <a:t>Contexte</a:t>
            </a:r>
            <a:endParaRPr lang="en-US" sz="2600" dirty="0"/>
          </a:p>
        </p:txBody>
      </p:sp>
      <p:sp>
        <p:nvSpPr>
          <p:cNvPr id="3" name="Shape 1"/>
          <p:cNvSpPr/>
          <p:nvPr/>
        </p:nvSpPr>
        <p:spPr>
          <a:xfrm>
            <a:off x="457200" y="896112"/>
            <a:ext cx="1097280" cy="54864"/>
          </a:xfrm>
          <a:prstGeom prst="rect">
            <a:avLst/>
          </a:prstGeom>
          <a:solidFill>
            <a:srgbClr val="2E75B6"/>
          </a:solidFill>
          <a:ln w="12700">
            <a:solidFill>
              <a:srgbClr val="2E75B6"/>
            </a:solidFill>
            <a:prstDash val="solid"/>
          </a:ln>
        </p:spPr>
        <p:txBody>
          <a:bodyPr/>
          <a:lstStyle/>
          <a:p>
            <a:endParaRPr lang="fr-FR"/>
          </a:p>
        </p:txBody>
      </p:sp>
      <p:sp>
        <p:nvSpPr>
          <p:cNvPr id="4" name="Shape 2"/>
          <p:cNvSpPr/>
          <p:nvPr/>
        </p:nvSpPr>
        <p:spPr>
          <a:xfrm>
            <a:off x="457200" y="1097280"/>
            <a:ext cx="54864" cy="502920"/>
          </a:xfrm>
          <a:prstGeom prst="rect">
            <a:avLst/>
          </a:prstGeom>
          <a:solidFill>
            <a:srgbClr val="2E75B6"/>
          </a:solidFill>
          <a:ln w="12700">
            <a:solidFill>
              <a:srgbClr val="2E75B6"/>
            </a:solidFill>
            <a:prstDash val="solid"/>
          </a:ln>
        </p:spPr>
        <p:txBody>
          <a:bodyPr/>
          <a:lstStyle/>
          <a:p>
            <a:endParaRPr lang="fr-FR"/>
          </a:p>
        </p:txBody>
      </p:sp>
      <p:sp>
        <p:nvSpPr>
          <p:cNvPr id="5" name="Text 3"/>
          <p:cNvSpPr/>
          <p:nvPr/>
        </p:nvSpPr>
        <p:spPr>
          <a:xfrm>
            <a:off x="685800" y="1097280"/>
            <a:ext cx="7772400" cy="256032"/>
          </a:xfrm>
          <a:prstGeom prst="rect">
            <a:avLst/>
          </a:prstGeom>
          <a:noFill/>
          <a:ln/>
        </p:spPr>
        <p:txBody>
          <a:bodyPr wrap="square" lIns="0" tIns="0" rIns="0" bIns="0" rtlCol="0" anchor="ctr"/>
          <a:lstStyle/>
          <a:p>
            <a:pPr marL="0" indent="0">
              <a:buNone/>
            </a:pPr>
            <a:r>
              <a:rPr lang="en-US" sz="1300" b="1" dirty="0">
                <a:solidFill>
                  <a:srgbClr val="1F4E79"/>
                </a:solidFill>
                <a:latin typeface="Arial" pitchFamily="34" charset="0"/>
                <a:ea typeface="Arial" pitchFamily="34" charset="-122"/>
                <a:cs typeface="Arial" pitchFamily="34" charset="-120"/>
              </a:rPr>
              <a:t>161 salariés concernés</a:t>
            </a:r>
            <a:endParaRPr lang="en-US" sz="1300" dirty="0"/>
          </a:p>
        </p:txBody>
      </p:sp>
      <p:sp>
        <p:nvSpPr>
          <p:cNvPr id="6" name="Text 4"/>
          <p:cNvSpPr/>
          <p:nvPr/>
        </p:nvSpPr>
        <p:spPr>
          <a:xfrm>
            <a:off x="685800" y="1353312"/>
            <a:ext cx="7772400" cy="228600"/>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Périmètre du POC</a:t>
            </a:r>
            <a:endParaRPr lang="en-US" sz="1100" dirty="0"/>
          </a:p>
        </p:txBody>
      </p:sp>
      <p:sp>
        <p:nvSpPr>
          <p:cNvPr id="7" name="Shape 5"/>
          <p:cNvSpPr/>
          <p:nvPr/>
        </p:nvSpPr>
        <p:spPr>
          <a:xfrm>
            <a:off x="457200" y="1847088"/>
            <a:ext cx="54864" cy="502920"/>
          </a:xfrm>
          <a:prstGeom prst="rect">
            <a:avLst/>
          </a:prstGeom>
          <a:solidFill>
            <a:srgbClr val="2E75B6"/>
          </a:solidFill>
          <a:ln w="12700">
            <a:solidFill>
              <a:srgbClr val="2E75B6"/>
            </a:solidFill>
            <a:prstDash val="solid"/>
          </a:ln>
        </p:spPr>
        <p:txBody>
          <a:bodyPr/>
          <a:lstStyle/>
          <a:p>
            <a:endParaRPr lang="fr-FR"/>
          </a:p>
        </p:txBody>
      </p:sp>
      <p:sp>
        <p:nvSpPr>
          <p:cNvPr id="8" name="Text 6"/>
          <p:cNvSpPr/>
          <p:nvPr/>
        </p:nvSpPr>
        <p:spPr>
          <a:xfrm>
            <a:off x="685800" y="1847088"/>
            <a:ext cx="7772400" cy="256032"/>
          </a:xfrm>
          <a:prstGeom prst="rect">
            <a:avLst/>
          </a:prstGeom>
          <a:noFill/>
          <a:ln/>
        </p:spPr>
        <p:txBody>
          <a:bodyPr wrap="square" lIns="0" tIns="0" rIns="0" bIns="0" rtlCol="0" anchor="ctr"/>
          <a:lstStyle/>
          <a:p>
            <a:pPr marL="0" indent="0">
              <a:buNone/>
            </a:pPr>
            <a:r>
              <a:rPr lang="en-US" sz="1300" b="1" dirty="0">
                <a:solidFill>
                  <a:srgbClr val="1F4E79"/>
                </a:solidFill>
                <a:latin typeface="Arial" pitchFamily="34" charset="0"/>
                <a:ea typeface="Arial" pitchFamily="34" charset="-122"/>
                <a:cs typeface="Arial" pitchFamily="34" charset="-120"/>
              </a:rPr>
              <a:t>Calcul manuel aujourd'hui</a:t>
            </a:r>
            <a:endParaRPr lang="en-US" sz="1300" dirty="0"/>
          </a:p>
        </p:txBody>
      </p:sp>
      <p:sp>
        <p:nvSpPr>
          <p:cNvPr id="9" name="Text 7"/>
          <p:cNvSpPr/>
          <p:nvPr/>
        </p:nvSpPr>
        <p:spPr>
          <a:xfrm>
            <a:off x="685800" y="2103120"/>
            <a:ext cx="7772400" cy="228600"/>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Chronophage et source d'erreurs pour les RH</a:t>
            </a:r>
            <a:endParaRPr lang="en-US" sz="1100" dirty="0"/>
          </a:p>
        </p:txBody>
      </p:sp>
      <p:sp>
        <p:nvSpPr>
          <p:cNvPr id="10" name="Shape 8"/>
          <p:cNvSpPr/>
          <p:nvPr/>
        </p:nvSpPr>
        <p:spPr>
          <a:xfrm>
            <a:off x="457200" y="2596896"/>
            <a:ext cx="54864" cy="502920"/>
          </a:xfrm>
          <a:prstGeom prst="rect">
            <a:avLst/>
          </a:prstGeom>
          <a:solidFill>
            <a:srgbClr val="2E75B6"/>
          </a:solidFill>
          <a:ln w="12700">
            <a:solidFill>
              <a:srgbClr val="2E75B6"/>
            </a:solidFill>
            <a:prstDash val="solid"/>
          </a:ln>
        </p:spPr>
        <p:txBody>
          <a:bodyPr/>
          <a:lstStyle/>
          <a:p>
            <a:endParaRPr lang="fr-FR"/>
          </a:p>
        </p:txBody>
      </p:sp>
      <p:sp>
        <p:nvSpPr>
          <p:cNvPr id="11" name="Text 9"/>
          <p:cNvSpPr/>
          <p:nvPr/>
        </p:nvSpPr>
        <p:spPr>
          <a:xfrm>
            <a:off x="685800" y="2596896"/>
            <a:ext cx="7772400" cy="256032"/>
          </a:xfrm>
          <a:prstGeom prst="rect">
            <a:avLst/>
          </a:prstGeom>
          <a:noFill/>
          <a:ln/>
        </p:spPr>
        <p:txBody>
          <a:bodyPr wrap="square" lIns="0" tIns="0" rIns="0" bIns="0" rtlCol="0" anchor="ctr"/>
          <a:lstStyle/>
          <a:p>
            <a:pPr marL="0" indent="0">
              <a:buNone/>
            </a:pPr>
            <a:r>
              <a:rPr lang="en-US" sz="1300" b="1" dirty="0">
                <a:solidFill>
                  <a:srgbClr val="1F4E79"/>
                </a:solidFill>
                <a:latin typeface="Arial" pitchFamily="34" charset="0"/>
                <a:ea typeface="Arial" pitchFamily="34" charset="-122"/>
                <a:cs typeface="Arial" pitchFamily="34" charset="-120"/>
              </a:rPr>
              <a:t>Strava comme source de données</a:t>
            </a:r>
            <a:endParaRPr lang="en-US" sz="1300" dirty="0"/>
          </a:p>
        </p:txBody>
      </p:sp>
      <p:sp>
        <p:nvSpPr>
          <p:cNvPr id="12" name="Text 10"/>
          <p:cNvSpPr/>
          <p:nvPr/>
        </p:nvSpPr>
        <p:spPr>
          <a:xfrm>
            <a:off x="685800" y="2852928"/>
            <a:ext cx="7772400" cy="228600"/>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100M+ utilisateurs — application de référence</a:t>
            </a:r>
            <a:endParaRPr lang="en-US" sz="1100" dirty="0"/>
          </a:p>
        </p:txBody>
      </p:sp>
      <p:sp>
        <p:nvSpPr>
          <p:cNvPr id="13" name="Shape 11"/>
          <p:cNvSpPr/>
          <p:nvPr/>
        </p:nvSpPr>
        <p:spPr>
          <a:xfrm>
            <a:off x="457200" y="3346704"/>
            <a:ext cx="54864" cy="502920"/>
          </a:xfrm>
          <a:prstGeom prst="rect">
            <a:avLst/>
          </a:prstGeom>
          <a:solidFill>
            <a:srgbClr val="2E75B6"/>
          </a:solidFill>
          <a:ln w="12700">
            <a:solidFill>
              <a:srgbClr val="2E75B6"/>
            </a:solidFill>
            <a:prstDash val="solid"/>
          </a:ln>
        </p:spPr>
        <p:txBody>
          <a:bodyPr/>
          <a:lstStyle/>
          <a:p>
            <a:endParaRPr lang="fr-FR"/>
          </a:p>
        </p:txBody>
      </p:sp>
      <p:sp>
        <p:nvSpPr>
          <p:cNvPr id="14" name="Text 12"/>
          <p:cNvSpPr/>
          <p:nvPr/>
        </p:nvSpPr>
        <p:spPr>
          <a:xfrm>
            <a:off x="685800" y="3346704"/>
            <a:ext cx="7772400" cy="256032"/>
          </a:xfrm>
          <a:prstGeom prst="rect">
            <a:avLst/>
          </a:prstGeom>
          <a:noFill/>
          <a:ln/>
        </p:spPr>
        <p:txBody>
          <a:bodyPr wrap="square" lIns="0" tIns="0" rIns="0" bIns="0" rtlCol="0" anchor="ctr"/>
          <a:lstStyle/>
          <a:p>
            <a:pPr marL="0" indent="0">
              <a:buNone/>
            </a:pPr>
            <a:r>
              <a:rPr lang="en-US" sz="1300" b="1" dirty="0">
                <a:solidFill>
                  <a:srgbClr val="1F4E79"/>
                </a:solidFill>
                <a:latin typeface="Arial" pitchFamily="34" charset="0"/>
                <a:ea typeface="Arial" pitchFamily="34" charset="-122"/>
                <a:cs typeface="Arial" pitchFamily="34" charset="-120"/>
              </a:rPr>
              <a:t>Automatisation complète</a:t>
            </a:r>
            <a:endParaRPr lang="en-US" sz="1300" dirty="0"/>
          </a:p>
        </p:txBody>
      </p:sp>
      <p:sp>
        <p:nvSpPr>
          <p:cNvPr id="15" name="Text 13"/>
          <p:cNvSpPr/>
          <p:nvPr/>
        </p:nvSpPr>
        <p:spPr>
          <a:xfrm>
            <a:off x="685800" y="3602736"/>
            <a:ext cx="7772400" cy="228600"/>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De la collecte à la décision RH</a:t>
            </a:r>
            <a:endParaRPr lang="en-US" sz="1100" dirty="0"/>
          </a:p>
        </p:txBody>
      </p:sp>
      <p:sp>
        <p:nvSpPr>
          <p:cNvPr id="16" name="Shape 14"/>
          <p:cNvSpPr/>
          <p:nvPr/>
        </p:nvSpPr>
        <p:spPr>
          <a:xfrm>
            <a:off x="457200" y="4096512"/>
            <a:ext cx="54864" cy="502920"/>
          </a:xfrm>
          <a:prstGeom prst="rect">
            <a:avLst/>
          </a:prstGeom>
          <a:solidFill>
            <a:srgbClr val="2E75B6"/>
          </a:solidFill>
          <a:ln w="12700">
            <a:solidFill>
              <a:srgbClr val="2E75B6"/>
            </a:solidFill>
            <a:prstDash val="solid"/>
          </a:ln>
        </p:spPr>
        <p:txBody>
          <a:bodyPr/>
          <a:lstStyle/>
          <a:p>
            <a:endParaRPr lang="fr-FR"/>
          </a:p>
        </p:txBody>
      </p:sp>
      <p:sp>
        <p:nvSpPr>
          <p:cNvPr id="17" name="Text 15"/>
          <p:cNvSpPr/>
          <p:nvPr/>
        </p:nvSpPr>
        <p:spPr>
          <a:xfrm>
            <a:off x="685800" y="4096512"/>
            <a:ext cx="7772400" cy="256032"/>
          </a:xfrm>
          <a:prstGeom prst="rect">
            <a:avLst/>
          </a:prstGeom>
          <a:noFill/>
          <a:ln/>
        </p:spPr>
        <p:txBody>
          <a:bodyPr wrap="square" lIns="0" tIns="0" rIns="0" bIns="0" rtlCol="0" anchor="ctr"/>
          <a:lstStyle/>
          <a:p>
            <a:pPr marL="0" indent="0">
              <a:buNone/>
            </a:pPr>
            <a:r>
              <a:rPr lang="en-US" sz="1300" b="1" dirty="0">
                <a:solidFill>
                  <a:srgbClr val="1F4E79"/>
                </a:solidFill>
                <a:latin typeface="Arial" pitchFamily="34" charset="0"/>
                <a:ea typeface="Arial" pitchFamily="34" charset="-122"/>
                <a:cs typeface="Arial" pitchFamily="34" charset="-120"/>
              </a:rPr>
              <a:t>Environnement Docker</a:t>
            </a:r>
            <a:endParaRPr lang="en-US" sz="1300" dirty="0"/>
          </a:p>
        </p:txBody>
      </p:sp>
      <p:sp>
        <p:nvSpPr>
          <p:cNvPr id="18" name="Text 16"/>
          <p:cNvSpPr/>
          <p:nvPr/>
        </p:nvSpPr>
        <p:spPr>
          <a:xfrm>
            <a:off x="685800" y="4352544"/>
            <a:ext cx="7772400" cy="228600"/>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Windows 11 — déploiement local sans cloud obligatoire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marL="0" indent="0">
              <a:buNone/>
            </a:pPr>
            <a:r>
              <a:rPr lang="en-US" sz="2600" b="1" dirty="0">
                <a:solidFill>
                  <a:srgbClr val="1F4E79"/>
                </a:solidFill>
                <a:latin typeface="Arial" pitchFamily="34" charset="0"/>
                <a:ea typeface="Arial" pitchFamily="34" charset="-122"/>
                <a:cs typeface="Arial" pitchFamily="34" charset="-120"/>
              </a:rPr>
              <a:t>Les deux avantages calculés</a:t>
            </a:r>
            <a:endParaRPr lang="en-US" sz="2600" dirty="0"/>
          </a:p>
        </p:txBody>
      </p:sp>
      <p:sp>
        <p:nvSpPr>
          <p:cNvPr id="3" name="Shape 1"/>
          <p:cNvSpPr/>
          <p:nvPr/>
        </p:nvSpPr>
        <p:spPr>
          <a:xfrm>
            <a:off x="457200" y="896112"/>
            <a:ext cx="1097280" cy="54864"/>
          </a:xfrm>
          <a:prstGeom prst="rect">
            <a:avLst/>
          </a:prstGeom>
          <a:solidFill>
            <a:srgbClr val="2E75B6"/>
          </a:solidFill>
          <a:ln w="12700">
            <a:solidFill>
              <a:srgbClr val="2E75B6"/>
            </a:solidFill>
            <a:prstDash val="solid"/>
          </a:ln>
        </p:spPr>
        <p:txBody>
          <a:bodyPr/>
          <a:lstStyle/>
          <a:p>
            <a:endParaRPr lang="fr-FR"/>
          </a:p>
        </p:txBody>
      </p:sp>
      <p:sp>
        <p:nvSpPr>
          <p:cNvPr id="4" name="Shape 2"/>
          <p:cNvSpPr/>
          <p:nvPr/>
        </p:nvSpPr>
        <p:spPr>
          <a:xfrm>
            <a:off x="365760" y="1051560"/>
            <a:ext cx="4023360" cy="3566160"/>
          </a:xfrm>
          <a:prstGeom prst="rect">
            <a:avLst/>
          </a:prstGeom>
          <a:solidFill>
            <a:srgbClr val="1F4E79"/>
          </a:solidFill>
          <a:ln w="12700">
            <a:solidFill>
              <a:srgbClr val="1F4E79"/>
            </a:solidFill>
            <a:prstDash val="solid"/>
          </a:ln>
          <a:effectLst>
            <a:outerShdw blurRad="101600" dist="25400" dir="8100000" algn="bl" rotWithShape="0">
              <a:srgbClr val="000000">
                <a:alpha val="12000"/>
              </a:srgbClr>
            </a:outerShdw>
          </a:effectLst>
        </p:spPr>
        <p:txBody>
          <a:bodyPr/>
          <a:lstStyle/>
          <a:p>
            <a:endParaRPr lang="fr-FR"/>
          </a:p>
        </p:txBody>
      </p:sp>
      <p:sp>
        <p:nvSpPr>
          <p:cNvPr id="5" name="Shape 3"/>
          <p:cNvSpPr/>
          <p:nvPr/>
        </p:nvSpPr>
        <p:spPr>
          <a:xfrm>
            <a:off x="365760" y="1051560"/>
            <a:ext cx="4023360" cy="457200"/>
          </a:xfrm>
          <a:prstGeom prst="rect">
            <a:avLst/>
          </a:prstGeom>
          <a:solidFill>
            <a:srgbClr val="2E75B6"/>
          </a:solidFill>
          <a:ln w="12700">
            <a:solidFill>
              <a:srgbClr val="2E75B6"/>
            </a:solidFill>
            <a:prstDash val="solid"/>
          </a:ln>
        </p:spPr>
        <p:txBody>
          <a:bodyPr/>
          <a:lstStyle/>
          <a:p>
            <a:endParaRPr lang="fr-FR"/>
          </a:p>
        </p:txBody>
      </p:sp>
      <p:sp>
        <p:nvSpPr>
          <p:cNvPr id="6" name="Text 4"/>
          <p:cNvSpPr/>
          <p:nvPr/>
        </p:nvSpPr>
        <p:spPr>
          <a:xfrm>
            <a:off x="502920" y="1097280"/>
            <a:ext cx="3749040" cy="384048"/>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Prime de trajet</a:t>
            </a:r>
            <a:endParaRPr lang="en-US" sz="1500" dirty="0"/>
          </a:p>
        </p:txBody>
      </p:sp>
      <p:sp>
        <p:nvSpPr>
          <p:cNvPr id="7" name="Text 5"/>
          <p:cNvSpPr/>
          <p:nvPr/>
        </p:nvSpPr>
        <p:spPr>
          <a:xfrm>
            <a:off x="502920" y="1600200"/>
            <a:ext cx="3749040" cy="822960"/>
          </a:xfrm>
          <a:prstGeom prst="rect">
            <a:avLst/>
          </a:prstGeom>
          <a:noFill/>
          <a:ln/>
        </p:spPr>
        <p:txBody>
          <a:bodyPr wrap="square" lIns="0" tIns="0" rIns="0" bIns="0" rtlCol="0" anchor="ctr"/>
          <a:lstStyle/>
          <a:p>
            <a:pPr marL="0" indent="0" algn="ctr">
              <a:buNone/>
            </a:pPr>
            <a:r>
              <a:rPr lang="en-US" sz="5600" b="1" dirty="0">
                <a:solidFill>
                  <a:srgbClr val="70AD47"/>
                </a:solidFill>
                <a:latin typeface="Arial" pitchFamily="34" charset="0"/>
                <a:ea typeface="Arial" pitchFamily="34" charset="-122"/>
                <a:cs typeface="Arial" pitchFamily="34" charset="-120"/>
              </a:rPr>
              <a:t>5%</a:t>
            </a:r>
            <a:endParaRPr lang="en-US" sz="5600" dirty="0"/>
          </a:p>
        </p:txBody>
      </p:sp>
      <p:sp>
        <p:nvSpPr>
          <p:cNvPr id="8" name="Text 6"/>
          <p:cNvSpPr/>
          <p:nvPr/>
        </p:nvSpPr>
        <p:spPr>
          <a:xfrm>
            <a:off x="502920" y="2377440"/>
            <a:ext cx="3749040" cy="274320"/>
          </a:xfrm>
          <a:prstGeom prst="rect">
            <a:avLst/>
          </a:prstGeom>
          <a:noFill/>
          <a:ln/>
        </p:spPr>
        <p:txBody>
          <a:bodyPr wrap="square" lIns="0" tIns="0" rIns="0" bIns="0" rtlCol="0" anchor="ctr"/>
          <a:lstStyle/>
          <a:p>
            <a:pPr marL="0" indent="0" algn="ctr">
              <a:buNone/>
            </a:pPr>
            <a:r>
              <a:rPr lang="en-US" sz="1200" dirty="0">
                <a:solidFill>
                  <a:srgbClr val="9DC3E6"/>
                </a:solidFill>
                <a:latin typeface="Arial" pitchFamily="34" charset="0"/>
                <a:ea typeface="Arial" pitchFamily="34" charset="-122"/>
                <a:cs typeface="Arial" pitchFamily="34" charset="-120"/>
              </a:rPr>
              <a:t>du salaire brut annuel</a:t>
            </a:r>
            <a:endParaRPr lang="en-US" sz="1200" dirty="0"/>
          </a:p>
        </p:txBody>
      </p:sp>
      <p:sp>
        <p:nvSpPr>
          <p:cNvPr id="9" name="Text 7"/>
          <p:cNvSpPr/>
          <p:nvPr/>
        </p:nvSpPr>
        <p:spPr>
          <a:xfrm>
            <a:off x="548640" y="2743200"/>
            <a:ext cx="3657600" cy="1737360"/>
          </a:xfrm>
          <a:prstGeom prst="rect">
            <a:avLst/>
          </a:prstGeom>
          <a:noFill/>
          <a:ln/>
        </p:spPr>
        <p:txBody>
          <a:bodyPr wrap="square" lIns="0" tIns="0" rIns="0" bIns="0" rtlCol="0" anchor="ctr"/>
          <a:lstStyle/>
          <a:p>
            <a:pPr marL="342900" indent="-342900">
              <a:buSzPct val="100000"/>
              <a:buChar char="•"/>
            </a:pPr>
            <a:r>
              <a:rPr lang="en-US" sz="1100" dirty="0">
                <a:solidFill>
                  <a:srgbClr val="BDD7EE"/>
                </a:solidFill>
              </a:rPr>
              <a:t>Modes eligibles : marche, running,</a:t>
            </a:r>
            <a:endParaRPr lang="en-US" sz="1100" dirty="0"/>
          </a:p>
          <a:p>
            <a:pPr marL="342900" indent="-342900">
              <a:buSzPct val="100000"/>
              <a:buChar char="•"/>
            </a:pPr>
            <a:r>
              <a:rPr lang="en-US" sz="1100" dirty="0">
                <a:solidFill>
                  <a:srgbClr val="BDD7EE"/>
                </a:solidFill>
              </a:rPr>
              <a:t>velo, trottinette</a:t>
            </a:r>
            <a:endParaRPr lang="en-US" sz="1100" dirty="0"/>
          </a:p>
          <a:p>
            <a:pPr marL="342900" indent="-342900">
              <a:buSzPct val="100000"/>
              <a:buChar char="•"/>
            </a:pPr>
            <a:r>
              <a:rPr lang="en-US" sz="1100" dirty="0">
                <a:solidFill>
                  <a:srgbClr val="BDD7EE"/>
                </a:solidFill>
              </a:rPr>
              <a:t>Validation via Google Maps API</a:t>
            </a:r>
            <a:endParaRPr lang="en-US" sz="1100" dirty="0"/>
          </a:p>
        </p:txBody>
      </p:sp>
      <p:sp>
        <p:nvSpPr>
          <p:cNvPr id="10" name="Shape 8"/>
          <p:cNvSpPr/>
          <p:nvPr/>
        </p:nvSpPr>
        <p:spPr>
          <a:xfrm>
            <a:off x="4754880" y="1051560"/>
            <a:ext cx="4023360" cy="3566160"/>
          </a:xfrm>
          <a:prstGeom prst="rect">
            <a:avLst/>
          </a:prstGeom>
          <a:solidFill>
            <a:srgbClr val="1F4E79"/>
          </a:solidFill>
          <a:ln w="12700">
            <a:solidFill>
              <a:srgbClr val="1F4E79"/>
            </a:solidFill>
            <a:prstDash val="solid"/>
          </a:ln>
          <a:effectLst>
            <a:outerShdw blurRad="101600" dist="25400" dir="8100000" algn="bl" rotWithShape="0">
              <a:srgbClr val="000000">
                <a:alpha val="12000"/>
              </a:srgbClr>
            </a:outerShdw>
          </a:effectLst>
        </p:spPr>
        <p:txBody>
          <a:bodyPr/>
          <a:lstStyle/>
          <a:p>
            <a:endParaRPr lang="fr-FR"/>
          </a:p>
        </p:txBody>
      </p:sp>
      <p:sp>
        <p:nvSpPr>
          <p:cNvPr id="11" name="Shape 9"/>
          <p:cNvSpPr/>
          <p:nvPr/>
        </p:nvSpPr>
        <p:spPr>
          <a:xfrm>
            <a:off x="4754880" y="1051560"/>
            <a:ext cx="4023360" cy="457200"/>
          </a:xfrm>
          <a:prstGeom prst="rect">
            <a:avLst/>
          </a:prstGeom>
          <a:solidFill>
            <a:srgbClr val="70AD47"/>
          </a:solidFill>
          <a:ln w="12700">
            <a:solidFill>
              <a:srgbClr val="70AD47"/>
            </a:solidFill>
            <a:prstDash val="solid"/>
          </a:ln>
        </p:spPr>
        <p:txBody>
          <a:bodyPr/>
          <a:lstStyle/>
          <a:p>
            <a:endParaRPr lang="fr-FR"/>
          </a:p>
        </p:txBody>
      </p:sp>
      <p:sp>
        <p:nvSpPr>
          <p:cNvPr id="12" name="Text 10"/>
          <p:cNvSpPr/>
          <p:nvPr/>
        </p:nvSpPr>
        <p:spPr>
          <a:xfrm>
            <a:off x="4892040" y="1097280"/>
            <a:ext cx="3749040" cy="384048"/>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5 Jours bien-etre</a:t>
            </a:r>
            <a:endParaRPr lang="en-US" sz="1500" dirty="0"/>
          </a:p>
        </p:txBody>
      </p:sp>
      <p:sp>
        <p:nvSpPr>
          <p:cNvPr id="13" name="Text 11"/>
          <p:cNvSpPr/>
          <p:nvPr/>
        </p:nvSpPr>
        <p:spPr>
          <a:xfrm>
            <a:off x="4892040" y="1600200"/>
            <a:ext cx="3749040" cy="822960"/>
          </a:xfrm>
          <a:prstGeom prst="rect">
            <a:avLst/>
          </a:prstGeom>
          <a:noFill/>
          <a:ln/>
        </p:spPr>
        <p:txBody>
          <a:bodyPr wrap="square" lIns="0" tIns="0" rIns="0" bIns="0" rtlCol="0" anchor="ctr"/>
          <a:lstStyle/>
          <a:p>
            <a:pPr marL="0" indent="0" algn="ctr">
              <a:buNone/>
            </a:pPr>
            <a:r>
              <a:rPr lang="en-US" sz="5600" b="1" dirty="0">
                <a:solidFill>
                  <a:srgbClr val="2E75B6"/>
                </a:solidFill>
                <a:latin typeface="Arial" pitchFamily="34" charset="0"/>
                <a:ea typeface="Arial" pitchFamily="34" charset="-122"/>
                <a:cs typeface="Arial" pitchFamily="34" charset="-120"/>
              </a:rPr>
              <a:t>15</a:t>
            </a:r>
            <a:endParaRPr lang="en-US" sz="5600" dirty="0"/>
          </a:p>
        </p:txBody>
      </p:sp>
      <p:sp>
        <p:nvSpPr>
          <p:cNvPr id="14" name="Text 12"/>
          <p:cNvSpPr/>
          <p:nvPr/>
        </p:nvSpPr>
        <p:spPr>
          <a:xfrm>
            <a:off x="4892040" y="2377440"/>
            <a:ext cx="3749040" cy="274320"/>
          </a:xfrm>
          <a:prstGeom prst="rect">
            <a:avLst/>
          </a:prstGeom>
          <a:noFill/>
          <a:ln/>
        </p:spPr>
        <p:txBody>
          <a:bodyPr wrap="square" lIns="0" tIns="0" rIns="0" bIns="0" rtlCol="0" anchor="ctr"/>
          <a:lstStyle/>
          <a:p>
            <a:pPr marL="0" indent="0" algn="ctr">
              <a:buNone/>
            </a:pPr>
            <a:r>
              <a:rPr lang="en-US" sz="1200" dirty="0">
                <a:solidFill>
                  <a:srgbClr val="9DC3E6"/>
                </a:solidFill>
                <a:latin typeface="Arial" pitchFamily="34" charset="0"/>
                <a:ea typeface="Arial" pitchFamily="34" charset="-122"/>
                <a:cs typeface="Arial" pitchFamily="34" charset="-120"/>
              </a:rPr>
              <a:t>activites minimum / 12 mois</a:t>
            </a:r>
            <a:endParaRPr lang="en-US" sz="1200" dirty="0"/>
          </a:p>
        </p:txBody>
      </p:sp>
      <p:sp>
        <p:nvSpPr>
          <p:cNvPr id="15" name="Text 13"/>
          <p:cNvSpPr/>
          <p:nvPr/>
        </p:nvSpPr>
        <p:spPr>
          <a:xfrm>
            <a:off x="4892040" y="2743200"/>
            <a:ext cx="3657600" cy="1737360"/>
          </a:xfrm>
          <a:prstGeom prst="rect">
            <a:avLst/>
          </a:prstGeom>
          <a:noFill/>
          <a:ln/>
        </p:spPr>
        <p:txBody>
          <a:bodyPr wrap="square" lIns="0" tIns="0" rIns="0" bIns="0" rtlCol="0" anchor="ctr"/>
          <a:lstStyle/>
          <a:p>
            <a:pPr marL="342900" indent="-342900">
              <a:buSzPct val="100000"/>
              <a:buChar char="•"/>
            </a:pPr>
            <a:r>
              <a:rPr lang="en-US" sz="1100" dirty="0">
                <a:solidFill>
                  <a:srgbClr val="BDD7EE"/>
                </a:solidFill>
              </a:rPr>
              <a:t>5 jours de conges supplementaires</a:t>
            </a:r>
            <a:endParaRPr lang="en-US" sz="1100" dirty="0"/>
          </a:p>
          <a:p>
            <a:pPr marL="342900" indent="-342900">
              <a:buSzPct val="100000"/>
              <a:buChar char="•"/>
            </a:pPr>
            <a:r>
              <a:rPr lang="en-US" sz="1100" dirty="0">
                <a:solidFill>
                  <a:srgbClr val="BDD7EE"/>
                </a:solidFill>
              </a:rPr>
              <a:t>Toutes activites confondues</a:t>
            </a:r>
            <a:endParaRPr lang="en-US" sz="1100" dirty="0"/>
          </a:p>
          <a:p>
            <a:pPr marL="342900" indent="-342900">
              <a:buSzPct val="100000"/>
              <a:buChar char="•"/>
            </a:pPr>
            <a:r>
              <a:rPr lang="en-US" sz="1100" dirty="0">
                <a:solidFill>
                  <a:srgbClr val="BDD7EE"/>
                </a:solidFill>
              </a:rPr>
              <a:t>Calcul sur 12 mois glissants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marL="0" indent="0">
              <a:buNone/>
            </a:pPr>
            <a:r>
              <a:rPr lang="en-US" sz="2600" b="1" dirty="0">
                <a:solidFill>
                  <a:srgbClr val="1F4E79"/>
                </a:solidFill>
                <a:latin typeface="Arial" pitchFamily="34" charset="0"/>
                <a:ea typeface="Arial" pitchFamily="34" charset="-122"/>
                <a:cs typeface="Arial" pitchFamily="34" charset="-120"/>
              </a:rPr>
              <a:t>Architecture globale</a:t>
            </a:r>
            <a:endParaRPr lang="en-US" sz="2600" dirty="0"/>
          </a:p>
        </p:txBody>
      </p:sp>
      <p:sp>
        <p:nvSpPr>
          <p:cNvPr id="3" name="Shape 1"/>
          <p:cNvSpPr/>
          <p:nvPr/>
        </p:nvSpPr>
        <p:spPr>
          <a:xfrm>
            <a:off x="457200" y="896112"/>
            <a:ext cx="1097280" cy="54864"/>
          </a:xfrm>
          <a:prstGeom prst="rect">
            <a:avLst/>
          </a:prstGeom>
          <a:solidFill>
            <a:srgbClr val="2E75B6"/>
          </a:solidFill>
          <a:ln w="12700">
            <a:solidFill>
              <a:srgbClr val="2E75B6"/>
            </a:solidFill>
            <a:prstDash val="solid"/>
          </a:ln>
        </p:spPr>
        <p:txBody>
          <a:bodyPr/>
          <a:lstStyle/>
          <a:p>
            <a:endParaRPr lang="fr-FR"/>
          </a:p>
        </p:txBody>
      </p:sp>
      <p:sp>
        <p:nvSpPr>
          <p:cNvPr id="4" name="Shape 2"/>
          <p:cNvSpPr/>
          <p:nvPr/>
        </p:nvSpPr>
        <p:spPr>
          <a:xfrm>
            <a:off x="365760" y="1097280"/>
            <a:ext cx="1920240" cy="3200400"/>
          </a:xfrm>
          <a:prstGeom prst="rect">
            <a:avLst/>
          </a:prstGeom>
          <a:solidFill>
            <a:srgbClr val="1F4E79"/>
          </a:solidFill>
          <a:ln w="12700">
            <a:solidFill>
              <a:srgbClr val="1F4E79"/>
            </a:solidFill>
            <a:prstDash val="solid"/>
          </a:ln>
          <a:effectLst>
            <a:outerShdw blurRad="101600" dist="25400" dir="8100000" algn="bl" rotWithShape="0">
              <a:srgbClr val="000000">
                <a:alpha val="12000"/>
              </a:srgbClr>
            </a:outerShdw>
          </a:effectLst>
        </p:spPr>
        <p:txBody>
          <a:bodyPr/>
          <a:lstStyle/>
          <a:p>
            <a:endParaRPr lang="fr-FR"/>
          </a:p>
        </p:txBody>
      </p:sp>
      <p:sp>
        <p:nvSpPr>
          <p:cNvPr id="5" name="Text 3"/>
          <p:cNvSpPr/>
          <p:nvPr/>
        </p:nvSpPr>
        <p:spPr>
          <a:xfrm>
            <a:off x="438912" y="1170432"/>
            <a:ext cx="1773936"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Flow 01 Strava (DC1)</a:t>
            </a:r>
            <a:endParaRPr lang="en-US" sz="1100" dirty="0"/>
          </a:p>
        </p:txBody>
      </p:sp>
      <p:sp>
        <p:nvSpPr>
          <p:cNvPr id="6" name="Shape 4"/>
          <p:cNvSpPr/>
          <p:nvPr/>
        </p:nvSpPr>
        <p:spPr>
          <a:xfrm>
            <a:off x="548640" y="1709928"/>
            <a:ext cx="1554480" cy="0"/>
          </a:xfrm>
          <a:prstGeom prst="line">
            <a:avLst/>
          </a:prstGeom>
          <a:noFill/>
          <a:ln w="12700">
            <a:solidFill>
              <a:srgbClr val="FFFFFF">
                <a:alpha val="40000"/>
              </a:srgbClr>
            </a:solidFill>
            <a:prstDash val="solid"/>
          </a:ln>
        </p:spPr>
        <p:txBody>
          <a:bodyPr/>
          <a:lstStyle/>
          <a:p>
            <a:endParaRPr lang="fr-FR"/>
          </a:p>
        </p:txBody>
      </p:sp>
      <p:sp>
        <p:nvSpPr>
          <p:cNvPr id="7" name="Text 5"/>
          <p:cNvSpPr/>
          <p:nvPr/>
        </p:nvSpPr>
        <p:spPr>
          <a:xfrm>
            <a:off x="438912" y="1783080"/>
            <a:ext cx="1773936" cy="502920"/>
          </a:xfrm>
          <a:prstGeom prst="rect">
            <a:avLst/>
          </a:prstGeom>
          <a:noFill/>
          <a:ln/>
        </p:spPr>
        <p:txBody>
          <a:bodyPr wrap="square" lIns="0" tIns="0" rIns="0" bIns="0" rtlCol="0" anchor="ctr"/>
          <a:lstStyle/>
          <a:p>
            <a:pPr marL="0" indent="0" algn="ctr">
              <a:buNone/>
            </a:pPr>
            <a:r>
              <a:rPr lang="en-US" sz="1000" i="1" dirty="0">
                <a:solidFill>
                  <a:srgbClr val="D6EAF8"/>
                </a:solidFill>
                <a:latin typeface="Arial" pitchFamily="34" charset="0"/>
                <a:ea typeface="Arial" pitchFamily="34" charset="-122"/>
                <a:cs typeface="Arial" pitchFamily="34" charset="-120"/>
              </a:rPr>
              <a:t>OAuth + collecte</a:t>
            </a:r>
            <a:endParaRPr lang="en-US" sz="1000" dirty="0"/>
          </a:p>
        </p:txBody>
      </p:sp>
      <p:sp>
        <p:nvSpPr>
          <p:cNvPr id="8" name="Text 6"/>
          <p:cNvSpPr/>
          <p:nvPr/>
        </p:nvSpPr>
        <p:spPr>
          <a:xfrm>
            <a:off x="438912" y="2377440"/>
            <a:ext cx="1773936" cy="1737360"/>
          </a:xfrm>
          <a:prstGeom prst="rect">
            <a:avLst/>
          </a:prstGeom>
          <a:noFill/>
          <a:ln/>
        </p:spPr>
        <p:txBody>
          <a:bodyPr wrap="square" lIns="0" tIns="0" rIns="0" bIns="0" rtlCol="0" anchor="ctr"/>
          <a:lstStyle/>
          <a:p>
            <a:pPr marL="0" indent="0" algn="ctr">
              <a:buNone/>
            </a:pPr>
            <a:r>
              <a:rPr lang="en-US" sz="1000" dirty="0">
                <a:solidFill>
                  <a:srgbClr val="BDD7EE"/>
                </a:solidFill>
                <a:latin typeface="Arial" pitchFamily="34" charset="0"/>
                <a:ea typeface="Arial" pitchFamily="34" charset="-122"/>
                <a:cs typeface="Arial" pitchFamily="34" charset="-120"/>
              </a:rPr>
              <a:t>SQL Server, ASP.NET, Python</a:t>
            </a:r>
            <a:endParaRPr lang="en-US" sz="1000" dirty="0"/>
          </a:p>
        </p:txBody>
      </p:sp>
      <p:sp>
        <p:nvSpPr>
          <p:cNvPr id="9" name="Shape 7"/>
          <p:cNvSpPr/>
          <p:nvPr/>
        </p:nvSpPr>
        <p:spPr>
          <a:xfrm>
            <a:off x="2514600" y="1097280"/>
            <a:ext cx="1920240" cy="3200400"/>
          </a:xfrm>
          <a:prstGeom prst="rect">
            <a:avLst/>
          </a:prstGeom>
          <a:solidFill>
            <a:srgbClr val="1D6FA4"/>
          </a:solidFill>
          <a:ln w="12700">
            <a:solidFill>
              <a:srgbClr val="1D6FA4"/>
            </a:solidFill>
            <a:prstDash val="solid"/>
          </a:ln>
          <a:effectLst>
            <a:outerShdw blurRad="101600" dist="25400" dir="8100000" algn="bl" rotWithShape="0">
              <a:srgbClr val="000000">
                <a:alpha val="12000"/>
              </a:srgbClr>
            </a:outerShdw>
          </a:effectLst>
        </p:spPr>
        <p:txBody>
          <a:bodyPr/>
          <a:lstStyle/>
          <a:p>
            <a:endParaRPr lang="fr-FR"/>
          </a:p>
        </p:txBody>
      </p:sp>
      <p:sp>
        <p:nvSpPr>
          <p:cNvPr id="10" name="Text 8"/>
          <p:cNvSpPr/>
          <p:nvPr/>
        </p:nvSpPr>
        <p:spPr>
          <a:xfrm>
            <a:off x="2587752" y="1170432"/>
            <a:ext cx="1773936"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Flow 01 Slack (DC2)</a:t>
            </a:r>
            <a:endParaRPr lang="en-US" sz="1100" dirty="0"/>
          </a:p>
        </p:txBody>
      </p:sp>
      <p:sp>
        <p:nvSpPr>
          <p:cNvPr id="11" name="Shape 9"/>
          <p:cNvSpPr/>
          <p:nvPr/>
        </p:nvSpPr>
        <p:spPr>
          <a:xfrm>
            <a:off x="2697480" y="1709928"/>
            <a:ext cx="1554480" cy="0"/>
          </a:xfrm>
          <a:prstGeom prst="line">
            <a:avLst/>
          </a:prstGeom>
          <a:noFill/>
          <a:ln w="12700">
            <a:solidFill>
              <a:srgbClr val="FFFFFF">
                <a:alpha val="40000"/>
              </a:srgbClr>
            </a:solidFill>
            <a:prstDash val="solid"/>
          </a:ln>
        </p:spPr>
        <p:txBody>
          <a:bodyPr/>
          <a:lstStyle/>
          <a:p>
            <a:endParaRPr lang="fr-FR"/>
          </a:p>
        </p:txBody>
      </p:sp>
      <p:sp>
        <p:nvSpPr>
          <p:cNvPr id="12" name="Text 10"/>
          <p:cNvSpPr/>
          <p:nvPr/>
        </p:nvSpPr>
        <p:spPr>
          <a:xfrm>
            <a:off x="2587752" y="1783080"/>
            <a:ext cx="1773936" cy="502920"/>
          </a:xfrm>
          <a:prstGeom prst="rect">
            <a:avLst/>
          </a:prstGeom>
          <a:noFill/>
          <a:ln/>
        </p:spPr>
        <p:txBody>
          <a:bodyPr wrap="square" lIns="0" tIns="0" rIns="0" bIns="0" rtlCol="0" anchor="ctr"/>
          <a:lstStyle/>
          <a:p>
            <a:pPr marL="0" indent="0" algn="ctr">
              <a:buNone/>
            </a:pPr>
            <a:r>
              <a:rPr lang="en-US" sz="1000" i="1" dirty="0">
                <a:solidFill>
                  <a:srgbClr val="D6EAF8"/>
                </a:solidFill>
                <a:latin typeface="Arial" pitchFamily="34" charset="0"/>
                <a:ea typeface="Arial" pitchFamily="34" charset="-122"/>
                <a:cs typeface="Arial" pitchFamily="34" charset="-120"/>
              </a:rPr>
              <a:t>Notifications temps reel</a:t>
            </a:r>
            <a:endParaRPr lang="en-US" sz="1000" dirty="0"/>
          </a:p>
        </p:txBody>
      </p:sp>
      <p:sp>
        <p:nvSpPr>
          <p:cNvPr id="13" name="Text 11"/>
          <p:cNvSpPr/>
          <p:nvPr/>
        </p:nvSpPr>
        <p:spPr>
          <a:xfrm>
            <a:off x="2587752" y="2377440"/>
            <a:ext cx="1773936" cy="1737360"/>
          </a:xfrm>
          <a:prstGeom prst="rect">
            <a:avLst/>
          </a:prstGeom>
          <a:noFill/>
          <a:ln/>
        </p:spPr>
        <p:txBody>
          <a:bodyPr wrap="square" lIns="0" tIns="0" rIns="0" bIns="0" rtlCol="0" anchor="ctr"/>
          <a:lstStyle/>
          <a:p>
            <a:pPr marL="0" indent="0" algn="ctr">
              <a:buNone/>
            </a:pPr>
            <a:r>
              <a:rPr lang="en-US" sz="1000" dirty="0">
                <a:solidFill>
                  <a:srgbClr val="BDD7EE"/>
                </a:solidFill>
                <a:latin typeface="Arial" pitchFamily="34" charset="0"/>
                <a:ea typeface="Arial" pitchFamily="34" charset="-122"/>
                <a:cs typeface="Arial" pitchFamily="34" charset="-120"/>
              </a:rPr>
              <a:t>Debezium, Flask</a:t>
            </a:r>
            <a:endParaRPr lang="en-US" sz="1000" dirty="0"/>
          </a:p>
        </p:txBody>
      </p:sp>
      <p:sp>
        <p:nvSpPr>
          <p:cNvPr id="14" name="Shape 12"/>
          <p:cNvSpPr/>
          <p:nvPr/>
        </p:nvSpPr>
        <p:spPr>
          <a:xfrm>
            <a:off x="4663440" y="1097280"/>
            <a:ext cx="1920240" cy="3200400"/>
          </a:xfrm>
          <a:prstGeom prst="rect">
            <a:avLst/>
          </a:prstGeom>
          <a:solidFill>
            <a:srgbClr val="2E75B6"/>
          </a:solidFill>
          <a:ln w="12700">
            <a:solidFill>
              <a:srgbClr val="2E75B6"/>
            </a:solidFill>
            <a:prstDash val="solid"/>
          </a:ln>
          <a:effectLst>
            <a:outerShdw blurRad="101600" dist="25400" dir="8100000" algn="bl" rotWithShape="0">
              <a:srgbClr val="000000">
                <a:alpha val="12000"/>
              </a:srgbClr>
            </a:outerShdw>
          </a:effectLst>
        </p:spPr>
        <p:txBody>
          <a:bodyPr/>
          <a:lstStyle/>
          <a:p>
            <a:endParaRPr lang="fr-FR"/>
          </a:p>
        </p:txBody>
      </p:sp>
      <p:sp>
        <p:nvSpPr>
          <p:cNvPr id="15" name="Text 13"/>
          <p:cNvSpPr/>
          <p:nvPr/>
        </p:nvSpPr>
        <p:spPr>
          <a:xfrm>
            <a:off x="4736592" y="1170432"/>
            <a:ext cx="1773936"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Flow 01 PowerBI (DC3)</a:t>
            </a:r>
            <a:endParaRPr lang="en-US" sz="1100" dirty="0"/>
          </a:p>
        </p:txBody>
      </p:sp>
      <p:sp>
        <p:nvSpPr>
          <p:cNvPr id="16" name="Shape 14"/>
          <p:cNvSpPr/>
          <p:nvPr/>
        </p:nvSpPr>
        <p:spPr>
          <a:xfrm>
            <a:off x="4846320" y="1709928"/>
            <a:ext cx="1554480" cy="0"/>
          </a:xfrm>
          <a:prstGeom prst="line">
            <a:avLst/>
          </a:prstGeom>
          <a:noFill/>
          <a:ln w="12700">
            <a:solidFill>
              <a:srgbClr val="FFFFFF">
                <a:alpha val="40000"/>
              </a:srgbClr>
            </a:solidFill>
            <a:prstDash val="solid"/>
          </a:ln>
        </p:spPr>
        <p:txBody>
          <a:bodyPr/>
          <a:lstStyle/>
          <a:p>
            <a:endParaRPr lang="fr-FR"/>
          </a:p>
        </p:txBody>
      </p:sp>
      <p:sp>
        <p:nvSpPr>
          <p:cNvPr id="17" name="Text 15"/>
          <p:cNvSpPr/>
          <p:nvPr/>
        </p:nvSpPr>
        <p:spPr>
          <a:xfrm>
            <a:off x="4736592" y="1783080"/>
            <a:ext cx="1773936" cy="502920"/>
          </a:xfrm>
          <a:prstGeom prst="rect">
            <a:avLst/>
          </a:prstGeom>
          <a:noFill/>
          <a:ln/>
        </p:spPr>
        <p:txBody>
          <a:bodyPr wrap="square" lIns="0" tIns="0" rIns="0" bIns="0" rtlCol="0" anchor="ctr"/>
          <a:lstStyle/>
          <a:p>
            <a:pPr marL="0" indent="0" algn="ctr">
              <a:buNone/>
            </a:pPr>
            <a:r>
              <a:rPr lang="en-US" sz="1000" i="1" dirty="0">
                <a:solidFill>
                  <a:srgbClr val="D6EAF8"/>
                </a:solidFill>
                <a:latin typeface="Arial" pitchFamily="34" charset="0"/>
                <a:ea typeface="Arial" pitchFamily="34" charset="-122"/>
                <a:cs typeface="Arial" pitchFamily="34" charset="-120"/>
              </a:rPr>
              <a:t>ETL + calcul primes</a:t>
            </a:r>
            <a:endParaRPr lang="en-US" sz="1000" dirty="0"/>
          </a:p>
        </p:txBody>
      </p:sp>
      <p:sp>
        <p:nvSpPr>
          <p:cNvPr id="18" name="Text 16"/>
          <p:cNvSpPr/>
          <p:nvPr/>
        </p:nvSpPr>
        <p:spPr>
          <a:xfrm>
            <a:off x="4736592" y="2377440"/>
            <a:ext cx="1773936" cy="1737360"/>
          </a:xfrm>
          <a:prstGeom prst="rect">
            <a:avLst/>
          </a:prstGeom>
          <a:noFill/>
          <a:ln/>
        </p:spPr>
        <p:txBody>
          <a:bodyPr wrap="square" lIns="0" tIns="0" rIns="0" bIns="0" rtlCol="0" anchor="ctr"/>
          <a:lstStyle/>
          <a:p>
            <a:pPr marL="0" indent="0" algn="ctr">
              <a:buNone/>
            </a:pPr>
            <a:r>
              <a:rPr lang="en-US" sz="1000" dirty="0">
                <a:solidFill>
                  <a:srgbClr val="BDD7EE"/>
                </a:solidFill>
                <a:latin typeface="Arial" pitchFamily="34" charset="0"/>
                <a:ea typeface="Arial" pitchFamily="34" charset="-122"/>
                <a:cs typeface="Arial" pitchFamily="34" charset="-120"/>
              </a:rPr>
              <a:t>DuckDB, Python, pandas</a:t>
            </a:r>
            <a:endParaRPr lang="en-US" sz="1000" dirty="0"/>
          </a:p>
        </p:txBody>
      </p:sp>
      <p:sp>
        <p:nvSpPr>
          <p:cNvPr id="19" name="Shape 17"/>
          <p:cNvSpPr/>
          <p:nvPr/>
        </p:nvSpPr>
        <p:spPr>
          <a:xfrm>
            <a:off x="6812280" y="1097280"/>
            <a:ext cx="1920240" cy="3200400"/>
          </a:xfrm>
          <a:prstGeom prst="rect">
            <a:avLst/>
          </a:prstGeom>
          <a:solidFill>
            <a:srgbClr val="70AD47"/>
          </a:solidFill>
          <a:ln w="12700">
            <a:solidFill>
              <a:srgbClr val="70AD47"/>
            </a:solidFill>
            <a:prstDash val="solid"/>
          </a:ln>
          <a:effectLst>
            <a:outerShdw blurRad="101600" dist="25400" dir="8100000" algn="bl" rotWithShape="0">
              <a:srgbClr val="000000">
                <a:alpha val="12000"/>
              </a:srgbClr>
            </a:outerShdw>
          </a:effectLst>
        </p:spPr>
        <p:txBody>
          <a:bodyPr/>
          <a:lstStyle/>
          <a:p>
            <a:endParaRPr lang="fr-FR"/>
          </a:p>
        </p:txBody>
      </p:sp>
      <p:sp>
        <p:nvSpPr>
          <p:cNvPr id="20" name="Text 18"/>
          <p:cNvSpPr/>
          <p:nvPr/>
        </p:nvSpPr>
        <p:spPr>
          <a:xfrm>
            <a:off x="6885432" y="1170432"/>
            <a:ext cx="1773936"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Kestra</a:t>
            </a:r>
            <a:endParaRPr lang="en-US" sz="1100" dirty="0"/>
          </a:p>
        </p:txBody>
      </p:sp>
      <p:sp>
        <p:nvSpPr>
          <p:cNvPr id="21" name="Shape 19"/>
          <p:cNvSpPr/>
          <p:nvPr/>
        </p:nvSpPr>
        <p:spPr>
          <a:xfrm>
            <a:off x="6995160" y="1709928"/>
            <a:ext cx="1554480" cy="0"/>
          </a:xfrm>
          <a:prstGeom prst="line">
            <a:avLst/>
          </a:prstGeom>
          <a:noFill/>
          <a:ln w="12700">
            <a:solidFill>
              <a:srgbClr val="FFFFFF">
                <a:alpha val="40000"/>
              </a:srgbClr>
            </a:solidFill>
            <a:prstDash val="solid"/>
          </a:ln>
        </p:spPr>
        <p:txBody>
          <a:bodyPr/>
          <a:lstStyle/>
          <a:p>
            <a:endParaRPr lang="fr-FR"/>
          </a:p>
        </p:txBody>
      </p:sp>
      <p:sp>
        <p:nvSpPr>
          <p:cNvPr id="22" name="Text 20"/>
          <p:cNvSpPr/>
          <p:nvPr/>
        </p:nvSpPr>
        <p:spPr>
          <a:xfrm>
            <a:off x="6885432" y="1783080"/>
            <a:ext cx="1773936" cy="502920"/>
          </a:xfrm>
          <a:prstGeom prst="rect">
            <a:avLst/>
          </a:prstGeom>
          <a:noFill/>
          <a:ln/>
        </p:spPr>
        <p:txBody>
          <a:bodyPr wrap="square" lIns="0" tIns="0" rIns="0" bIns="0" rtlCol="0" anchor="ctr"/>
          <a:lstStyle/>
          <a:p>
            <a:pPr marL="0" indent="0" algn="ctr">
              <a:buNone/>
            </a:pPr>
            <a:r>
              <a:rPr lang="en-US" sz="1000" i="1" dirty="0">
                <a:solidFill>
                  <a:srgbClr val="D6EAF8"/>
                </a:solidFill>
                <a:latin typeface="Arial" pitchFamily="34" charset="0"/>
                <a:ea typeface="Arial" pitchFamily="34" charset="-122"/>
                <a:cs typeface="Arial" pitchFamily="34" charset="-120"/>
              </a:rPr>
              <a:t>Orchestration</a:t>
            </a:r>
            <a:endParaRPr lang="en-US" sz="1000" dirty="0"/>
          </a:p>
        </p:txBody>
      </p:sp>
      <p:sp>
        <p:nvSpPr>
          <p:cNvPr id="23" name="Text 21"/>
          <p:cNvSpPr/>
          <p:nvPr/>
        </p:nvSpPr>
        <p:spPr>
          <a:xfrm>
            <a:off x="6885432" y="2377440"/>
            <a:ext cx="1773936" cy="1737360"/>
          </a:xfrm>
          <a:prstGeom prst="rect">
            <a:avLst/>
          </a:prstGeom>
          <a:noFill/>
          <a:ln/>
        </p:spPr>
        <p:txBody>
          <a:bodyPr wrap="square" lIns="0" tIns="0" rIns="0" bIns="0" rtlCol="0" anchor="ctr"/>
          <a:lstStyle/>
          <a:p>
            <a:pPr marL="0" indent="0" algn="ctr">
              <a:buNone/>
            </a:pPr>
            <a:r>
              <a:rPr lang="en-US" sz="1000" dirty="0">
                <a:solidFill>
                  <a:srgbClr val="BDD7EE"/>
                </a:solidFill>
                <a:latin typeface="Arial" pitchFamily="34" charset="0"/>
                <a:ea typeface="Arial" pitchFamily="34" charset="-122"/>
                <a:cs typeface="Arial" pitchFamily="34" charset="-120"/>
              </a:rPr>
              <a:t>PostgreSQL backend</a:t>
            </a:r>
            <a:endParaRPr lang="en-US" sz="1000" dirty="0"/>
          </a:p>
        </p:txBody>
      </p:sp>
      <p:sp>
        <p:nvSpPr>
          <p:cNvPr id="24" name="Shape 22"/>
          <p:cNvSpPr/>
          <p:nvPr/>
        </p:nvSpPr>
        <p:spPr>
          <a:xfrm>
            <a:off x="365760" y="4434840"/>
            <a:ext cx="8412480" cy="411480"/>
          </a:xfrm>
          <a:prstGeom prst="rect">
            <a:avLst/>
          </a:prstGeom>
          <a:solidFill>
            <a:srgbClr val="D6E4F0"/>
          </a:solidFill>
          <a:ln w="12700">
            <a:solidFill>
              <a:srgbClr val="2E75B6"/>
            </a:solidFill>
            <a:prstDash val="solid"/>
          </a:ln>
        </p:spPr>
        <p:txBody>
          <a:bodyPr/>
          <a:lstStyle/>
          <a:p>
            <a:endParaRPr lang="fr-FR"/>
          </a:p>
        </p:txBody>
      </p:sp>
      <p:sp>
        <p:nvSpPr>
          <p:cNvPr id="25" name="Text 23"/>
          <p:cNvSpPr/>
          <p:nvPr/>
        </p:nvSpPr>
        <p:spPr>
          <a:xfrm>
            <a:off x="457200" y="4462272"/>
            <a:ext cx="8229600" cy="347472"/>
          </a:xfrm>
          <a:prstGeom prst="rect">
            <a:avLst/>
          </a:prstGeom>
          <a:noFill/>
          <a:ln/>
        </p:spPr>
        <p:txBody>
          <a:bodyPr wrap="square" lIns="0" tIns="0" rIns="0" bIns="0" rtlCol="0" anchor="ctr"/>
          <a:lstStyle/>
          <a:p>
            <a:pPr marL="0" indent="0" algn="ctr">
              <a:buNone/>
            </a:pPr>
            <a:r>
              <a:rPr lang="en-US" sz="1000" dirty="0">
                <a:solidFill>
                  <a:srgbClr val="1F4E79"/>
                </a:solidFill>
                <a:latin typeface="Arial" pitchFamily="34" charset="0"/>
                <a:ea typeface="Arial" pitchFamily="34" charset="-122"/>
                <a:cs typeface="Arial" pitchFamily="34" charset="-120"/>
              </a:rPr>
              <a:t>Reseau Docker partage : strava_network  |  Base de donnees centrale : SQL Server 2022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marL="0" indent="0">
              <a:buNone/>
            </a:pPr>
            <a:r>
              <a:rPr lang="en-US" sz="2600" b="1" dirty="0">
                <a:solidFill>
                  <a:srgbClr val="1F4E79"/>
                </a:solidFill>
                <a:latin typeface="Arial" pitchFamily="34" charset="0"/>
                <a:ea typeface="Arial" pitchFamily="34" charset="-122"/>
                <a:cs typeface="Arial" pitchFamily="34" charset="-120"/>
              </a:rPr>
              <a:t>Flow 01 Strava — Collecte OAuth</a:t>
            </a:r>
            <a:endParaRPr lang="en-US" sz="2600" dirty="0"/>
          </a:p>
        </p:txBody>
      </p:sp>
      <p:sp>
        <p:nvSpPr>
          <p:cNvPr id="3" name="Shape 1"/>
          <p:cNvSpPr/>
          <p:nvPr/>
        </p:nvSpPr>
        <p:spPr>
          <a:xfrm>
            <a:off x="457200" y="896112"/>
            <a:ext cx="1097280" cy="54864"/>
          </a:xfrm>
          <a:prstGeom prst="rect">
            <a:avLst/>
          </a:prstGeom>
          <a:solidFill>
            <a:srgbClr val="2E75B6"/>
          </a:solidFill>
          <a:ln w="12700">
            <a:solidFill>
              <a:srgbClr val="2E75B6"/>
            </a:solidFill>
            <a:prstDash val="solid"/>
          </a:ln>
        </p:spPr>
        <p:txBody>
          <a:bodyPr/>
          <a:lstStyle/>
          <a:p>
            <a:endParaRPr lang="fr-FR"/>
          </a:p>
        </p:txBody>
      </p:sp>
      <p:sp>
        <p:nvSpPr>
          <p:cNvPr id="4" name="Shape 2"/>
          <p:cNvSpPr/>
          <p:nvPr/>
        </p:nvSpPr>
        <p:spPr>
          <a:xfrm>
            <a:off x="365760" y="1078992"/>
            <a:ext cx="384048" cy="384048"/>
          </a:xfrm>
          <a:prstGeom prst="ellipse">
            <a:avLst/>
          </a:prstGeom>
          <a:solidFill>
            <a:srgbClr val="2E75B6"/>
          </a:solidFill>
          <a:ln w="12700">
            <a:solidFill>
              <a:srgbClr val="2E75B6"/>
            </a:solidFill>
            <a:prstDash val="solid"/>
          </a:ln>
        </p:spPr>
        <p:txBody>
          <a:bodyPr/>
          <a:lstStyle/>
          <a:p>
            <a:endParaRPr lang="fr-FR"/>
          </a:p>
        </p:txBody>
      </p:sp>
      <p:sp>
        <p:nvSpPr>
          <p:cNvPr id="5" name="Text 3"/>
          <p:cNvSpPr/>
          <p:nvPr/>
        </p:nvSpPr>
        <p:spPr>
          <a:xfrm>
            <a:off x="365760" y="107899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6" name="Shape 4"/>
          <p:cNvSpPr/>
          <p:nvPr/>
        </p:nvSpPr>
        <p:spPr>
          <a:xfrm>
            <a:off x="548640" y="1481328"/>
            <a:ext cx="0" cy="521208"/>
          </a:xfrm>
          <a:prstGeom prst="line">
            <a:avLst/>
          </a:prstGeom>
          <a:noFill/>
          <a:ln w="12700">
            <a:solidFill>
              <a:srgbClr val="2E75B6"/>
            </a:solidFill>
            <a:prstDash val="dot"/>
          </a:ln>
        </p:spPr>
        <p:txBody>
          <a:bodyPr/>
          <a:lstStyle/>
          <a:p>
            <a:endParaRPr lang="fr-FR"/>
          </a:p>
        </p:txBody>
      </p:sp>
      <p:sp>
        <p:nvSpPr>
          <p:cNvPr id="7" name="Text 5"/>
          <p:cNvSpPr/>
          <p:nvPr/>
        </p:nvSpPr>
        <p:spPr>
          <a:xfrm>
            <a:off x="914400" y="1097280"/>
            <a:ext cx="7863840" cy="347472"/>
          </a:xfrm>
          <a:prstGeom prst="rect">
            <a:avLst/>
          </a:prstGeom>
          <a:noFill/>
          <a:ln/>
        </p:spPr>
        <p:txBody>
          <a:bodyPr wrap="square" lIns="0" tIns="0" rIns="0" bIns="0" rtlCol="0" anchor="ctr"/>
          <a:lstStyle/>
          <a:p>
            <a:pPr marL="0" indent="0">
              <a:buNone/>
            </a:pPr>
            <a:r>
              <a:rPr lang="en-US" sz="1200" dirty="0">
                <a:solidFill>
                  <a:srgbClr val="1A1A2E"/>
                </a:solidFill>
                <a:latin typeface="Arial" pitchFamily="34" charset="0"/>
                <a:ea typeface="Arial" pitchFamily="34" charset="-122"/>
                <a:cs typeface="Arial" pitchFamily="34" charset="-120"/>
              </a:rPr>
              <a:t>Email personnalise envoye a chaque salarie avec lien OAuth unique (&amp;state=IdEmploye)</a:t>
            </a:r>
            <a:endParaRPr lang="en-US" sz="1200" dirty="0"/>
          </a:p>
        </p:txBody>
      </p:sp>
      <p:sp>
        <p:nvSpPr>
          <p:cNvPr id="8" name="Shape 6"/>
          <p:cNvSpPr/>
          <p:nvPr/>
        </p:nvSpPr>
        <p:spPr>
          <a:xfrm>
            <a:off x="365760" y="1737360"/>
            <a:ext cx="384048" cy="384048"/>
          </a:xfrm>
          <a:prstGeom prst="ellipse">
            <a:avLst/>
          </a:prstGeom>
          <a:solidFill>
            <a:srgbClr val="2E75B6"/>
          </a:solidFill>
          <a:ln w="12700">
            <a:solidFill>
              <a:srgbClr val="2E75B6"/>
            </a:solidFill>
            <a:prstDash val="solid"/>
          </a:ln>
        </p:spPr>
        <p:txBody>
          <a:bodyPr/>
          <a:lstStyle/>
          <a:p>
            <a:endParaRPr lang="fr-FR"/>
          </a:p>
        </p:txBody>
      </p:sp>
      <p:sp>
        <p:nvSpPr>
          <p:cNvPr id="9" name="Text 7"/>
          <p:cNvSpPr/>
          <p:nvPr/>
        </p:nvSpPr>
        <p:spPr>
          <a:xfrm>
            <a:off x="365760" y="17373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0" name="Shape 8"/>
          <p:cNvSpPr/>
          <p:nvPr/>
        </p:nvSpPr>
        <p:spPr>
          <a:xfrm>
            <a:off x="548640" y="2139696"/>
            <a:ext cx="0" cy="521208"/>
          </a:xfrm>
          <a:prstGeom prst="line">
            <a:avLst/>
          </a:prstGeom>
          <a:noFill/>
          <a:ln w="12700">
            <a:solidFill>
              <a:srgbClr val="2E75B6"/>
            </a:solidFill>
            <a:prstDash val="dot"/>
          </a:ln>
        </p:spPr>
        <p:txBody>
          <a:bodyPr/>
          <a:lstStyle/>
          <a:p>
            <a:endParaRPr lang="fr-FR"/>
          </a:p>
        </p:txBody>
      </p:sp>
      <p:sp>
        <p:nvSpPr>
          <p:cNvPr id="11" name="Text 9"/>
          <p:cNvSpPr/>
          <p:nvPr/>
        </p:nvSpPr>
        <p:spPr>
          <a:xfrm>
            <a:off x="914400" y="1755648"/>
            <a:ext cx="7863840" cy="347472"/>
          </a:xfrm>
          <a:prstGeom prst="rect">
            <a:avLst/>
          </a:prstGeom>
          <a:noFill/>
          <a:ln/>
        </p:spPr>
        <p:txBody>
          <a:bodyPr wrap="square" lIns="0" tIns="0" rIns="0" bIns="0" rtlCol="0" anchor="ctr"/>
          <a:lstStyle/>
          <a:p>
            <a:pPr marL="0" indent="0">
              <a:buNone/>
            </a:pPr>
            <a:r>
              <a:rPr lang="en-US" sz="1200" dirty="0">
                <a:solidFill>
                  <a:srgbClr val="1A1A2E"/>
                </a:solidFill>
                <a:latin typeface="Arial" pitchFamily="34" charset="0"/>
                <a:ea typeface="Arial" pitchFamily="34" charset="-122"/>
                <a:cs typeface="Arial" pitchFamily="34" charset="-120"/>
              </a:rPr>
              <a:t>Le salarie autorise l'application sur strava.com</a:t>
            </a:r>
            <a:endParaRPr lang="en-US" sz="1200" dirty="0"/>
          </a:p>
        </p:txBody>
      </p:sp>
      <p:sp>
        <p:nvSpPr>
          <p:cNvPr id="12" name="Shape 10"/>
          <p:cNvSpPr/>
          <p:nvPr/>
        </p:nvSpPr>
        <p:spPr>
          <a:xfrm>
            <a:off x="365760" y="2395728"/>
            <a:ext cx="384048" cy="384048"/>
          </a:xfrm>
          <a:prstGeom prst="ellipse">
            <a:avLst/>
          </a:prstGeom>
          <a:solidFill>
            <a:srgbClr val="2E75B6"/>
          </a:solidFill>
          <a:ln w="12700">
            <a:solidFill>
              <a:srgbClr val="2E75B6"/>
            </a:solidFill>
            <a:prstDash val="solid"/>
          </a:ln>
        </p:spPr>
        <p:txBody>
          <a:bodyPr/>
          <a:lstStyle/>
          <a:p>
            <a:endParaRPr lang="fr-FR"/>
          </a:p>
        </p:txBody>
      </p:sp>
      <p:sp>
        <p:nvSpPr>
          <p:cNvPr id="13" name="Text 11"/>
          <p:cNvSpPr/>
          <p:nvPr/>
        </p:nvSpPr>
        <p:spPr>
          <a:xfrm>
            <a:off x="365760" y="23957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4" name="Shape 12"/>
          <p:cNvSpPr/>
          <p:nvPr/>
        </p:nvSpPr>
        <p:spPr>
          <a:xfrm>
            <a:off x="548640" y="2798064"/>
            <a:ext cx="0" cy="521208"/>
          </a:xfrm>
          <a:prstGeom prst="line">
            <a:avLst/>
          </a:prstGeom>
          <a:noFill/>
          <a:ln w="12700">
            <a:solidFill>
              <a:srgbClr val="2E75B6"/>
            </a:solidFill>
            <a:prstDash val="dot"/>
          </a:ln>
        </p:spPr>
        <p:txBody>
          <a:bodyPr/>
          <a:lstStyle/>
          <a:p>
            <a:endParaRPr lang="fr-FR"/>
          </a:p>
        </p:txBody>
      </p:sp>
      <p:sp>
        <p:nvSpPr>
          <p:cNvPr id="15" name="Text 13"/>
          <p:cNvSpPr/>
          <p:nvPr/>
        </p:nvSpPr>
        <p:spPr>
          <a:xfrm>
            <a:off x="914400" y="2414016"/>
            <a:ext cx="7863840" cy="347472"/>
          </a:xfrm>
          <a:prstGeom prst="rect">
            <a:avLst/>
          </a:prstGeom>
          <a:noFill/>
          <a:ln/>
        </p:spPr>
        <p:txBody>
          <a:bodyPr wrap="square" lIns="0" tIns="0" rIns="0" bIns="0" rtlCol="0" anchor="ctr"/>
          <a:lstStyle/>
          <a:p>
            <a:pPr marL="0" indent="0">
              <a:buNone/>
            </a:pPr>
            <a:r>
              <a:rPr lang="en-US" sz="1200" dirty="0">
                <a:solidFill>
                  <a:srgbClr val="1A1A2E"/>
                </a:solidFill>
                <a:latin typeface="Arial" pitchFamily="34" charset="0"/>
                <a:ea typeface="Arial" pitchFamily="34" charset="-122"/>
                <a:cs typeface="Arial" pitchFamily="34" charset="-120"/>
              </a:rPr>
              <a:t>Strava redirige vers notre webapp ASP.NET avec le code d'autorisation</a:t>
            </a:r>
            <a:endParaRPr lang="en-US" sz="1200" dirty="0"/>
          </a:p>
        </p:txBody>
      </p:sp>
      <p:sp>
        <p:nvSpPr>
          <p:cNvPr id="16" name="Shape 14"/>
          <p:cNvSpPr/>
          <p:nvPr/>
        </p:nvSpPr>
        <p:spPr>
          <a:xfrm>
            <a:off x="365760" y="3054096"/>
            <a:ext cx="384048" cy="384048"/>
          </a:xfrm>
          <a:prstGeom prst="ellipse">
            <a:avLst/>
          </a:prstGeom>
          <a:solidFill>
            <a:srgbClr val="2E75B6"/>
          </a:solidFill>
          <a:ln w="12700">
            <a:solidFill>
              <a:srgbClr val="2E75B6"/>
            </a:solidFill>
            <a:prstDash val="solid"/>
          </a:ln>
        </p:spPr>
        <p:txBody>
          <a:bodyPr/>
          <a:lstStyle/>
          <a:p>
            <a:endParaRPr lang="fr-FR"/>
          </a:p>
        </p:txBody>
      </p:sp>
      <p:sp>
        <p:nvSpPr>
          <p:cNvPr id="17" name="Text 15"/>
          <p:cNvSpPr/>
          <p:nvPr/>
        </p:nvSpPr>
        <p:spPr>
          <a:xfrm>
            <a:off x="365760" y="305409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8" name="Shape 16"/>
          <p:cNvSpPr/>
          <p:nvPr/>
        </p:nvSpPr>
        <p:spPr>
          <a:xfrm>
            <a:off x="548640" y="3456432"/>
            <a:ext cx="0" cy="521208"/>
          </a:xfrm>
          <a:prstGeom prst="line">
            <a:avLst/>
          </a:prstGeom>
          <a:noFill/>
          <a:ln w="12700">
            <a:solidFill>
              <a:srgbClr val="2E75B6"/>
            </a:solidFill>
            <a:prstDash val="dot"/>
          </a:ln>
        </p:spPr>
        <p:txBody>
          <a:bodyPr/>
          <a:lstStyle/>
          <a:p>
            <a:endParaRPr lang="fr-FR"/>
          </a:p>
        </p:txBody>
      </p:sp>
      <p:sp>
        <p:nvSpPr>
          <p:cNvPr id="19" name="Text 17"/>
          <p:cNvSpPr/>
          <p:nvPr/>
        </p:nvSpPr>
        <p:spPr>
          <a:xfrm>
            <a:off x="914400" y="3072384"/>
            <a:ext cx="7863840" cy="347472"/>
          </a:xfrm>
          <a:prstGeom prst="rect">
            <a:avLst/>
          </a:prstGeom>
          <a:noFill/>
          <a:ln/>
        </p:spPr>
        <p:txBody>
          <a:bodyPr wrap="square" lIns="0" tIns="0" rIns="0" bIns="0" rtlCol="0" anchor="ctr"/>
          <a:lstStyle/>
          <a:p>
            <a:pPr marL="0" indent="0">
              <a:buNone/>
            </a:pPr>
            <a:r>
              <a:rPr lang="en-US" sz="1200" dirty="0">
                <a:solidFill>
                  <a:srgbClr val="1A1A2E"/>
                </a:solidFill>
                <a:latin typeface="Arial" pitchFamily="34" charset="0"/>
                <a:ea typeface="Arial" pitchFamily="34" charset="-122"/>
                <a:cs typeface="Arial" pitchFamily="34" charset="-120"/>
              </a:rPr>
              <a:t>La webapp echange le code contre les tokens et les sauvegarde en base (avec IdEmploye)</a:t>
            </a:r>
            <a:endParaRPr lang="en-US" sz="1200" dirty="0"/>
          </a:p>
        </p:txBody>
      </p:sp>
      <p:sp>
        <p:nvSpPr>
          <p:cNvPr id="20" name="Shape 18"/>
          <p:cNvSpPr/>
          <p:nvPr/>
        </p:nvSpPr>
        <p:spPr>
          <a:xfrm>
            <a:off x="365760" y="3712464"/>
            <a:ext cx="384048" cy="384048"/>
          </a:xfrm>
          <a:prstGeom prst="ellipse">
            <a:avLst/>
          </a:prstGeom>
          <a:solidFill>
            <a:srgbClr val="2E75B6"/>
          </a:solidFill>
          <a:ln w="12700">
            <a:solidFill>
              <a:srgbClr val="2E75B6"/>
            </a:solidFill>
            <a:prstDash val="solid"/>
          </a:ln>
        </p:spPr>
        <p:txBody>
          <a:bodyPr/>
          <a:lstStyle/>
          <a:p>
            <a:endParaRPr lang="fr-FR"/>
          </a:p>
        </p:txBody>
      </p:sp>
      <p:sp>
        <p:nvSpPr>
          <p:cNvPr id="21" name="Text 19"/>
          <p:cNvSpPr/>
          <p:nvPr/>
        </p:nvSpPr>
        <p:spPr>
          <a:xfrm>
            <a:off x="365760" y="371246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2" name="Text 20"/>
          <p:cNvSpPr/>
          <p:nvPr/>
        </p:nvSpPr>
        <p:spPr>
          <a:xfrm>
            <a:off x="914400" y="3730752"/>
            <a:ext cx="7863840" cy="347472"/>
          </a:xfrm>
          <a:prstGeom prst="rect">
            <a:avLst/>
          </a:prstGeom>
          <a:noFill/>
          <a:ln/>
        </p:spPr>
        <p:txBody>
          <a:bodyPr wrap="square" lIns="0" tIns="0" rIns="0" bIns="0" rtlCol="0" anchor="ctr"/>
          <a:lstStyle/>
          <a:p>
            <a:pPr marL="0" indent="0">
              <a:buNone/>
            </a:pPr>
            <a:r>
              <a:rPr lang="en-US" sz="1200" dirty="0">
                <a:solidFill>
                  <a:srgbClr val="1A1A2E"/>
                </a:solidFill>
                <a:latin typeface="Arial" pitchFamily="34" charset="0"/>
                <a:ea typeface="Arial" pitchFamily="34" charset="-122"/>
                <a:cs typeface="Arial" pitchFamily="34" charset="-120"/>
              </a:rPr>
              <a:t>Le conteneur getdata synchronise les activites toutes les 2 minutes via Kestra</a:t>
            </a:r>
            <a:endParaRPr lang="en-US" sz="1200" dirty="0"/>
          </a:p>
        </p:txBody>
      </p:sp>
      <p:sp>
        <p:nvSpPr>
          <p:cNvPr id="23" name="Shape 21"/>
          <p:cNvSpPr/>
          <p:nvPr/>
        </p:nvSpPr>
        <p:spPr>
          <a:xfrm>
            <a:off x="365760" y="4407408"/>
            <a:ext cx="8412480" cy="502920"/>
          </a:xfrm>
          <a:prstGeom prst="rect">
            <a:avLst/>
          </a:prstGeom>
          <a:solidFill>
            <a:srgbClr val="EBF5FB"/>
          </a:solidFill>
          <a:ln w="12700">
            <a:solidFill>
              <a:srgbClr val="2E75B6"/>
            </a:solidFill>
            <a:prstDash val="solid"/>
          </a:ln>
        </p:spPr>
        <p:txBody>
          <a:bodyPr/>
          <a:lstStyle/>
          <a:p>
            <a:endParaRPr lang="fr-FR"/>
          </a:p>
        </p:txBody>
      </p:sp>
      <p:sp>
        <p:nvSpPr>
          <p:cNvPr id="24" name="Text 22"/>
          <p:cNvSpPr/>
          <p:nvPr/>
        </p:nvSpPr>
        <p:spPr>
          <a:xfrm>
            <a:off x="548640" y="4434840"/>
            <a:ext cx="8046720" cy="438912"/>
          </a:xfrm>
          <a:prstGeom prst="rect">
            <a:avLst/>
          </a:prstGeom>
          <a:noFill/>
          <a:ln/>
        </p:spPr>
        <p:txBody>
          <a:bodyPr wrap="square" lIns="0" tIns="0" rIns="0" bIns="0" rtlCol="0" anchor="ctr"/>
          <a:lstStyle/>
          <a:p>
            <a:pPr marL="0" indent="0">
              <a:buNone/>
            </a:pPr>
            <a:r>
              <a:rPr lang="en-US" sz="1000" i="1" dirty="0">
                <a:solidFill>
                  <a:srgbClr val="1F4E79"/>
                </a:solidFill>
                <a:latin typeface="Arial" pitchFamily="34" charset="0"/>
                <a:ea typeface="Arial" pitchFamily="34" charset="-122"/>
                <a:cs typeface="Arial" pitchFamily="34" charset="-120"/>
              </a:rPr>
              <a:t>Astuce technique : le parametre state OAuth transporte l'IdEmploye — aucun compte utilisateur necessaire dans l'application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marL="0" indent="0">
              <a:buNone/>
            </a:pPr>
            <a:r>
              <a:rPr lang="en-US" sz="2600" b="1" dirty="0">
                <a:solidFill>
                  <a:srgbClr val="1F4E79"/>
                </a:solidFill>
                <a:latin typeface="Arial" pitchFamily="34" charset="0"/>
                <a:ea typeface="Arial" pitchFamily="34" charset="-122"/>
                <a:cs typeface="Arial" pitchFamily="34" charset="-120"/>
              </a:rPr>
              <a:t>Flow 02 Slack — Notifications temps reel</a:t>
            </a:r>
            <a:endParaRPr lang="en-US" sz="2600" dirty="0"/>
          </a:p>
        </p:txBody>
      </p:sp>
      <p:sp>
        <p:nvSpPr>
          <p:cNvPr id="3" name="Shape 1"/>
          <p:cNvSpPr/>
          <p:nvPr/>
        </p:nvSpPr>
        <p:spPr>
          <a:xfrm>
            <a:off x="457200" y="896112"/>
            <a:ext cx="1097280" cy="54864"/>
          </a:xfrm>
          <a:prstGeom prst="rect">
            <a:avLst/>
          </a:prstGeom>
          <a:solidFill>
            <a:srgbClr val="2E75B6"/>
          </a:solidFill>
          <a:ln w="12700">
            <a:solidFill>
              <a:srgbClr val="2E75B6"/>
            </a:solidFill>
            <a:prstDash val="solid"/>
          </a:ln>
        </p:spPr>
        <p:txBody>
          <a:bodyPr/>
          <a:lstStyle/>
          <a:p>
            <a:endParaRPr lang="fr-FR"/>
          </a:p>
        </p:txBody>
      </p:sp>
      <p:sp>
        <p:nvSpPr>
          <p:cNvPr id="4" name="Shape 2"/>
          <p:cNvSpPr/>
          <p:nvPr/>
        </p:nvSpPr>
        <p:spPr>
          <a:xfrm>
            <a:off x="365760" y="1143000"/>
            <a:ext cx="1417320" cy="822960"/>
          </a:xfrm>
          <a:prstGeom prst="rect">
            <a:avLst/>
          </a:prstGeom>
          <a:solidFill>
            <a:srgbClr val="1F4E79"/>
          </a:solidFill>
          <a:ln w="12700">
            <a:solidFill>
              <a:srgbClr val="1F4E79"/>
            </a:solidFill>
            <a:prstDash val="solid"/>
          </a:ln>
          <a:effectLst>
            <a:outerShdw blurRad="101600" dist="25400" dir="8100000" algn="bl" rotWithShape="0">
              <a:srgbClr val="000000">
                <a:alpha val="12000"/>
              </a:srgbClr>
            </a:outerShdw>
          </a:effectLst>
        </p:spPr>
        <p:txBody>
          <a:bodyPr/>
          <a:lstStyle/>
          <a:p>
            <a:endParaRPr lang="fr-FR"/>
          </a:p>
        </p:txBody>
      </p:sp>
      <p:sp>
        <p:nvSpPr>
          <p:cNvPr id="5" name="Text 3"/>
          <p:cNvSpPr/>
          <p:nvPr/>
        </p:nvSpPr>
        <p:spPr>
          <a:xfrm>
            <a:off x="365760" y="1143000"/>
            <a:ext cx="1417320" cy="82296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SQL Server</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(CDC)</a:t>
            </a:r>
            <a:endParaRPr lang="en-US" sz="1000" dirty="0"/>
          </a:p>
        </p:txBody>
      </p:sp>
      <p:sp>
        <p:nvSpPr>
          <p:cNvPr id="6" name="Shape 4"/>
          <p:cNvSpPr/>
          <p:nvPr/>
        </p:nvSpPr>
        <p:spPr>
          <a:xfrm>
            <a:off x="1783080" y="1554480"/>
            <a:ext cx="274320" cy="0"/>
          </a:xfrm>
          <a:prstGeom prst="line">
            <a:avLst/>
          </a:prstGeom>
          <a:noFill/>
          <a:ln w="12700">
            <a:solidFill>
              <a:srgbClr val="2E75B6"/>
            </a:solidFill>
            <a:prstDash val="solid"/>
          </a:ln>
        </p:spPr>
        <p:txBody>
          <a:bodyPr/>
          <a:lstStyle/>
          <a:p>
            <a:endParaRPr lang="fr-FR"/>
          </a:p>
        </p:txBody>
      </p:sp>
      <p:sp>
        <p:nvSpPr>
          <p:cNvPr id="7" name="Text 5"/>
          <p:cNvSpPr/>
          <p:nvPr/>
        </p:nvSpPr>
        <p:spPr>
          <a:xfrm>
            <a:off x="1984248" y="1463040"/>
            <a:ext cx="137160" cy="182880"/>
          </a:xfrm>
          <a:prstGeom prst="rect">
            <a:avLst/>
          </a:prstGeom>
          <a:noFill/>
          <a:ln/>
        </p:spPr>
        <p:txBody>
          <a:bodyPr wrap="square" lIns="0" tIns="0" rIns="0" bIns="0" rtlCol="0" anchor="ctr"/>
          <a:lstStyle/>
          <a:p>
            <a:pPr marL="0" indent="0">
              <a:buNone/>
            </a:pPr>
            <a:r>
              <a:rPr lang="en-US" sz="1200" b="1" dirty="0">
                <a:solidFill>
                  <a:srgbClr val="2E75B6"/>
                </a:solidFill>
              </a:rPr>
              <a:t>&gt;</a:t>
            </a:r>
            <a:endParaRPr lang="en-US" sz="1200" dirty="0"/>
          </a:p>
        </p:txBody>
      </p:sp>
      <p:sp>
        <p:nvSpPr>
          <p:cNvPr id="8" name="Shape 6"/>
          <p:cNvSpPr/>
          <p:nvPr/>
        </p:nvSpPr>
        <p:spPr>
          <a:xfrm>
            <a:off x="2057400" y="1143000"/>
            <a:ext cx="1417320" cy="822960"/>
          </a:xfrm>
          <a:prstGeom prst="rect">
            <a:avLst/>
          </a:prstGeom>
          <a:solidFill>
            <a:srgbClr val="1D6FA4"/>
          </a:solidFill>
          <a:ln w="12700">
            <a:solidFill>
              <a:srgbClr val="1D6FA4"/>
            </a:solidFill>
            <a:prstDash val="solid"/>
          </a:ln>
          <a:effectLst>
            <a:outerShdw blurRad="101600" dist="25400" dir="8100000" algn="bl" rotWithShape="0">
              <a:srgbClr val="000000">
                <a:alpha val="12000"/>
              </a:srgbClr>
            </a:outerShdw>
          </a:effectLst>
        </p:spPr>
        <p:txBody>
          <a:bodyPr/>
          <a:lstStyle/>
          <a:p>
            <a:endParaRPr lang="fr-FR"/>
          </a:p>
        </p:txBody>
      </p:sp>
      <p:sp>
        <p:nvSpPr>
          <p:cNvPr id="9" name="Text 7"/>
          <p:cNvSpPr/>
          <p:nvPr/>
        </p:nvSpPr>
        <p:spPr>
          <a:xfrm>
            <a:off x="2057400" y="1143000"/>
            <a:ext cx="1417320" cy="82296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Debezium</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Server</a:t>
            </a:r>
            <a:endParaRPr lang="en-US" sz="1000" dirty="0"/>
          </a:p>
        </p:txBody>
      </p:sp>
      <p:sp>
        <p:nvSpPr>
          <p:cNvPr id="10" name="Shape 8"/>
          <p:cNvSpPr/>
          <p:nvPr/>
        </p:nvSpPr>
        <p:spPr>
          <a:xfrm>
            <a:off x="3474720" y="1554480"/>
            <a:ext cx="274320" cy="0"/>
          </a:xfrm>
          <a:prstGeom prst="line">
            <a:avLst/>
          </a:prstGeom>
          <a:noFill/>
          <a:ln w="12700">
            <a:solidFill>
              <a:srgbClr val="2E75B6"/>
            </a:solidFill>
            <a:prstDash val="solid"/>
          </a:ln>
        </p:spPr>
        <p:txBody>
          <a:bodyPr/>
          <a:lstStyle/>
          <a:p>
            <a:endParaRPr lang="fr-FR"/>
          </a:p>
        </p:txBody>
      </p:sp>
      <p:sp>
        <p:nvSpPr>
          <p:cNvPr id="11" name="Text 9"/>
          <p:cNvSpPr/>
          <p:nvPr/>
        </p:nvSpPr>
        <p:spPr>
          <a:xfrm>
            <a:off x="3675888" y="1463040"/>
            <a:ext cx="137160" cy="182880"/>
          </a:xfrm>
          <a:prstGeom prst="rect">
            <a:avLst/>
          </a:prstGeom>
          <a:noFill/>
          <a:ln/>
        </p:spPr>
        <p:txBody>
          <a:bodyPr wrap="square" lIns="0" tIns="0" rIns="0" bIns="0" rtlCol="0" anchor="ctr"/>
          <a:lstStyle/>
          <a:p>
            <a:pPr marL="0" indent="0">
              <a:buNone/>
            </a:pPr>
            <a:r>
              <a:rPr lang="en-US" sz="1200" b="1" dirty="0">
                <a:solidFill>
                  <a:srgbClr val="2E75B6"/>
                </a:solidFill>
              </a:rPr>
              <a:t>&gt;</a:t>
            </a:r>
            <a:endParaRPr lang="en-US" sz="1200" dirty="0"/>
          </a:p>
        </p:txBody>
      </p:sp>
      <p:sp>
        <p:nvSpPr>
          <p:cNvPr id="12" name="Shape 10"/>
          <p:cNvSpPr/>
          <p:nvPr/>
        </p:nvSpPr>
        <p:spPr>
          <a:xfrm>
            <a:off x="3749040" y="1143000"/>
            <a:ext cx="1417320" cy="822960"/>
          </a:xfrm>
          <a:prstGeom prst="rect">
            <a:avLst/>
          </a:prstGeom>
          <a:solidFill>
            <a:srgbClr val="2E75B6"/>
          </a:solidFill>
          <a:ln w="12700">
            <a:solidFill>
              <a:srgbClr val="2E75B6"/>
            </a:solidFill>
            <a:prstDash val="solid"/>
          </a:ln>
          <a:effectLst>
            <a:outerShdw blurRad="101600" dist="25400" dir="8100000" algn="bl" rotWithShape="0">
              <a:srgbClr val="000000">
                <a:alpha val="12000"/>
              </a:srgbClr>
            </a:outerShdw>
          </a:effectLst>
        </p:spPr>
        <p:txBody>
          <a:bodyPr/>
          <a:lstStyle/>
          <a:p>
            <a:endParaRPr lang="fr-FR"/>
          </a:p>
        </p:txBody>
      </p:sp>
      <p:sp>
        <p:nvSpPr>
          <p:cNvPr id="13" name="Text 11"/>
          <p:cNvSpPr/>
          <p:nvPr/>
        </p:nvSpPr>
        <p:spPr>
          <a:xfrm>
            <a:off x="3749040" y="1143000"/>
            <a:ext cx="1417320" cy="82296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Flask</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:5000</a:t>
            </a:r>
            <a:endParaRPr lang="en-US" sz="1000" dirty="0"/>
          </a:p>
        </p:txBody>
      </p:sp>
      <p:sp>
        <p:nvSpPr>
          <p:cNvPr id="14" name="Shape 12"/>
          <p:cNvSpPr/>
          <p:nvPr/>
        </p:nvSpPr>
        <p:spPr>
          <a:xfrm>
            <a:off x="5166360" y="1554480"/>
            <a:ext cx="274320" cy="0"/>
          </a:xfrm>
          <a:prstGeom prst="line">
            <a:avLst/>
          </a:prstGeom>
          <a:noFill/>
          <a:ln w="12700">
            <a:solidFill>
              <a:srgbClr val="2E75B6"/>
            </a:solidFill>
            <a:prstDash val="solid"/>
          </a:ln>
        </p:spPr>
        <p:txBody>
          <a:bodyPr/>
          <a:lstStyle/>
          <a:p>
            <a:endParaRPr lang="fr-FR"/>
          </a:p>
        </p:txBody>
      </p:sp>
      <p:sp>
        <p:nvSpPr>
          <p:cNvPr id="15" name="Text 13"/>
          <p:cNvSpPr/>
          <p:nvPr/>
        </p:nvSpPr>
        <p:spPr>
          <a:xfrm>
            <a:off x="5367528" y="1463040"/>
            <a:ext cx="137160" cy="182880"/>
          </a:xfrm>
          <a:prstGeom prst="rect">
            <a:avLst/>
          </a:prstGeom>
          <a:noFill/>
          <a:ln/>
        </p:spPr>
        <p:txBody>
          <a:bodyPr wrap="square" lIns="0" tIns="0" rIns="0" bIns="0" rtlCol="0" anchor="ctr"/>
          <a:lstStyle/>
          <a:p>
            <a:pPr marL="0" indent="0">
              <a:buNone/>
            </a:pPr>
            <a:r>
              <a:rPr lang="en-US" sz="1200" b="1" dirty="0">
                <a:solidFill>
                  <a:srgbClr val="2E75B6"/>
                </a:solidFill>
              </a:rPr>
              <a:t>&gt;</a:t>
            </a:r>
            <a:endParaRPr lang="en-US" sz="1200" dirty="0"/>
          </a:p>
        </p:txBody>
      </p:sp>
      <p:sp>
        <p:nvSpPr>
          <p:cNvPr id="16" name="Shape 14"/>
          <p:cNvSpPr/>
          <p:nvPr/>
        </p:nvSpPr>
        <p:spPr>
          <a:xfrm>
            <a:off x="5440680" y="1143000"/>
            <a:ext cx="1417320" cy="822960"/>
          </a:xfrm>
          <a:prstGeom prst="rect">
            <a:avLst/>
          </a:prstGeom>
          <a:solidFill>
            <a:srgbClr val="1EB980"/>
          </a:solidFill>
          <a:ln w="12700">
            <a:solidFill>
              <a:srgbClr val="1EB980"/>
            </a:solidFill>
            <a:prstDash val="solid"/>
          </a:ln>
          <a:effectLst>
            <a:outerShdw blurRad="101600" dist="25400" dir="8100000" algn="bl" rotWithShape="0">
              <a:srgbClr val="000000">
                <a:alpha val="12000"/>
              </a:srgbClr>
            </a:outerShdw>
          </a:effectLst>
        </p:spPr>
        <p:txBody>
          <a:bodyPr/>
          <a:lstStyle/>
          <a:p>
            <a:endParaRPr lang="fr-FR"/>
          </a:p>
        </p:txBody>
      </p:sp>
      <p:sp>
        <p:nvSpPr>
          <p:cNvPr id="17" name="Text 15"/>
          <p:cNvSpPr/>
          <p:nvPr/>
        </p:nvSpPr>
        <p:spPr>
          <a:xfrm>
            <a:off x="5440680" y="1143000"/>
            <a:ext cx="1417320" cy="82296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Slack</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Webhook</a:t>
            </a:r>
            <a:endParaRPr lang="en-US" sz="1000" dirty="0"/>
          </a:p>
        </p:txBody>
      </p:sp>
      <p:sp>
        <p:nvSpPr>
          <p:cNvPr id="18" name="Shape 16"/>
          <p:cNvSpPr/>
          <p:nvPr/>
        </p:nvSpPr>
        <p:spPr>
          <a:xfrm>
            <a:off x="6858000" y="1554480"/>
            <a:ext cx="274320" cy="0"/>
          </a:xfrm>
          <a:prstGeom prst="line">
            <a:avLst/>
          </a:prstGeom>
          <a:noFill/>
          <a:ln w="12700">
            <a:solidFill>
              <a:srgbClr val="2E75B6"/>
            </a:solidFill>
            <a:prstDash val="solid"/>
          </a:ln>
        </p:spPr>
        <p:txBody>
          <a:bodyPr/>
          <a:lstStyle/>
          <a:p>
            <a:endParaRPr lang="fr-FR"/>
          </a:p>
        </p:txBody>
      </p:sp>
      <p:sp>
        <p:nvSpPr>
          <p:cNvPr id="19" name="Text 17"/>
          <p:cNvSpPr/>
          <p:nvPr/>
        </p:nvSpPr>
        <p:spPr>
          <a:xfrm>
            <a:off x="7059168" y="1463040"/>
            <a:ext cx="137160" cy="182880"/>
          </a:xfrm>
          <a:prstGeom prst="rect">
            <a:avLst/>
          </a:prstGeom>
          <a:noFill/>
          <a:ln/>
        </p:spPr>
        <p:txBody>
          <a:bodyPr wrap="square" lIns="0" tIns="0" rIns="0" bIns="0" rtlCol="0" anchor="ctr"/>
          <a:lstStyle/>
          <a:p>
            <a:pPr marL="0" indent="0">
              <a:buNone/>
            </a:pPr>
            <a:r>
              <a:rPr lang="en-US" sz="1200" b="1" dirty="0">
                <a:solidFill>
                  <a:srgbClr val="2E75B6"/>
                </a:solidFill>
              </a:rPr>
              <a:t>&gt;</a:t>
            </a:r>
            <a:endParaRPr lang="en-US" sz="1200" dirty="0"/>
          </a:p>
        </p:txBody>
      </p:sp>
      <p:sp>
        <p:nvSpPr>
          <p:cNvPr id="20" name="Shape 18"/>
          <p:cNvSpPr/>
          <p:nvPr/>
        </p:nvSpPr>
        <p:spPr>
          <a:xfrm>
            <a:off x="7132320" y="1143000"/>
            <a:ext cx="1417320" cy="822960"/>
          </a:xfrm>
          <a:prstGeom prst="rect">
            <a:avLst/>
          </a:prstGeom>
          <a:solidFill>
            <a:srgbClr val="70AD47"/>
          </a:solidFill>
          <a:ln w="12700">
            <a:solidFill>
              <a:srgbClr val="70AD47"/>
            </a:solidFill>
            <a:prstDash val="solid"/>
          </a:ln>
          <a:effectLst>
            <a:outerShdw blurRad="101600" dist="25400" dir="8100000" algn="bl" rotWithShape="0">
              <a:srgbClr val="000000">
                <a:alpha val="12000"/>
              </a:srgbClr>
            </a:outerShdw>
          </a:effectLst>
        </p:spPr>
        <p:txBody>
          <a:bodyPr/>
          <a:lstStyle/>
          <a:p>
            <a:endParaRPr lang="fr-FR"/>
          </a:p>
        </p:txBody>
      </p:sp>
      <p:sp>
        <p:nvSpPr>
          <p:cNvPr id="21" name="Text 19"/>
          <p:cNvSpPr/>
          <p:nvPr/>
        </p:nvSpPr>
        <p:spPr>
          <a:xfrm>
            <a:off x="7132320" y="1143000"/>
            <a:ext cx="1417320" cy="82296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Canal</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Slack</a:t>
            </a:r>
            <a:endParaRPr lang="en-US" sz="1000" dirty="0"/>
          </a:p>
        </p:txBody>
      </p:sp>
      <p:sp>
        <p:nvSpPr>
          <p:cNvPr id="22" name="Shape 20"/>
          <p:cNvSpPr/>
          <p:nvPr/>
        </p:nvSpPr>
        <p:spPr>
          <a:xfrm>
            <a:off x="365760" y="2240280"/>
            <a:ext cx="4023360" cy="1005840"/>
          </a:xfrm>
          <a:prstGeom prst="rect">
            <a:avLst/>
          </a:prstGeom>
          <a:solidFill>
            <a:srgbClr val="D6E4F0"/>
          </a:solidFill>
          <a:ln w="12700">
            <a:solidFill>
              <a:srgbClr val="2E75B6"/>
            </a:solidFill>
            <a:prstDash val="solid"/>
          </a:ln>
          <a:effectLst>
            <a:outerShdw blurRad="101600" dist="25400" dir="8100000" algn="bl" rotWithShape="0">
              <a:srgbClr val="000000">
                <a:alpha val="12000"/>
              </a:srgbClr>
            </a:outerShdw>
          </a:effectLst>
        </p:spPr>
        <p:txBody>
          <a:bodyPr/>
          <a:lstStyle/>
          <a:p>
            <a:endParaRPr lang="fr-FR"/>
          </a:p>
        </p:txBody>
      </p:sp>
      <p:sp>
        <p:nvSpPr>
          <p:cNvPr id="23" name="Shape 21"/>
          <p:cNvSpPr/>
          <p:nvPr/>
        </p:nvSpPr>
        <p:spPr>
          <a:xfrm>
            <a:off x="365760" y="2240280"/>
            <a:ext cx="54864" cy="1005840"/>
          </a:xfrm>
          <a:prstGeom prst="rect">
            <a:avLst/>
          </a:prstGeom>
          <a:solidFill>
            <a:srgbClr val="2E75B6"/>
          </a:solidFill>
          <a:ln w="12700">
            <a:solidFill>
              <a:srgbClr val="2E75B6"/>
            </a:solidFill>
            <a:prstDash val="solid"/>
          </a:ln>
        </p:spPr>
        <p:txBody>
          <a:bodyPr/>
          <a:lstStyle/>
          <a:p>
            <a:endParaRPr lang="fr-FR"/>
          </a:p>
        </p:txBody>
      </p:sp>
      <p:sp>
        <p:nvSpPr>
          <p:cNvPr id="24" name="Text 22"/>
          <p:cNvSpPr/>
          <p:nvPr/>
        </p:nvSpPr>
        <p:spPr>
          <a:xfrm>
            <a:off x="530352" y="2313432"/>
            <a:ext cx="3657600" cy="274320"/>
          </a:xfrm>
          <a:prstGeom prst="rect">
            <a:avLst/>
          </a:prstGeom>
          <a:noFill/>
          <a:ln/>
        </p:spPr>
        <p:txBody>
          <a:bodyPr wrap="square" lIns="0" tIns="0" rIns="0" bIns="0" rtlCol="0" anchor="ctr"/>
          <a:lstStyle/>
          <a:p>
            <a:pPr marL="0" indent="0">
              <a:buNone/>
            </a:pPr>
            <a:r>
              <a:rPr lang="en-US" sz="1200" b="1" dirty="0">
                <a:solidFill>
                  <a:srgbClr val="1F4E79"/>
                </a:solidFill>
                <a:latin typeface="Arial" pitchFamily="34" charset="0"/>
                <a:ea typeface="Arial" pitchFamily="34" charset="-122"/>
                <a:cs typeface="Arial" pitchFamily="34" charset="-120"/>
              </a:rPr>
              <a:t>Sans Kafka</a:t>
            </a:r>
            <a:endParaRPr lang="en-US" sz="1200" dirty="0"/>
          </a:p>
        </p:txBody>
      </p:sp>
      <p:sp>
        <p:nvSpPr>
          <p:cNvPr id="25" name="Text 23"/>
          <p:cNvSpPr/>
          <p:nvPr/>
        </p:nvSpPr>
        <p:spPr>
          <a:xfrm>
            <a:off x="530352" y="2624328"/>
            <a:ext cx="3657600" cy="530352"/>
          </a:xfrm>
          <a:prstGeom prst="rect">
            <a:avLst/>
          </a:prstGeom>
          <a:noFill/>
          <a:ln/>
        </p:spPr>
        <p:txBody>
          <a:bodyPr wrap="square" lIns="0" tIns="0" rIns="0" bIns="0" rtlCol="0" anchor="ctr"/>
          <a:lstStyle/>
          <a:p>
            <a:pPr marL="0" indent="0">
              <a:buNone/>
            </a:pPr>
            <a:r>
              <a:rPr lang="en-US" sz="1000" dirty="0">
                <a:solidFill>
                  <a:srgbClr val="64748B"/>
                </a:solidFill>
                <a:latin typeface="Arial" pitchFamily="34" charset="0"/>
                <a:ea typeface="Arial" pitchFamily="34" charset="-122"/>
                <a:cs typeface="Arial" pitchFamily="34" charset="-120"/>
              </a:rPr>
              <a:t>Stockage des offsets en fichier local — pas de broker necessaire</a:t>
            </a:r>
            <a:endParaRPr lang="en-US" sz="1000" dirty="0"/>
          </a:p>
        </p:txBody>
      </p:sp>
      <p:sp>
        <p:nvSpPr>
          <p:cNvPr id="26" name="Shape 24"/>
          <p:cNvSpPr/>
          <p:nvPr/>
        </p:nvSpPr>
        <p:spPr>
          <a:xfrm>
            <a:off x="4754880" y="2240280"/>
            <a:ext cx="4023360" cy="1005840"/>
          </a:xfrm>
          <a:prstGeom prst="rect">
            <a:avLst/>
          </a:prstGeom>
          <a:solidFill>
            <a:srgbClr val="D6E4F0"/>
          </a:solidFill>
          <a:ln w="12700">
            <a:solidFill>
              <a:srgbClr val="2E75B6"/>
            </a:solidFill>
            <a:prstDash val="solid"/>
          </a:ln>
          <a:effectLst>
            <a:outerShdw blurRad="101600" dist="25400" dir="8100000" algn="bl" rotWithShape="0">
              <a:srgbClr val="000000">
                <a:alpha val="12000"/>
              </a:srgbClr>
            </a:outerShdw>
          </a:effectLst>
        </p:spPr>
        <p:txBody>
          <a:bodyPr/>
          <a:lstStyle/>
          <a:p>
            <a:endParaRPr lang="fr-FR"/>
          </a:p>
        </p:txBody>
      </p:sp>
      <p:sp>
        <p:nvSpPr>
          <p:cNvPr id="27" name="Shape 25"/>
          <p:cNvSpPr/>
          <p:nvPr/>
        </p:nvSpPr>
        <p:spPr>
          <a:xfrm>
            <a:off x="4754880" y="2240280"/>
            <a:ext cx="54864" cy="1005840"/>
          </a:xfrm>
          <a:prstGeom prst="rect">
            <a:avLst/>
          </a:prstGeom>
          <a:solidFill>
            <a:srgbClr val="2E75B6"/>
          </a:solidFill>
          <a:ln w="12700">
            <a:solidFill>
              <a:srgbClr val="2E75B6"/>
            </a:solidFill>
            <a:prstDash val="solid"/>
          </a:ln>
        </p:spPr>
        <p:txBody>
          <a:bodyPr/>
          <a:lstStyle/>
          <a:p>
            <a:endParaRPr lang="fr-FR"/>
          </a:p>
        </p:txBody>
      </p:sp>
      <p:sp>
        <p:nvSpPr>
          <p:cNvPr id="28" name="Text 26"/>
          <p:cNvSpPr/>
          <p:nvPr/>
        </p:nvSpPr>
        <p:spPr>
          <a:xfrm>
            <a:off x="4919472" y="2313432"/>
            <a:ext cx="3657600" cy="274320"/>
          </a:xfrm>
          <a:prstGeom prst="rect">
            <a:avLst/>
          </a:prstGeom>
          <a:noFill/>
          <a:ln/>
        </p:spPr>
        <p:txBody>
          <a:bodyPr wrap="square" lIns="0" tIns="0" rIns="0" bIns="0" rtlCol="0" anchor="ctr"/>
          <a:lstStyle/>
          <a:p>
            <a:pPr marL="0" indent="0">
              <a:buNone/>
            </a:pPr>
            <a:r>
              <a:rPr lang="en-US" sz="1200" b="1" dirty="0">
                <a:solidFill>
                  <a:srgbClr val="1F4E79"/>
                </a:solidFill>
                <a:latin typeface="Arial" pitchFamily="34" charset="0"/>
                <a:ea typeface="Arial" pitchFamily="34" charset="-122"/>
                <a:cs typeface="Arial" pitchFamily="34" charset="-120"/>
              </a:rPr>
              <a:t>Anti-doublons</a:t>
            </a:r>
            <a:endParaRPr lang="en-US" sz="1200" dirty="0"/>
          </a:p>
        </p:txBody>
      </p:sp>
      <p:sp>
        <p:nvSpPr>
          <p:cNvPr id="29" name="Text 27"/>
          <p:cNvSpPr/>
          <p:nvPr/>
        </p:nvSpPr>
        <p:spPr>
          <a:xfrm>
            <a:off x="4919472" y="2624328"/>
            <a:ext cx="3657600" cy="530352"/>
          </a:xfrm>
          <a:prstGeom prst="rect">
            <a:avLst/>
          </a:prstGeom>
          <a:noFill/>
          <a:ln/>
        </p:spPr>
        <p:txBody>
          <a:bodyPr wrap="square" lIns="0" tIns="0" rIns="0" bIns="0" rtlCol="0" anchor="ctr"/>
          <a:lstStyle/>
          <a:p>
            <a:pPr marL="0" indent="0">
              <a:buNone/>
            </a:pPr>
            <a:r>
              <a:rPr lang="en-US" sz="1000" dirty="0">
                <a:solidFill>
                  <a:srgbClr val="64748B"/>
                </a:solidFill>
                <a:latin typeface="Arial" pitchFamily="34" charset="0"/>
                <a:ea typeface="Arial" pitchFamily="34" charset="-122"/>
                <a:cs typeface="Arial" pitchFamily="34" charset="-120"/>
              </a:rPr>
              <a:t>Mise a jour SlackMessage=1 apres chaque envoi Slack</a:t>
            </a:r>
            <a:endParaRPr lang="en-US" sz="1000" dirty="0"/>
          </a:p>
        </p:txBody>
      </p:sp>
      <p:sp>
        <p:nvSpPr>
          <p:cNvPr id="30" name="Shape 28"/>
          <p:cNvSpPr/>
          <p:nvPr/>
        </p:nvSpPr>
        <p:spPr>
          <a:xfrm>
            <a:off x="365760" y="3383280"/>
            <a:ext cx="4023360" cy="1005840"/>
          </a:xfrm>
          <a:prstGeom prst="rect">
            <a:avLst/>
          </a:prstGeom>
          <a:solidFill>
            <a:srgbClr val="D6E4F0"/>
          </a:solidFill>
          <a:ln w="12700">
            <a:solidFill>
              <a:srgbClr val="2E75B6"/>
            </a:solidFill>
            <a:prstDash val="solid"/>
          </a:ln>
          <a:effectLst>
            <a:outerShdw blurRad="101600" dist="25400" dir="8100000" algn="bl" rotWithShape="0">
              <a:srgbClr val="000000">
                <a:alpha val="12000"/>
              </a:srgbClr>
            </a:outerShdw>
          </a:effectLst>
        </p:spPr>
        <p:txBody>
          <a:bodyPr/>
          <a:lstStyle/>
          <a:p>
            <a:endParaRPr lang="fr-FR"/>
          </a:p>
        </p:txBody>
      </p:sp>
      <p:sp>
        <p:nvSpPr>
          <p:cNvPr id="31" name="Shape 29"/>
          <p:cNvSpPr/>
          <p:nvPr/>
        </p:nvSpPr>
        <p:spPr>
          <a:xfrm>
            <a:off x="365760" y="3383280"/>
            <a:ext cx="54864" cy="1005840"/>
          </a:xfrm>
          <a:prstGeom prst="rect">
            <a:avLst/>
          </a:prstGeom>
          <a:solidFill>
            <a:srgbClr val="2E75B6"/>
          </a:solidFill>
          <a:ln w="12700">
            <a:solidFill>
              <a:srgbClr val="2E75B6"/>
            </a:solidFill>
            <a:prstDash val="solid"/>
          </a:ln>
        </p:spPr>
        <p:txBody>
          <a:bodyPr/>
          <a:lstStyle/>
          <a:p>
            <a:endParaRPr lang="fr-FR"/>
          </a:p>
        </p:txBody>
      </p:sp>
      <p:sp>
        <p:nvSpPr>
          <p:cNvPr id="32" name="Text 30"/>
          <p:cNvSpPr/>
          <p:nvPr/>
        </p:nvSpPr>
        <p:spPr>
          <a:xfrm>
            <a:off x="530352" y="3456432"/>
            <a:ext cx="3657600" cy="274320"/>
          </a:xfrm>
          <a:prstGeom prst="rect">
            <a:avLst/>
          </a:prstGeom>
          <a:noFill/>
          <a:ln/>
        </p:spPr>
        <p:txBody>
          <a:bodyPr wrap="square" lIns="0" tIns="0" rIns="0" bIns="0" rtlCol="0" anchor="ctr"/>
          <a:lstStyle/>
          <a:p>
            <a:pPr marL="0" indent="0">
              <a:buNone/>
            </a:pPr>
            <a:r>
              <a:rPr lang="en-US" sz="1200" b="1" dirty="0">
                <a:solidFill>
                  <a:srgbClr val="1F4E79"/>
                </a:solidFill>
                <a:latin typeface="Arial" pitchFamily="34" charset="0"/>
                <a:ea typeface="Arial" pitchFamily="34" charset="-122"/>
                <a:cs typeface="Arial" pitchFamily="34" charset="-120"/>
              </a:rPr>
              <a:t>Filtre INSERT</a:t>
            </a:r>
            <a:endParaRPr lang="en-US" sz="1200" dirty="0"/>
          </a:p>
        </p:txBody>
      </p:sp>
      <p:sp>
        <p:nvSpPr>
          <p:cNvPr id="33" name="Text 31"/>
          <p:cNvSpPr/>
          <p:nvPr/>
        </p:nvSpPr>
        <p:spPr>
          <a:xfrm>
            <a:off x="530352" y="3767328"/>
            <a:ext cx="3657600" cy="530352"/>
          </a:xfrm>
          <a:prstGeom prst="rect">
            <a:avLst/>
          </a:prstGeom>
          <a:noFill/>
          <a:ln/>
        </p:spPr>
        <p:txBody>
          <a:bodyPr wrap="square" lIns="0" tIns="0" rIns="0" bIns="0" rtlCol="0" anchor="ctr"/>
          <a:lstStyle/>
          <a:p>
            <a:pPr marL="0" indent="0">
              <a:buNone/>
            </a:pPr>
            <a:r>
              <a:rPr lang="en-US" sz="1000" dirty="0">
                <a:solidFill>
                  <a:srgbClr val="64748B"/>
                </a:solidFill>
                <a:latin typeface="Arial" pitchFamily="34" charset="0"/>
                <a:ea typeface="Arial" pitchFamily="34" charset="-122"/>
                <a:cs typeface="Arial" pitchFamily="34" charset="-120"/>
              </a:rPr>
              <a:t>Filtre uniquement op="c" (INSERT) — ignore les mises a jour</a:t>
            </a:r>
            <a:endParaRPr lang="en-US" sz="1000" dirty="0"/>
          </a:p>
        </p:txBody>
      </p:sp>
      <p:sp>
        <p:nvSpPr>
          <p:cNvPr id="34" name="Shape 32"/>
          <p:cNvSpPr/>
          <p:nvPr/>
        </p:nvSpPr>
        <p:spPr>
          <a:xfrm>
            <a:off x="4754880" y="3383280"/>
            <a:ext cx="4023360" cy="1005840"/>
          </a:xfrm>
          <a:prstGeom prst="rect">
            <a:avLst/>
          </a:prstGeom>
          <a:solidFill>
            <a:srgbClr val="D6E4F0"/>
          </a:solidFill>
          <a:ln w="12700">
            <a:solidFill>
              <a:srgbClr val="2E75B6"/>
            </a:solidFill>
            <a:prstDash val="solid"/>
          </a:ln>
          <a:effectLst>
            <a:outerShdw blurRad="101600" dist="25400" dir="8100000" algn="bl" rotWithShape="0">
              <a:srgbClr val="000000">
                <a:alpha val="12000"/>
              </a:srgbClr>
            </a:outerShdw>
          </a:effectLst>
        </p:spPr>
        <p:txBody>
          <a:bodyPr/>
          <a:lstStyle/>
          <a:p>
            <a:endParaRPr lang="fr-FR"/>
          </a:p>
        </p:txBody>
      </p:sp>
      <p:sp>
        <p:nvSpPr>
          <p:cNvPr id="35" name="Shape 33"/>
          <p:cNvSpPr/>
          <p:nvPr/>
        </p:nvSpPr>
        <p:spPr>
          <a:xfrm>
            <a:off x="4754880" y="3383280"/>
            <a:ext cx="54864" cy="1005840"/>
          </a:xfrm>
          <a:prstGeom prst="rect">
            <a:avLst/>
          </a:prstGeom>
          <a:solidFill>
            <a:srgbClr val="2E75B6"/>
          </a:solidFill>
          <a:ln w="12700">
            <a:solidFill>
              <a:srgbClr val="2E75B6"/>
            </a:solidFill>
            <a:prstDash val="solid"/>
          </a:ln>
        </p:spPr>
        <p:txBody>
          <a:bodyPr/>
          <a:lstStyle/>
          <a:p>
            <a:endParaRPr lang="fr-FR"/>
          </a:p>
        </p:txBody>
      </p:sp>
      <p:sp>
        <p:nvSpPr>
          <p:cNvPr id="36" name="Text 34"/>
          <p:cNvSpPr/>
          <p:nvPr/>
        </p:nvSpPr>
        <p:spPr>
          <a:xfrm>
            <a:off x="4919472" y="3456432"/>
            <a:ext cx="3657600" cy="274320"/>
          </a:xfrm>
          <a:prstGeom prst="rect">
            <a:avLst/>
          </a:prstGeom>
          <a:noFill/>
          <a:ln/>
        </p:spPr>
        <p:txBody>
          <a:bodyPr wrap="square" lIns="0" tIns="0" rIns="0" bIns="0" rtlCol="0" anchor="ctr"/>
          <a:lstStyle/>
          <a:p>
            <a:pPr marL="0" indent="0">
              <a:buNone/>
            </a:pPr>
            <a:r>
              <a:rPr lang="en-US" sz="1200" b="1" dirty="0">
                <a:solidFill>
                  <a:srgbClr val="1F4E79"/>
                </a:solidFill>
                <a:latin typeface="Arial" pitchFamily="34" charset="0"/>
                <a:ea typeface="Arial" pitchFamily="34" charset="-122"/>
                <a:cs typeface="Arial" pitchFamily="34" charset="-120"/>
              </a:rPr>
              <a:t>Temps reel</a:t>
            </a:r>
            <a:endParaRPr lang="en-US" sz="1200" dirty="0"/>
          </a:p>
        </p:txBody>
      </p:sp>
      <p:sp>
        <p:nvSpPr>
          <p:cNvPr id="37" name="Text 35"/>
          <p:cNvSpPr/>
          <p:nvPr/>
        </p:nvSpPr>
        <p:spPr>
          <a:xfrm>
            <a:off x="4919472" y="3767328"/>
            <a:ext cx="3657600" cy="530352"/>
          </a:xfrm>
          <a:prstGeom prst="rect">
            <a:avLst/>
          </a:prstGeom>
          <a:noFill/>
          <a:ln/>
        </p:spPr>
        <p:txBody>
          <a:bodyPr wrap="square" lIns="0" tIns="0" rIns="0" bIns="0" rtlCol="0" anchor="ctr"/>
          <a:lstStyle/>
          <a:p>
            <a:pPr marL="0" indent="0">
              <a:buNone/>
            </a:pPr>
            <a:r>
              <a:rPr lang="en-US" sz="1000" dirty="0">
                <a:solidFill>
                  <a:srgbClr val="64748B"/>
                </a:solidFill>
                <a:latin typeface="Arial" pitchFamily="34" charset="0"/>
                <a:ea typeface="Arial" pitchFamily="34" charset="-122"/>
                <a:cs typeface="Arial" pitchFamily="34" charset="-120"/>
              </a:rPr>
              <a:t>Notification en moins de 10 minutes apres l'activite Strava</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marL="0" indent="0">
              <a:buNone/>
            </a:pPr>
            <a:r>
              <a:rPr lang="en-US" sz="2600" b="1" dirty="0">
                <a:solidFill>
                  <a:srgbClr val="1F4E79"/>
                </a:solidFill>
                <a:latin typeface="Arial" pitchFamily="34" charset="0"/>
                <a:ea typeface="Arial" pitchFamily="34" charset="-122"/>
                <a:cs typeface="Arial" pitchFamily="34" charset="-120"/>
              </a:rPr>
              <a:t>Flow 03 PowerBI — Pipeline ETL</a:t>
            </a:r>
            <a:endParaRPr lang="en-US" sz="2600" dirty="0"/>
          </a:p>
        </p:txBody>
      </p:sp>
      <p:sp>
        <p:nvSpPr>
          <p:cNvPr id="3" name="Shape 1"/>
          <p:cNvSpPr/>
          <p:nvPr/>
        </p:nvSpPr>
        <p:spPr>
          <a:xfrm>
            <a:off x="457200" y="896112"/>
            <a:ext cx="1097280" cy="54864"/>
          </a:xfrm>
          <a:prstGeom prst="rect">
            <a:avLst/>
          </a:prstGeom>
          <a:solidFill>
            <a:srgbClr val="2E75B6"/>
          </a:solidFill>
          <a:ln w="12700">
            <a:solidFill>
              <a:srgbClr val="2E75B6"/>
            </a:solidFill>
            <a:prstDash val="solid"/>
          </a:ln>
        </p:spPr>
        <p:txBody>
          <a:bodyPr/>
          <a:lstStyle/>
          <a:p>
            <a:endParaRPr lang="fr-FR"/>
          </a:p>
        </p:txBody>
      </p:sp>
      <p:sp>
        <p:nvSpPr>
          <p:cNvPr id="4" name="Shape 2"/>
          <p:cNvSpPr/>
          <p:nvPr/>
        </p:nvSpPr>
        <p:spPr>
          <a:xfrm>
            <a:off x="365760" y="1051560"/>
            <a:ext cx="5029200" cy="1005840"/>
          </a:xfrm>
          <a:prstGeom prst="rect">
            <a:avLst/>
          </a:prstGeom>
          <a:solidFill>
            <a:srgbClr val="1F4E79"/>
          </a:solidFill>
          <a:ln w="12700">
            <a:solidFill>
              <a:srgbClr val="1F4E79"/>
            </a:solidFill>
            <a:prstDash val="solid"/>
          </a:ln>
          <a:effectLst>
            <a:outerShdw blurRad="101600" dist="25400" dir="8100000" algn="bl" rotWithShape="0">
              <a:srgbClr val="000000">
                <a:alpha val="12000"/>
              </a:srgbClr>
            </a:outerShdw>
          </a:effectLst>
        </p:spPr>
        <p:txBody>
          <a:bodyPr/>
          <a:lstStyle/>
          <a:p>
            <a:endParaRPr lang="fr-FR"/>
          </a:p>
        </p:txBody>
      </p:sp>
      <p:sp>
        <p:nvSpPr>
          <p:cNvPr id="5" name="Text 3"/>
          <p:cNvSpPr/>
          <p:nvPr/>
        </p:nvSpPr>
        <p:spPr>
          <a:xfrm>
            <a:off x="502920" y="1115568"/>
            <a:ext cx="4754880" cy="32004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strava_export</a:t>
            </a:r>
            <a:endParaRPr lang="en-US" sz="1300" dirty="0"/>
          </a:p>
        </p:txBody>
      </p:sp>
      <p:sp>
        <p:nvSpPr>
          <p:cNvPr id="6" name="Text 4"/>
          <p:cNvSpPr/>
          <p:nvPr/>
        </p:nvSpPr>
        <p:spPr>
          <a:xfrm>
            <a:off x="502920" y="1444752"/>
            <a:ext cx="4754880" cy="502920"/>
          </a:xfrm>
          <a:prstGeom prst="rect">
            <a:avLst/>
          </a:prstGeom>
          <a:noFill/>
          <a:ln/>
        </p:spPr>
        <p:txBody>
          <a:bodyPr wrap="square" lIns="0" tIns="0" rIns="0" bIns="0" rtlCol="0" anchor="ctr"/>
          <a:lstStyle/>
          <a:p>
            <a:pPr marL="0" indent="0">
              <a:buNone/>
            </a:pPr>
            <a:r>
              <a:rPr lang="en-US" sz="1100" dirty="0">
                <a:solidFill>
                  <a:srgbClr val="BDD7EE"/>
                </a:solidFill>
                <a:latin typeface="Arial" pitchFamily="34" charset="0"/>
                <a:ea typeface="Arial" pitchFamily="34" charset="-122"/>
                <a:cs typeface="Arial" pitchFamily="34" charset="-120"/>
              </a:rPr>
              <a:t>Export DuckDB + Nettoyage des donnees</a:t>
            </a:r>
            <a:endParaRPr lang="en-US" sz="1100" dirty="0"/>
          </a:p>
        </p:txBody>
      </p:sp>
      <p:sp>
        <p:nvSpPr>
          <p:cNvPr id="7" name="Text 5"/>
          <p:cNvSpPr/>
          <p:nvPr/>
        </p:nvSpPr>
        <p:spPr>
          <a:xfrm>
            <a:off x="2286000" y="2057400"/>
            <a:ext cx="1371600" cy="320040"/>
          </a:xfrm>
          <a:prstGeom prst="rect">
            <a:avLst/>
          </a:prstGeom>
          <a:noFill/>
          <a:ln/>
        </p:spPr>
        <p:txBody>
          <a:bodyPr wrap="square" lIns="0" tIns="0" rIns="0" bIns="0" rtlCol="0" anchor="ctr"/>
          <a:lstStyle/>
          <a:p>
            <a:pPr marL="0" indent="0" algn="ctr">
              <a:buNone/>
            </a:pPr>
            <a:r>
              <a:rPr lang="en-US" sz="1800" dirty="0">
                <a:solidFill>
                  <a:srgbClr val="2E75B6"/>
                </a:solidFill>
              </a:rPr>
              <a:t>↓</a:t>
            </a:r>
            <a:endParaRPr lang="en-US" sz="1800" dirty="0"/>
          </a:p>
        </p:txBody>
      </p:sp>
      <p:sp>
        <p:nvSpPr>
          <p:cNvPr id="8" name="Shape 6"/>
          <p:cNvSpPr/>
          <p:nvPr/>
        </p:nvSpPr>
        <p:spPr>
          <a:xfrm>
            <a:off x="365760" y="2240280"/>
            <a:ext cx="5029200" cy="1005840"/>
          </a:xfrm>
          <a:prstGeom prst="rect">
            <a:avLst/>
          </a:prstGeom>
          <a:solidFill>
            <a:srgbClr val="1D6FA4"/>
          </a:solidFill>
          <a:ln w="12700">
            <a:solidFill>
              <a:srgbClr val="1D6FA4"/>
            </a:solidFill>
            <a:prstDash val="solid"/>
          </a:ln>
          <a:effectLst>
            <a:outerShdw blurRad="101600" dist="25400" dir="8100000" algn="bl" rotWithShape="0">
              <a:srgbClr val="000000">
                <a:alpha val="12000"/>
              </a:srgbClr>
            </a:outerShdw>
          </a:effectLst>
        </p:spPr>
        <p:txBody>
          <a:bodyPr/>
          <a:lstStyle/>
          <a:p>
            <a:endParaRPr lang="fr-FR"/>
          </a:p>
        </p:txBody>
      </p:sp>
      <p:sp>
        <p:nvSpPr>
          <p:cNvPr id="9" name="Text 7"/>
          <p:cNvSpPr/>
          <p:nvPr/>
        </p:nvSpPr>
        <p:spPr>
          <a:xfrm>
            <a:off x="502920" y="2304288"/>
            <a:ext cx="4754880" cy="32004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strava_testexport</a:t>
            </a:r>
            <a:endParaRPr lang="en-US" sz="1300" dirty="0"/>
          </a:p>
        </p:txBody>
      </p:sp>
      <p:sp>
        <p:nvSpPr>
          <p:cNvPr id="10" name="Text 8"/>
          <p:cNvSpPr/>
          <p:nvPr/>
        </p:nvSpPr>
        <p:spPr>
          <a:xfrm>
            <a:off x="502920" y="2633472"/>
            <a:ext cx="4754880" cy="502920"/>
          </a:xfrm>
          <a:prstGeom prst="rect">
            <a:avLst/>
          </a:prstGeom>
          <a:noFill/>
          <a:ln/>
        </p:spPr>
        <p:txBody>
          <a:bodyPr wrap="square" lIns="0" tIns="0" rIns="0" bIns="0" rtlCol="0" anchor="ctr"/>
          <a:lstStyle/>
          <a:p>
            <a:pPr marL="0" indent="0">
              <a:buNone/>
            </a:pPr>
            <a:r>
              <a:rPr lang="en-US" sz="1100" dirty="0">
                <a:solidFill>
                  <a:srgbClr val="BDD7EE"/>
                </a:solidFill>
                <a:latin typeface="Arial" pitchFamily="34" charset="0"/>
                <a:ea typeface="Arial" pitchFamily="34" charset="-122"/>
                <a:cs typeface="Arial" pitchFamily="34" charset="-120"/>
              </a:rPr>
              <a:t>Tests qualite + Rapport email</a:t>
            </a:r>
            <a:endParaRPr lang="en-US" sz="1100" dirty="0"/>
          </a:p>
        </p:txBody>
      </p:sp>
      <p:sp>
        <p:nvSpPr>
          <p:cNvPr id="11" name="Text 9"/>
          <p:cNvSpPr/>
          <p:nvPr/>
        </p:nvSpPr>
        <p:spPr>
          <a:xfrm>
            <a:off x="2286000" y="3246120"/>
            <a:ext cx="1371600" cy="320040"/>
          </a:xfrm>
          <a:prstGeom prst="rect">
            <a:avLst/>
          </a:prstGeom>
          <a:noFill/>
          <a:ln/>
        </p:spPr>
        <p:txBody>
          <a:bodyPr wrap="square" lIns="0" tIns="0" rIns="0" bIns="0" rtlCol="0" anchor="ctr"/>
          <a:lstStyle/>
          <a:p>
            <a:pPr marL="0" indent="0" algn="ctr">
              <a:buNone/>
            </a:pPr>
            <a:r>
              <a:rPr lang="en-US" sz="1800" dirty="0">
                <a:solidFill>
                  <a:srgbClr val="2E75B6"/>
                </a:solidFill>
              </a:rPr>
              <a:t>↓</a:t>
            </a:r>
            <a:endParaRPr lang="en-US" sz="1800" dirty="0"/>
          </a:p>
        </p:txBody>
      </p:sp>
      <p:sp>
        <p:nvSpPr>
          <p:cNvPr id="12" name="Shape 10"/>
          <p:cNvSpPr/>
          <p:nvPr/>
        </p:nvSpPr>
        <p:spPr>
          <a:xfrm>
            <a:off x="365760" y="3429000"/>
            <a:ext cx="5029200" cy="1005840"/>
          </a:xfrm>
          <a:prstGeom prst="rect">
            <a:avLst/>
          </a:prstGeom>
          <a:solidFill>
            <a:srgbClr val="2E75B6"/>
          </a:solidFill>
          <a:ln w="12700">
            <a:solidFill>
              <a:srgbClr val="2E75B6"/>
            </a:solidFill>
            <a:prstDash val="solid"/>
          </a:ln>
          <a:effectLst>
            <a:outerShdw blurRad="101600" dist="25400" dir="8100000" algn="bl" rotWithShape="0">
              <a:srgbClr val="000000">
                <a:alpha val="12000"/>
              </a:srgbClr>
            </a:outerShdw>
          </a:effectLst>
        </p:spPr>
        <p:txBody>
          <a:bodyPr/>
          <a:lstStyle/>
          <a:p>
            <a:endParaRPr lang="fr-FR"/>
          </a:p>
        </p:txBody>
      </p:sp>
      <p:sp>
        <p:nvSpPr>
          <p:cNvPr id="13" name="Text 11"/>
          <p:cNvSpPr/>
          <p:nvPr/>
        </p:nvSpPr>
        <p:spPr>
          <a:xfrm>
            <a:off x="502920" y="3493008"/>
            <a:ext cx="4754880" cy="32004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strava_calcul_primes</a:t>
            </a:r>
            <a:endParaRPr lang="en-US" sz="1300" dirty="0"/>
          </a:p>
        </p:txBody>
      </p:sp>
      <p:sp>
        <p:nvSpPr>
          <p:cNvPr id="14" name="Text 12"/>
          <p:cNvSpPr/>
          <p:nvPr/>
        </p:nvSpPr>
        <p:spPr>
          <a:xfrm>
            <a:off x="502920" y="3822192"/>
            <a:ext cx="4754880" cy="502920"/>
          </a:xfrm>
          <a:prstGeom prst="rect">
            <a:avLst/>
          </a:prstGeom>
          <a:noFill/>
          <a:ln/>
        </p:spPr>
        <p:txBody>
          <a:bodyPr wrap="square" lIns="0" tIns="0" rIns="0" bIns="0" rtlCol="0" anchor="ctr"/>
          <a:lstStyle/>
          <a:p>
            <a:pPr marL="0" indent="0">
              <a:buNone/>
            </a:pPr>
            <a:r>
              <a:rPr lang="en-US" sz="1100" dirty="0">
                <a:solidFill>
                  <a:srgbClr val="BDD7EE"/>
                </a:solidFill>
                <a:latin typeface="Arial" pitchFamily="34" charset="0"/>
                <a:ea typeface="Arial" pitchFamily="34" charset="-122"/>
                <a:cs typeface="Arial" pitchFamily="34" charset="-120"/>
              </a:rPr>
              <a:t>Generation test data → Validation Maps → Primes</a:t>
            </a:r>
            <a:endParaRPr lang="en-US" sz="1100" dirty="0"/>
          </a:p>
        </p:txBody>
      </p:sp>
      <p:sp>
        <p:nvSpPr>
          <p:cNvPr id="15" name="Shape 13"/>
          <p:cNvSpPr/>
          <p:nvPr/>
        </p:nvSpPr>
        <p:spPr>
          <a:xfrm>
            <a:off x="5669280" y="1051560"/>
            <a:ext cx="3108960" cy="3383280"/>
          </a:xfrm>
          <a:prstGeom prst="rect">
            <a:avLst/>
          </a:prstGeom>
          <a:solidFill>
            <a:srgbClr val="EBF5FB"/>
          </a:solidFill>
          <a:ln w="12700">
            <a:solidFill>
              <a:srgbClr val="2E75B6"/>
            </a:solidFill>
            <a:prstDash val="solid"/>
          </a:ln>
          <a:effectLst>
            <a:outerShdw blurRad="101600" dist="25400" dir="8100000" algn="bl" rotWithShape="0">
              <a:srgbClr val="000000">
                <a:alpha val="12000"/>
              </a:srgbClr>
            </a:outerShdw>
          </a:effectLst>
        </p:spPr>
        <p:txBody>
          <a:bodyPr/>
          <a:lstStyle/>
          <a:p>
            <a:endParaRPr lang="fr-FR"/>
          </a:p>
        </p:txBody>
      </p:sp>
      <p:sp>
        <p:nvSpPr>
          <p:cNvPr id="16" name="Text 14"/>
          <p:cNvSpPr/>
          <p:nvPr/>
        </p:nvSpPr>
        <p:spPr>
          <a:xfrm>
            <a:off x="5806440" y="1143000"/>
            <a:ext cx="2834640" cy="320040"/>
          </a:xfrm>
          <a:prstGeom prst="rect">
            <a:avLst/>
          </a:prstGeom>
          <a:noFill/>
          <a:ln/>
        </p:spPr>
        <p:txBody>
          <a:bodyPr wrap="square" lIns="0" tIns="0" rIns="0" bIns="0" rtlCol="0" anchor="ctr"/>
          <a:lstStyle/>
          <a:p>
            <a:pPr marL="0" indent="0">
              <a:buNone/>
            </a:pPr>
            <a:r>
              <a:rPr lang="en-US" sz="1300" b="1" dirty="0">
                <a:solidFill>
                  <a:srgbClr val="1F4E79"/>
                </a:solidFill>
                <a:latin typeface="Arial" pitchFamily="34" charset="0"/>
                <a:ea typeface="Arial" pitchFamily="34" charset="-122"/>
                <a:cs typeface="Arial" pitchFamily="34" charset="-120"/>
              </a:rPr>
              <a:t>Technologies</a:t>
            </a:r>
            <a:endParaRPr lang="en-US" sz="1300" dirty="0"/>
          </a:p>
        </p:txBody>
      </p:sp>
      <p:sp>
        <p:nvSpPr>
          <p:cNvPr id="17" name="Text 15"/>
          <p:cNvSpPr/>
          <p:nvPr/>
        </p:nvSpPr>
        <p:spPr>
          <a:xfrm>
            <a:off x="5806440" y="1508760"/>
            <a:ext cx="2834640" cy="2743200"/>
          </a:xfrm>
          <a:prstGeom prst="rect">
            <a:avLst/>
          </a:prstGeom>
          <a:noFill/>
          <a:ln/>
        </p:spPr>
        <p:txBody>
          <a:bodyPr wrap="square" lIns="0" tIns="0" rIns="0" bIns="0" rtlCol="0" anchor="ctr"/>
          <a:lstStyle/>
          <a:p>
            <a:pPr marL="342900" indent="-342900">
              <a:buSzPct val="100000"/>
              <a:buChar char="•"/>
            </a:pPr>
            <a:r>
              <a:rPr lang="en-US" sz="1100" dirty="0">
                <a:solidFill>
                  <a:srgbClr val="1A1A2E"/>
                </a:solidFill>
              </a:rPr>
              <a:t>DuckDB (analytique in-process)</a:t>
            </a:r>
            <a:endParaRPr lang="en-US" sz="1100" dirty="0"/>
          </a:p>
          <a:p>
            <a:pPr marL="342900" indent="-342900">
              <a:buSzPct val="100000"/>
              <a:buChar char="•"/>
            </a:pPr>
            <a:r>
              <a:rPr lang="en-US" sz="1100" dirty="0">
                <a:solidFill>
                  <a:srgbClr val="1A1A2E"/>
                </a:solidFill>
              </a:rPr>
              <a:t>pandas + SQLAlchemy</a:t>
            </a:r>
            <a:endParaRPr lang="en-US" sz="1100" dirty="0"/>
          </a:p>
          <a:p>
            <a:pPr marL="342900" indent="-342900">
              <a:buSzPct val="100000"/>
              <a:buChar char="•"/>
            </a:pPr>
            <a:r>
              <a:rPr lang="en-US" sz="1100" dirty="0">
                <a:solidFill>
                  <a:srgbClr val="1A1A2E"/>
                </a:solidFill>
              </a:rPr>
              <a:t>Google Maps Distance Matrix API</a:t>
            </a:r>
            <a:endParaRPr lang="en-US" sz="1100" dirty="0"/>
          </a:p>
          <a:p>
            <a:pPr marL="342900" indent="-342900">
              <a:buSzPct val="100000"/>
              <a:buChar char="•"/>
            </a:pPr>
            <a:r>
              <a:rPr lang="en-US" sz="1100" dirty="0">
                <a:solidFill>
                  <a:srgbClr val="1A1A2E"/>
                </a:solidFill>
              </a:rPr>
              <a:t>Export Excel automatique horodate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marL="0" indent="0">
              <a:buNone/>
            </a:pPr>
            <a:r>
              <a:rPr lang="en-US" sz="2600" b="1" dirty="0">
                <a:solidFill>
                  <a:srgbClr val="1F4E79"/>
                </a:solidFill>
                <a:latin typeface="Arial" pitchFamily="34" charset="0"/>
                <a:ea typeface="Arial" pitchFamily="34" charset="-122"/>
                <a:cs typeface="Arial" pitchFamily="34" charset="-120"/>
              </a:rPr>
              <a:t>Validation des declarations — Google Maps API</a:t>
            </a:r>
            <a:endParaRPr lang="en-US" sz="2600" dirty="0"/>
          </a:p>
        </p:txBody>
      </p:sp>
      <p:sp>
        <p:nvSpPr>
          <p:cNvPr id="3" name="Shape 1"/>
          <p:cNvSpPr/>
          <p:nvPr/>
        </p:nvSpPr>
        <p:spPr>
          <a:xfrm>
            <a:off x="457200" y="896112"/>
            <a:ext cx="1097280" cy="54864"/>
          </a:xfrm>
          <a:prstGeom prst="rect">
            <a:avLst/>
          </a:prstGeom>
          <a:solidFill>
            <a:srgbClr val="2E75B6"/>
          </a:solidFill>
          <a:ln w="12700">
            <a:solidFill>
              <a:srgbClr val="2E75B6"/>
            </a:solidFill>
            <a:prstDash val="solid"/>
          </a:ln>
        </p:spPr>
        <p:txBody>
          <a:bodyPr/>
          <a:lstStyle/>
          <a:p>
            <a:endParaRPr lang="fr-FR"/>
          </a:p>
        </p:txBody>
      </p:sp>
      <p:sp>
        <p:nvSpPr>
          <p:cNvPr id="4" name="Shape 2"/>
          <p:cNvSpPr/>
          <p:nvPr/>
        </p:nvSpPr>
        <p:spPr>
          <a:xfrm>
            <a:off x="365760" y="1097280"/>
            <a:ext cx="2743200" cy="411480"/>
          </a:xfrm>
          <a:prstGeom prst="rect">
            <a:avLst/>
          </a:prstGeom>
          <a:solidFill>
            <a:srgbClr val="1F4E79"/>
          </a:solidFill>
          <a:ln w="12700">
            <a:solidFill>
              <a:srgbClr val="1F4E79"/>
            </a:solidFill>
            <a:prstDash val="solid"/>
          </a:ln>
        </p:spPr>
        <p:txBody>
          <a:bodyPr/>
          <a:lstStyle/>
          <a:p>
            <a:endParaRPr lang="fr-FR"/>
          </a:p>
        </p:txBody>
      </p:sp>
      <p:sp>
        <p:nvSpPr>
          <p:cNvPr id="5" name="Text 3"/>
          <p:cNvSpPr/>
          <p:nvPr/>
        </p:nvSpPr>
        <p:spPr>
          <a:xfrm>
            <a:off x="457200" y="1097280"/>
            <a:ext cx="2560320" cy="41148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Mode declare</a:t>
            </a:r>
            <a:endParaRPr lang="en-US" sz="1200" dirty="0"/>
          </a:p>
        </p:txBody>
      </p:sp>
      <p:sp>
        <p:nvSpPr>
          <p:cNvPr id="6" name="Shape 4"/>
          <p:cNvSpPr/>
          <p:nvPr/>
        </p:nvSpPr>
        <p:spPr>
          <a:xfrm>
            <a:off x="3108960" y="1097280"/>
            <a:ext cx="2743200" cy="411480"/>
          </a:xfrm>
          <a:prstGeom prst="rect">
            <a:avLst/>
          </a:prstGeom>
          <a:solidFill>
            <a:srgbClr val="1F4E79"/>
          </a:solidFill>
          <a:ln w="12700">
            <a:solidFill>
              <a:srgbClr val="1F4E79"/>
            </a:solidFill>
            <a:prstDash val="solid"/>
          </a:ln>
        </p:spPr>
        <p:txBody>
          <a:bodyPr/>
          <a:lstStyle/>
          <a:p>
            <a:endParaRPr lang="fr-FR"/>
          </a:p>
        </p:txBody>
      </p:sp>
      <p:sp>
        <p:nvSpPr>
          <p:cNvPr id="7" name="Text 5"/>
          <p:cNvSpPr/>
          <p:nvPr/>
        </p:nvSpPr>
        <p:spPr>
          <a:xfrm>
            <a:off x="3200400" y="1097280"/>
            <a:ext cx="2560320" cy="41148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Mode API Google</a:t>
            </a:r>
            <a:endParaRPr lang="en-US" sz="1200" dirty="0"/>
          </a:p>
        </p:txBody>
      </p:sp>
      <p:sp>
        <p:nvSpPr>
          <p:cNvPr id="8" name="Shape 6"/>
          <p:cNvSpPr/>
          <p:nvPr/>
        </p:nvSpPr>
        <p:spPr>
          <a:xfrm>
            <a:off x="5852160" y="1097280"/>
            <a:ext cx="2926080" cy="411480"/>
          </a:xfrm>
          <a:prstGeom prst="rect">
            <a:avLst/>
          </a:prstGeom>
          <a:solidFill>
            <a:srgbClr val="1F4E79"/>
          </a:solidFill>
          <a:ln w="12700">
            <a:solidFill>
              <a:srgbClr val="1F4E79"/>
            </a:solidFill>
            <a:prstDash val="solid"/>
          </a:ln>
        </p:spPr>
        <p:txBody>
          <a:bodyPr/>
          <a:lstStyle/>
          <a:p>
            <a:endParaRPr lang="fr-FR"/>
          </a:p>
        </p:txBody>
      </p:sp>
      <p:sp>
        <p:nvSpPr>
          <p:cNvPr id="9" name="Text 7"/>
          <p:cNvSpPr/>
          <p:nvPr/>
        </p:nvSpPr>
        <p:spPr>
          <a:xfrm>
            <a:off x="5943600" y="1097280"/>
            <a:ext cx="2743200" cy="41148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Distance max autorisee</a:t>
            </a:r>
            <a:endParaRPr lang="en-US" sz="1200" dirty="0"/>
          </a:p>
        </p:txBody>
      </p:sp>
      <p:sp>
        <p:nvSpPr>
          <p:cNvPr id="10" name="Shape 8"/>
          <p:cNvSpPr/>
          <p:nvPr/>
        </p:nvSpPr>
        <p:spPr>
          <a:xfrm>
            <a:off x="365760" y="1508760"/>
            <a:ext cx="2743200" cy="502920"/>
          </a:xfrm>
          <a:prstGeom prst="rect">
            <a:avLst/>
          </a:prstGeom>
          <a:solidFill>
            <a:srgbClr val="D6E4F0"/>
          </a:solidFill>
          <a:ln w="12700">
            <a:solidFill>
              <a:srgbClr val="CCCCCC"/>
            </a:solidFill>
            <a:prstDash val="solid"/>
          </a:ln>
        </p:spPr>
        <p:txBody>
          <a:bodyPr/>
          <a:lstStyle/>
          <a:p>
            <a:endParaRPr lang="fr-FR"/>
          </a:p>
        </p:txBody>
      </p:sp>
      <p:sp>
        <p:nvSpPr>
          <p:cNvPr id="11" name="Text 9"/>
          <p:cNvSpPr/>
          <p:nvPr/>
        </p:nvSpPr>
        <p:spPr>
          <a:xfrm>
            <a:off x="457200" y="1508760"/>
            <a:ext cx="2560320" cy="502920"/>
          </a:xfrm>
          <a:prstGeom prst="rect">
            <a:avLst/>
          </a:prstGeom>
          <a:noFill/>
          <a:ln/>
        </p:spPr>
        <p:txBody>
          <a:bodyPr wrap="square" lIns="0" tIns="0" rIns="0" bIns="0" rtlCol="0" anchor="ctr"/>
          <a:lstStyle/>
          <a:p>
            <a:pPr marL="0" indent="0">
              <a:buNone/>
            </a:pPr>
            <a:r>
              <a:rPr lang="en-US" sz="1200" dirty="0">
                <a:solidFill>
                  <a:srgbClr val="1A1A2E"/>
                </a:solidFill>
                <a:latin typeface="Arial" pitchFamily="34" charset="0"/>
                <a:ea typeface="Arial" pitchFamily="34" charset="-122"/>
                <a:cs typeface="Arial" pitchFamily="34" charset="-120"/>
              </a:rPr>
              <a:t>Marche / Running</a:t>
            </a:r>
            <a:endParaRPr lang="en-US" sz="1200" dirty="0"/>
          </a:p>
        </p:txBody>
      </p:sp>
      <p:sp>
        <p:nvSpPr>
          <p:cNvPr id="12" name="Shape 10"/>
          <p:cNvSpPr/>
          <p:nvPr/>
        </p:nvSpPr>
        <p:spPr>
          <a:xfrm>
            <a:off x="3108960" y="1508760"/>
            <a:ext cx="2743200" cy="502920"/>
          </a:xfrm>
          <a:prstGeom prst="rect">
            <a:avLst/>
          </a:prstGeom>
          <a:solidFill>
            <a:srgbClr val="D6E4F0"/>
          </a:solidFill>
          <a:ln w="12700">
            <a:solidFill>
              <a:srgbClr val="CCCCCC"/>
            </a:solidFill>
            <a:prstDash val="solid"/>
          </a:ln>
        </p:spPr>
        <p:txBody>
          <a:bodyPr/>
          <a:lstStyle/>
          <a:p>
            <a:endParaRPr lang="fr-FR"/>
          </a:p>
        </p:txBody>
      </p:sp>
      <p:sp>
        <p:nvSpPr>
          <p:cNvPr id="13" name="Text 11"/>
          <p:cNvSpPr/>
          <p:nvPr/>
        </p:nvSpPr>
        <p:spPr>
          <a:xfrm>
            <a:off x="3200400" y="1508760"/>
            <a:ext cx="2560320" cy="502920"/>
          </a:xfrm>
          <a:prstGeom prst="rect">
            <a:avLst/>
          </a:prstGeom>
          <a:noFill/>
          <a:ln/>
        </p:spPr>
        <p:txBody>
          <a:bodyPr wrap="square" lIns="0" tIns="0" rIns="0" bIns="0" rtlCol="0" anchor="ctr"/>
          <a:lstStyle/>
          <a:p>
            <a:pPr marL="0" indent="0">
              <a:buNone/>
            </a:pPr>
            <a:r>
              <a:rPr lang="en-US" sz="1200" dirty="0">
                <a:solidFill>
                  <a:srgbClr val="1A1A2E"/>
                </a:solidFill>
                <a:latin typeface="Arial" pitchFamily="34" charset="0"/>
                <a:ea typeface="Arial" pitchFamily="34" charset="-122"/>
                <a:cs typeface="Arial" pitchFamily="34" charset="-120"/>
              </a:rPr>
              <a:t>walking</a:t>
            </a:r>
            <a:endParaRPr lang="en-US" sz="1200" dirty="0"/>
          </a:p>
        </p:txBody>
      </p:sp>
      <p:sp>
        <p:nvSpPr>
          <p:cNvPr id="14" name="Shape 12"/>
          <p:cNvSpPr/>
          <p:nvPr/>
        </p:nvSpPr>
        <p:spPr>
          <a:xfrm>
            <a:off x="5852160" y="1508760"/>
            <a:ext cx="2926080" cy="502920"/>
          </a:xfrm>
          <a:prstGeom prst="rect">
            <a:avLst/>
          </a:prstGeom>
          <a:solidFill>
            <a:srgbClr val="D6E4F0"/>
          </a:solidFill>
          <a:ln w="12700">
            <a:solidFill>
              <a:srgbClr val="CCCCCC"/>
            </a:solidFill>
            <a:prstDash val="solid"/>
          </a:ln>
        </p:spPr>
        <p:txBody>
          <a:bodyPr/>
          <a:lstStyle/>
          <a:p>
            <a:endParaRPr lang="fr-FR"/>
          </a:p>
        </p:txBody>
      </p:sp>
      <p:sp>
        <p:nvSpPr>
          <p:cNvPr id="15" name="Text 13"/>
          <p:cNvSpPr/>
          <p:nvPr/>
        </p:nvSpPr>
        <p:spPr>
          <a:xfrm>
            <a:off x="5943600" y="1508760"/>
            <a:ext cx="2743200" cy="502920"/>
          </a:xfrm>
          <a:prstGeom prst="rect">
            <a:avLst/>
          </a:prstGeom>
          <a:noFill/>
          <a:ln/>
        </p:spPr>
        <p:txBody>
          <a:bodyPr wrap="square" lIns="0" tIns="0" rIns="0" bIns="0" rtlCol="0" anchor="ctr"/>
          <a:lstStyle/>
          <a:p>
            <a:pPr marL="0" indent="0">
              <a:buNone/>
            </a:pPr>
            <a:r>
              <a:rPr lang="en-US" sz="1200" b="1" dirty="0">
                <a:solidFill>
                  <a:srgbClr val="C0392B"/>
                </a:solidFill>
                <a:latin typeface="Arial" pitchFamily="34" charset="0"/>
                <a:ea typeface="Arial" pitchFamily="34" charset="-122"/>
                <a:cs typeface="Arial" pitchFamily="34" charset="-120"/>
              </a:rPr>
              <a:t>15 km</a:t>
            </a:r>
            <a:endParaRPr lang="en-US" sz="1200" dirty="0"/>
          </a:p>
        </p:txBody>
      </p:sp>
      <p:sp>
        <p:nvSpPr>
          <p:cNvPr id="16" name="Shape 14"/>
          <p:cNvSpPr/>
          <p:nvPr/>
        </p:nvSpPr>
        <p:spPr>
          <a:xfrm>
            <a:off x="365760" y="2011680"/>
            <a:ext cx="2743200" cy="502920"/>
          </a:xfrm>
          <a:prstGeom prst="rect">
            <a:avLst/>
          </a:prstGeom>
          <a:solidFill>
            <a:srgbClr val="FFFFFF"/>
          </a:solidFill>
          <a:ln w="12700">
            <a:solidFill>
              <a:srgbClr val="CCCCCC"/>
            </a:solidFill>
            <a:prstDash val="solid"/>
          </a:ln>
        </p:spPr>
        <p:txBody>
          <a:bodyPr/>
          <a:lstStyle/>
          <a:p>
            <a:endParaRPr lang="fr-FR"/>
          </a:p>
        </p:txBody>
      </p:sp>
      <p:sp>
        <p:nvSpPr>
          <p:cNvPr id="17" name="Text 15"/>
          <p:cNvSpPr/>
          <p:nvPr/>
        </p:nvSpPr>
        <p:spPr>
          <a:xfrm>
            <a:off x="457200" y="2011680"/>
            <a:ext cx="2560320" cy="502920"/>
          </a:xfrm>
          <a:prstGeom prst="rect">
            <a:avLst/>
          </a:prstGeom>
          <a:noFill/>
          <a:ln/>
        </p:spPr>
        <p:txBody>
          <a:bodyPr wrap="square" lIns="0" tIns="0" rIns="0" bIns="0" rtlCol="0" anchor="ctr"/>
          <a:lstStyle/>
          <a:p>
            <a:pPr marL="0" indent="0">
              <a:buNone/>
            </a:pPr>
            <a:r>
              <a:rPr lang="en-US" sz="1200" dirty="0">
                <a:solidFill>
                  <a:srgbClr val="1A1A2E"/>
                </a:solidFill>
                <a:latin typeface="Arial" pitchFamily="34" charset="0"/>
                <a:ea typeface="Arial" pitchFamily="34" charset="-122"/>
                <a:cs typeface="Arial" pitchFamily="34" charset="-120"/>
              </a:rPr>
              <a:t>Velo / Trottinette</a:t>
            </a:r>
            <a:endParaRPr lang="en-US" sz="1200" dirty="0"/>
          </a:p>
        </p:txBody>
      </p:sp>
      <p:sp>
        <p:nvSpPr>
          <p:cNvPr id="18" name="Shape 16"/>
          <p:cNvSpPr/>
          <p:nvPr/>
        </p:nvSpPr>
        <p:spPr>
          <a:xfrm>
            <a:off x="3108960" y="2011680"/>
            <a:ext cx="2743200" cy="502920"/>
          </a:xfrm>
          <a:prstGeom prst="rect">
            <a:avLst/>
          </a:prstGeom>
          <a:solidFill>
            <a:srgbClr val="FFFFFF"/>
          </a:solidFill>
          <a:ln w="12700">
            <a:solidFill>
              <a:srgbClr val="CCCCCC"/>
            </a:solidFill>
            <a:prstDash val="solid"/>
          </a:ln>
        </p:spPr>
        <p:txBody>
          <a:bodyPr/>
          <a:lstStyle/>
          <a:p>
            <a:endParaRPr lang="fr-FR"/>
          </a:p>
        </p:txBody>
      </p:sp>
      <p:sp>
        <p:nvSpPr>
          <p:cNvPr id="19" name="Text 17"/>
          <p:cNvSpPr/>
          <p:nvPr/>
        </p:nvSpPr>
        <p:spPr>
          <a:xfrm>
            <a:off x="3200400" y="2011680"/>
            <a:ext cx="2560320" cy="502920"/>
          </a:xfrm>
          <a:prstGeom prst="rect">
            <a:avLst/>
          </a:prstGeom>
          <a:noFill/>
          <a:ln/>
        </p:spPr>
        <p:txBody>
          <a:bodyPr wrap="square" lIns="0" tIns="0" rIns="0" bIns="0" rtlCol="0" anchor="ctr"/>
          <a:lstStyle/>
          <a:p>
            <a:pPr marL="0" indent="0">
              <a:buNone/>
            </a:pPr>
            <a:r>
              <a:rPr lang="en-US" sz="1200" dirty="0">
                <a:solidFill>
                  <a:srgbClr val="1A1A2E"/>
                </a:solidFill>
                <a:latin typeface="Arial" pitchFamily="34" charset="0"/>
                <a:ea typeface="Arial" pitchFamily="34" charset="-122"/>
                <a:cs typeface="Arial" pitchFamily="34" charset="-120"/>
              </a:rPr>
              <a:t>bicycling</a:t>
            </a:r>
            <a:endParaRPr lang="en-US" sz="1200" dirty="0"/>
          </a:p>
        </p:txBody>
      </p:sp>
      <p:sp>
        <p:nvSpPr>
          <p:cNvPr id="20" name="Shape 18"/>
          <p:cNvSpPr/>
          <p:nvPr/>
        </p:nvSpPr>
        <p:spPr>
          <a:xfrm>
            <a:off x="5852160" y="2011680"/>
            <a:ext cx="2926080" cy="502920"/>
          </a:xfrm>
          <a:prstGeom prst="rect">
            <a:avLst/>
          </a:prstGeom>
          <a:solidFill>
            <a:srgbClr val="FFFFFF"/>
          </a:solidFill>
          <a:ln w="12700">
            <a:solidFill>
              <a:srgbClr val="CCCCCC"/>
            </a:solidFill>
            <a:prstDash val="solid"/>
          </a:ln>
        </p:spPr>
        <p:txBody>
          <a:bodyPr/>
          <a:lstStyle/>
          <a:p>
            <a:endParaRPr lang="fr-FR"/>
          </a:p>
        </p:txBody>
      </p:sp>
      <p:sp>
        <p:nvSpPr>
          <p:cNvPr id="21" name="Text 19"/>
          <p:cNvSpPr/>
          <p:nvPr/>
        </p:nvSpPr>
        <p:spPr>
          <a:xfrm>
            <a:off x="5943600" y="2011680"/>
            <a:ext cx="2743200" cy="502920"/>
          </a:xfrm>
          <a:prstGeom prst="rect">
            <a:avLst/>
          </a:prstGeom>
          <a:noFill/>
          <a:ln/>
        </p:spPr>
        <p:txBody>
          <a:bodyPr wrap="square" lIns="0" tIns="0" rIns="0" bIns="0" rtlCol="0" anchor="ctr"/>
          <a:lstStyle/>
          <a:p>
            <a:pPr marL="0" indent="0">
              <a:buNone/>
            </a:pPr>
            <a:r>
              <a:rPr lang="en-US" sz="1200" b="1" dirty="0">
                <a:solidFill>
                  <a:srgbClr val="C0392B"/>
                </a:solidFill>
                <a:latin typeface="Arial" pitchFamily="34" charset="0"/>
                <a:ea typeface="Arial" pitchFamily="34" charset="-122"/>
                <a:cs typeface="Arial" pitchFamily="34" charset="-120"/>
              </a:rPr>
              <a:t>25 km</a:t>
            </a:r>
            <a:endParaRPr lang="en-US" sz="1200" dirty="0"/>
          </a:p>
        </p:txBody>
      </p:sp>
      <p:sp>
        <p:nvSpPr>
          <p:cNvPr id="22" name="Shape 20"/>
          <p:cNvSpPr/>
          <p:nvPr/>
        </p:nvSpPr>
        <p:spPr>
          <a:xfrm>
            <a:off x="365760" y="2514600"/>
            <a:ext cx="2743200" cy="502920"/>
          </a:xfrm>
          <a:prstGeom prst="rect">
            <a:avLst/>
          </a:prstGeom>
          <a:solidFill>
            <a:srgbClr val="D6E4F0"/>
          </a:solidFill>
          <a:ln w="12700">
            <a:solidFill>
              <a:srgbClr val="CCCCCC"/>
            </a:solidFill>
            <a:prstDash val="solid"/>
          </a:ln>
        </p:spPr>
        <p:txBody>
          <a:bodyPr/>
          <a:lstStyle/>
          <a:p>
            <a:endParaRPr lang="fr-FR"/>
          </a:p>
        </p:txBody>
      </p:sp>
      <p:sp>
        <p:nvSpPr>
          <p:cNvPr id="23" name="Text 21"/>
          <p:cNvSpPr/>
          <p:nvPr/>
        </p:nvSpPr>
        <p:spPr>
          <a:xfrm>
            <a:off x="457200" y="2514600"/>
            <a:ext cx="2560320" cy="502920"/>
          </a:xfrm>
          <a:prstGeom prst="rect">
            <a:avLst/>
          </a:prstGeom>
          <a:noFill/>
          <a:ln/>
        </p:spPr>
        <p:txBody>
          <a:bodyPr wrap="square" lIns="0" tIns="0" rIns="0" bIns="0" rtlCol="0" anchor="ctr"/>
          <a:lstStyle/>
          <a:p>
            <a:pPr marL="0" indent="0">
              <a:buNone/>
            </a:pPr>
            <a:r>
              <a:rPr lang="en-US" sz="1200" dirty="0">
                <a:solidFill>
                  <a:srgbClr val="1A1A2E"/>
                </a:solidFill>
                <a:latin typeface="Arial" pitchFamily="34" charset="0"/>
                <a:ea typeface="Arial" pitchFamily="34" charset="-122"/>
                <a:cs typeface="Arial" pitchFamily="34" charset="-120"/>
              </a:rPr>
              <a:t>Transports en commun</a:t>
            </a:r>
            <a:endParaRPr lang="en-US" sz="1200" dirty="0"/>
          </a:p>
        </p:txBody>
      </p:sp>
      <p:sp>
        <p:nvSpPr>
          <p:cNvPr id="24" name="Shape 22"/>
          <p:cNvSpPr/>
          <p:nvPr/>
        </p:nvSpPr>
        <p:spPr>
          <a:xfrm>
            <a:off x="3108960" y="2514600"/>
            <a:ext cx="2743200" cy="502920"/>
          </a:xfrm>
          <a:prstGeom prst="rect">
            <a:avLst/>
          </a:prstGeom>
          <a:solidFill>
            <a:srgbClr val="D6E4F0"/>
          </a:solidFill>
          <a:ln w="12700">
            <a:solidFill>
              <a:srgbClr val="CCCCCC"/>
            </a:solidFill>
            <a:prstDash val="solid"/>
          </a:ln>
        </p:spPr>
        <p:txBody>
          <a:bodyPr/>
          <a:lstStyle/>
          <a:p>
            <a:endParaRPr lang="fr-FR"/>
          </a:p>
        </p:txBody>
      </p:sp>
      <p:sp>
        <p:nvSpPr>
          <p:cNvPr id="25" name="Text 23"/>
          <p:cNvSpPr/>
          <p:nvPr/>
        </p:nvSpPr>
        <p:spPr>
          <a:xfrm>
            <a:off x="3200400" y="2514600"/>
            <a:ext cx="2560320" cy="502920"/>
          </a:xfrm>
          <a:prstGeom prst="rect">
            <a:avLst/>
          </a:prstGeom>
          <a:noFill/>
          <a:ln/>
        </p:spPr>
        <p:txBody>
          <a:bodyPr wrap="square" lIns="0" tIns="0" rIns="0" bIns="0" rtlCol="0" anchor="ctr"/>
          <a:lstStyle/>
          <a:p>
            <a:pPr marL="0" indent="0">
              <a:buNone/>
            </a:pPr>
            <a:r>
              <a:rPr lang="en-US" sz="1200" dirty="0">
                <a:solidFill>
                  <a:srgbClr val="1A1A2E"/>
                </a:solidFill>
                <a:latin typeface="Arial" pitchFamily="34" charset="0"/>
                <a:ea typeface="Arial" pitchFamily="34" charset="-122"/>
                <a:cs typeface="Arial" pitchFamily="34" charset="-120"/>
              </a:rPr>
              <a:t>transit</a:t>
            </a:r>
            <a:endParaRPr lang="en-US" sz="1200" dirty="0"/>
          </a:p>
        </p:txBody>
      </p:sp>
      <p:sp>
        <p:nvSpPr>
          <p:cNvPr id="26" name="Shape 24"/>
          <p:cNvSpPr/>
          <p:nvPr/>
        </p:nvSpPr>
        <p:spPr>
          <a:xfrm>
            <a:off x="5852160" y="2514600"/>
            <a:ext cx="2926080" cy="502920"/>
          </a:xfrm>
          <a:prstGeom prst="rect">
            <a:avLst/>
          </a:prstGeom>
          <a:solidFill>
            <a:srgbClr val="D6E4F0"/>
          </a:solidFill>
          <a:ln w="12700">
            <a:solidFill>
              <a:srgbClr val="CCCCCC"/>
            </a:solidFill>
            <a:prstDash val="solid"/>
          </a:ln>
        </p:spPr>
        <p:txBody>
          <a:bodyPr/>
          <a:lstStyle/>
          <a:p>
            <a:endParaRPr lang="fr-FR"/>
          </a:p>
        </p:txBody>
      </p:sp>
      <p:sp>
        <p:nvSpPr>
          <p:cNvPr id="27" name="Text 25"/>
          <p:cNvSpPr/>
          <p:nvPr/>
        </p:nvSpPr>
        <p:spPr>
          <a:xfrm>
            <a:off x="5943600" y="2514600"/>
            <a:ext cx="2743200" cy="502920"/>
          </a:xfrm>
          <a:prstGeom prst="rect">
            <a:avLst/>
          </a:prstGeom>
          <a:noFill/>
          <a:ln/>
        </p:spPr>
        <p:txBody>
          <a:bodyPr wrap="square" lIns="0" tIns="0" rIns="0" bIns="0" rtlCol="0" anchor="ctr"/>
          <a:lstStyle/>
          <a:p>
            <a:pPr marL="0" indent="0">
              <a:buNone/>
            </a:pPr>
            <a:r>
              <a:rPr lang="en-US" sz="1200" dirty="0">
                <a:solidFill>
                  <a:srgbClr val="1A1A2E"/>
                </a:solidFill>
                <a:latin typeface="Arial" pitchFamily="34" charset="0"/>
                <a:ea typeface="Arial" pitchFamily="34" charset="-122"/>
                <a:cs typeface="Arial" pitchFamily="34" charset="-120"/>
              </a:rPr>
              <a:t>Aucune limite</a:t>
            </a:r>
            <a:endParaRPr lang="en-US" sz="1200" dirty="0"/>
          </a:p>
        </p:txBody>
      </p:sp>
      <p:sp>
        <p:nvSpPr>
          <p:cNvPr id="28" name="Shape 26"/>
          <p:cNvSpPr/>
          <p:nvPr/>
        </p:nvSpPr>
        <p:spPr>
          <a:xfrm>
            <a:off x="365760" y="3017520"/>
            <a:ext cx="2743200" cy="502920"/>
          </a:xfrm>
          <a:prstGeom prst="rect">
            <a:avLst/>
          </a:prstGeom>
          <a:solidFill>
            <a:srgbClr val="FFFFFF"/>
          </a:solidFill>
          <a:ln w="12700">
            <a:solidFill>
              <a:srgbClr val="CCCCCC"/>
            </a:solidFill>
            <a:prstDash val="solid"/>
          </a:ln>
        </p:spPr>
        <p:txBody>
          <a:bodyPr/>
          <a:lstStyle/>
          <a:p>
            <a:endParaRPr lang="fr-FR"/>
          </a:p>
        </p:txBody>
      </p:sp>
      <p:sp>
        <p:nvSpPr>
          <p:cNvPr id="29" name="Text 27"/>
          <p:cNvSpPr/>
          <p:nvPr/>
        </p:nvSpPr>
        <p:spPr>
          <a:xfrm>
            <a:off x="457200" y="3017520"/>
            <a:ext cx="2560320" cy="502920"/>
          </a:xfrm>
          <a:prstGeom prst="rect">
            <a:avLst/>
          </a:prstGeom>
          <a:noFill/>
          <a:ln/>
        </p:spPr>
        <p:txBody>
          <a:bodyPr wrap="square" lIns="0" tIns="0" rIns="0" bIns="0" rtlCol="0" anchor="ctr"/>
          <a:lstStyle/>
          <a:p>
            <a:pPr marL="0" indent="0">
              <a:buNone/>
            </a:pPr>
            <a:r>
              <a:rPr lang="en-US" sz="1200" dirty="0">
                <a:solidFill>
                  <a:srgbClr val="1A1A2E"/>
                </a:solidFill>
                <a:latin typeface="Arial" pitchFamily="34" charset="0"/>
                <a:ea typeface="Arial" pitchFamily="34" charset="-122"/>
                <a:cs typeface="Arial" pitchFamily="34" charset="-120"/>
              </a:rPr>
              <a:t>Vehicule</a:t>
            </a:r>
            <a:endParaRPr lang="en-US" sz="1200" dirty="0"/>
          </a:p>
        </p:txBody>
      </p:sp>
      <p:sp>
        <p:nvSpPr>
          <p:cNvPr id="30" name="Shape 28"/>
          <p:cNvSpPr/>
          <p:nvPr/>
        </p:nvSpPr>
        <p:spPr>
          <a:xfrm>
            <a:off x="3108960" y="3017520"/>
            <a:ext cx="2743200" cy="502920"/>
          </a:xfrm>
          <a:prstGeom prst="rect">
            <a:avLst/>
          </a:prstGeom>
          <a:solidFill>
            <a:srgbClr val="FFFFFF"/>
          </a:solidFill>
          <a:ln w="12700">
            <a:solidFill>
              <a:srgbClr val="CCCCCC"/>
            </a:solidFill>
            <a:prstDash val="solid"/>
          </a:ln>
        </p:spPr>
        <p:txBody>
          <a:bodyPr/>
          <a:lstStyle/>
          <a:p>
            <a:endParaRPr lang="fr-FR"/>
          </a:p>
        </p:txBody>
      </p:sp>
      <p:sp>
        <p:nvSpPr>
          <p:cNvPr id="31" name="Text 29"/>
          <p:cNvSpPr/>
          <p:nvPr/>
        </p:nvSpPr>
        <p:spPr>
          <a:xfrm>
            <a:off x="3200400" y="3017520"/>
            <a:ext cx="2560320" cy="502920"/>
          </a:xfrm>
          <a:prstGeom prst="rect">
            <a:avLst/>
          </a:prstGeom>
          <a:noFill/>
          <a:ln/>
        </p:spPr>
        <p:txBody>
          <a:bodyPr wrap="square" lIns="0" tIns="0" rIns="0" bIns="0" rtlCol="0" anchor="ctr"/>
          <a:lstStyle/>
          <a:p>
            <a:pPr marL="0" indent="0">
              <a:buNone/>
            </a:pPr>
            <a:r>
              <a:rPr lang="en-US" sz="1200" dirty="0">
                <a:solidFill>
                  <a:srgbClr val="1A1A2E"/>
                </a:solidFill>
                <a:latin typeface="Arial" pitchFamily="34" charset="0"/>
                <a:ea typeface="Arial" pitchFamily="34" charset="-122"/>
                <a:cs typeface="Arial" pitchFamily="34" charset="-120"/>
              </a:rPr>
              <a:t>driving</a:t>
            </a:r>
            <a:endParaRPr lang="en-US" sz="1200" dirty="0"/>
          </a:p>
        </p:txBody>
      </p:sp>
      <p:sp>
        <p:nvSpPr>
          <p:cNvPr id="32" name="Shape 30"/>
          <p:cNvSpPr/>
          <p:nvPr/>
        </p:nvSpPr>
        <p:spPr>
          <a:xfrm>
            <a:off x="5852160" y="3017520"/>
            <a:ext cx="2926080" cy="502920"/>
          </a:xfrm>
          <a:prstGeom prst="rect">
            <a:avLst/>
          </a:prstGeom>
          <a:solidFill>
            <a:srgbClr val="FFFFFF"/>
          </a:solidFill>
          <a:ln w="12700">
            <a:solidFill>
              <a:srgbClr val="CCCCCC"/>
            </a:solidFill>
            <a:prstDash val="solid"/>
          </a:ln>
        </p:spPr>
        <p:txBody>
          <a:bodyPr/>
          <a:lstStyle/>
          <a:p>
            <a:endParaRPr lang="fr-FR"/>
          </a:p>
        </p:txBody>
      </p:sp>
      <p:sp>
        <p:nvSpPr>
          <p:cNvPr id="33" name="Text 31"/>
          <p:cNvSpPr/>
          <p:nvPr/>
        </p:nvSpPr>
        <p:spPr>
          <a:xfrm>
            <a:off x="5943600" y="3017520"/>
            <a:ext cx="2743200" cy="502920"/>
          </a:xfrm>
          <a:prstGeom prst="rect">
            <a:avLst/>
          </a:prstGeom>
          <a:noFill/>
          <a:ln/>
        </p:spPr>
        <p:txBody>
          <a:bodyPr wrap="square" lIns="0" tIns="0" rIns="0" bIns="0" rtlCol="0" anchor="ctr"/>
          <a:lstStyle/>
          <a:p>
            <a:pPr marL="0" indent="0">
              <a:buNone/>
            </a:pPr>
            <a:r>
              <a:rPr lang="en-US" sz="1200" dirty="0">
                <a:solidFill>
                  <a:srgbClr val="1A1A2E"/>
                </a:solidFill>
                <a:latin typeface="Arial" pitchFamily="34" charset="0"/>
                <a:ea typeface="Arial" pitchFamily="34" charset="-122"/>
                <a:cs typeface="Arial" pitchFamily="34" charset="-120"/>
              </a:rPr>
              <a:t>Aucune limite</a:t>
            </a:r>
            <a:endParaRPr lang="en-US" sz="1200" dirty="0"/>
          </a:p>
        </p:txBody>
      </p:sp>
      <p:sp>
        <p:nvSpPr>
          <p:cNvPr id="34" name="Shape 32"/>
          <p:cNvSpPr/>
          <p:nvPr/>
        </p:nvSpPr>
        <p:spPr>
          <a:xfrm>
            <a:off x="365760" y="4407408"/>
            <a:ext cx="8412480" cy="457200"/>
          </a:xfrm>
          <a:prstGeom prst="rect">
            <a:avLst/>
          </a:prstGeom>
          <a:solidFill>
            <a:srgbClr val="FEF9E7"/>
          </a:solidFill>
          <a:ln w="12700">
            <a:solidFill>
              <a:srgbClr val="F39C12"/>
            </a:solidFill>
            <a:prstDash val="solid"/>
          </a:ln>
        </p:spPr>
        <p:txBody>
          <a:bodyPr/>
          <a:lstStyle/>
          <a:p>
            <a:endParaRPr lang="fr-FR"/>
          </a:p>
        </p:txBody>
      </p:sp>
      <p:sp>
        <p:nvSpPr>
          <p:cNvPr id="35" name="Text 33"/>
          <p:cNvSpPr/>
          <p:nvPr/>
        </p:nvSpPr>
        <p:spPr>
          <a:xfrm>
            <a:off x="548640" y="4434840"/>
            <a:ext cx="8046720" cy="402336"/>
          </a:xfrm>
          <a:prstGeom prst="rect">
            <a:avLst/>
          </a:prstGeom>
          <a:noFill/>
          <a:ln/>
        </p:spPr>
        <p:txBody>
          <a:bodyPr wrap="square" lIns="0" tIns="0" rIns="0" bIns="0" rtlCol="0" anchor="ctr"/>
          <a:lstStyle/>
          <a:p>
            <a:pPr marL="0" indent="0">
              <a:buNone/>
            </a:pPr>
            <a:r>
              <a:rPr lang="en-US" sz="1100" i="1" dirty="0">
                <a:solidFill>
                  <a:srgbClr val="7D6608"/>
                </a:solidFill>
                <a:latin typeface="Arial" pitchFamily="34" charset="0"/>
                <a:ea typeface="Arial" pitchFamily="34" charset="-122"/>
                <a:cs typeface="Arial" pitchFamily="34" charset="-120"/>
              </a:rPr>
              <a:t>Les anomalies detectees sont signalees par email aux RH pour verification manuelle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marL="0" indent="0">
              <a:buNone/>
            </a:pPr>
            <a:r>
              <a:rPr lang="en-US" sz="2600" b="1" dirty="0">
                <a:solidFill>
                  <a:srgbClr val="1F4E79"/>
                </a:solidFill>
                <a:latin typeface="Arial" pitchFamily="34" charset="0"/>
                <a:ea typeface="Arial" pitchFamily="34" charset="-122"/>
                <a:cs typeface="Arial" pitchFamily="34" charset="-120"/>
              </a:rPr>
              <a:t>Orchestration Kestra</a:t>
            </a:r>
            <a:endParaRPr lang="en-US" sz="2600" dirty="0"/>
          </a:p>
        </p:txBody>
      </p:sp>
      <p:sp>
        <p:nvSpPr>
          <p:cNvPr id="3" name="Shape 1"/>
          <p:cNvSpPr/>
          <p:nvPr/>
        </p:nvSpPr>
        <p:spPr>
          <a:xfrm>
            <a:off x="457200" y="896112"/>
            <a:ext cx="1097280" cy="54864"/>
          </a:xfrm>
          <a:prstGeom prst="rect">
            <a:avLst/>
          </a:prstGeom>
          <a:solidFill>
            <a:srgbClr val="2E75B6"/>
          </a:solidFill>
          <a:ln w="12700">
            <a:solidFill>
              <a:srgbClr val="2E75B6"/>
            </a:solidFill>
            <a:prstDash val="solid"/>
          </a:ln>
        </p:spPr>
        <p:txBody>
          <a:bodyPr/>
          <a:lstStyle/>
          <a:p>
            <a:endParaRPr lang="fr-FR"/>
          </a:p>
        </p:txBody>
      </p:sp>
      <p:sp>
        <p:nvSpPr>
          <p:cNvPr id="4" name="Shape 2"/>
          <p:cNvSpPr/>
          <p:nvPr/>
        </p:nvSpPr>
        <p:spPr>
          <a:xfrm>
            <a:off x="365760" y="1051560"/>
            <a:ext cx="4023360" cy="3474720"/>
          </a:xfrm>
          <a:prstGeom prst="rect">
            <a:avLst/>
          </a:prstGeom>
          <a:solidFill>
            <a:srgbClr val="1F4E79"/>
          </a:solidFill>
          <a:ln w="12700">
            <a:solidFill>
              <a:srgbClr val="1F4E79"/>
            </a:solidFill>
            <a:prstDash val="solid"/>
          </a:ln>
          <a:effectLst>
            <a:outerShdw blurRad="101600" dist="25400" dir="8100000" algn="bl" rotWithShape="0">
              <a:srgbClr val="000000">
                <a:alpha val="12000"/>
              </a:srgbClr>
            </a:outerShdw>
          </a:effectLst>
        </p:spPr>
        <p:txBody>
          <a:bodyPr/>
          <a:lstStyle/>
          <a:p>
            <a:endParaRPr lang="fr-FR"/>
          </a:p>
        </p:txBody>
      </p:sp>
      <p:sp>
        <p:nvSpPr>
          <p:cNvPr id="5" name="Shape 3"/>
          <p:cNvSpPr/>
          <p:nvPr/>
        </p:nvSpPr>
        <p:spPr>
          <a:xfrm>
            <a:off x="365760" y="1051560"/>
            <a:ext cx="4023360" cy="411480"/>
          </a:xfrm>
          <a:prstGeom prst="rect">
            <a:avLst/>
          </a:prstGeom>
          <a:solidFill>
            <a:srgbClr val="2E75B6"/>
          </a:solidFill>
          <a:ln w="12700">
            <a:solidFill>
              <a:srgbClr val="2E75B6"/>
            </a:solidFill>
            <a:prstDash val="solid"/>
          </a:ln>
        </p:spPr>
        <p:txBody>
          <a:bodyPr/>
          <a:lstStyle/>
          <a:p>
            <a:endParaRPr lang="fr-FR"/>
          </a:p>
        </p:txBody>
      </p:sp>
      <p:sp>
        <p:nvSpPr>
          <p:cNvPr id="6" name="Text 4"/>
          <p:cNvSpPr/>
          <p:nvPr/>
        </p:nvSpPr>
        <p:spPr>
          <a:xfrm>
            <a:off x="502920" y="1078992"/>
            <a:ext cx="3749040" cy="36576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flow_getdata.yaml</a:t>
            </a:r>
            <a:endParaRPr lang="en-US" sz="1300" dirty="0"/>
          </a:p>
        </p:txBody>
      </p:sp>
      <p:sp>
        <p:nvSpPr>
          <p:cNvPr id="7" name="Text 5"/>
          <p:cNvSpPr/>
          <p:nvPr/>
        </p:nvSpPr>
        <p:spPr>
          <a:xfrm>
            <a:off x="502920" y="1508760"/>
            <a:ext cx="3749040" cy="2880360"/>
          </a:xfrm>
          <a:prstGeom prst="rect">
            <a:avLst/>
          </a:prstGeom>
          <a:noFill/>
          <a:ln/>
        </p:spPr>
        <p:txBody>
          <a:bodyPr wrap="square" lIns="0" tIns="0" rIns="0" bIns="0" rtlCol="0" anchor="ctr"/>
          <a:lstStyle/>
          <a:p>
            <a:pPr marL="342900" indent="-342900">
              <a:buSzPct val="100000"/>
              <a:buChar char="•"/>
            </a:pPr>
            <a:r>
              <a:rPr lang="en-US" sz="1100" dirty="0">
                <a:solidFill>
                  <a:srgbClr val="BDD7EE"/>
                </a:solidFill>
              </a:rPr>
              <a:t>Declencheur : toutes les 2 minutes</a:t>
            </a:r>
            <a:endParaRPr lang="en-US" sz="1100" dirty="0"/>
          </a:p>
          <a:p>
            <a:pPr marL="342900" indent="-342900">
              <a:buSzPct val="100000"/>
              <a:buChar char="•"/>
            </a:pPr>
            <a:r>
              <a:rPr lang="en-US" sz="1100" dirty="0">
                <a:solidFill>
                  <a:srgbClr val="BDD7EE"/>
                </a:solidFill>
              </a:rPr>
              <a:t>Concurrence : CANCEL (1 execution max)</a:t>
            </a:r>
            <a:endParaRPr lang="en-US" sz="1100" dirty="0"/>
          </a:p>
          <a:p>
            <a:pPr marL="342900" indent="-342900">
              <a:buSzPct val="100000"/>
              <a:buChar char="•"/>
            </a:pPr>
            <a:r>
              <a:rPr lang="en-US" sz="1100" dirty="0">
                <a:solidFill>
                  <a:srgbClr val="BDD7EE"/>
                </a:solidFill>
              </a:rPr>
              <a:t>Retry : 3 tentatives, 15s d'intervalle</a:t>
            </a:r>
            <a:endParaRPr lang="en-US" sz="1100" dirty="0"/>
          </a:p>
          <a:p>
            <a:pPr marL="342900" indent="-342900">
              <a:buSzPct val="100000"/>
              <a:buChar char="•"/>
            </a:pPr>
            <a:r>
              <a:rPr lang="en-US" sz="1100" dirty="0">
                <a:solidFill>
                  <a:srgbClr val="BDD7EE"/>
                </a:solidFill>
              </a:rPr>
              <a:t>start → exec getData.py → stop</a:t>
            </a:r>
            <a:endParaRPr lang="en-US" sz="1100" dirty="0"/>
          </a:p>
          <a:p>
            <a:pPr marL="342900" indent="-342900">
              <a:buSzPct val="100000"/>
              <a:buChar char="•"/>
            </a:pPr>
            <a:r>
              <a:rPr lang="en-US" sz="1100" dirty="0">
                <a:solidFill>
                  <a:srgbClr val="70AD47"/>
                </a:solidFill>
              </a:rPr>
              <a:t>Email OK / ECHEC apres chaque run</a:t>
            </a:r>
            <a:endParaRPr lang="en-US" sz="1100" dirty="0"/>
          </a:p>
        </p:txBody>
      </p:sp>
      <p:sp>
        <p:nvSpPr>
          <p:cNvPr id="8" name="Shape 6"/>
          <p:cNvSpPr/>
          <p:nvPr/>
        </p:nvSpPr>
        <p:spPr>
          <a:xfrm>
            <a:off x="4754880" y="1051560"/>
            <a:ext cx="4023360" cy="3474720"/>
          </a:xfrm>
          <a:prstGeom prst="rect">
            <a:avLst/>
          </a:prstGeom>
          <a:solidFill>
            <a:srgbClr val="1F4E79"/>
          </a:solidFill>
          <a:ln w="12700">
            <a:solidFill>
              <a:srgbClr val="1F4E79"/>
            </a:solidFill>
            <a:prstDash val="solid"/>
          </a:ln>
          <a:effectLst>
            <a:outerShdw blurRad="101600" dist="25400" dir="8100000" algn="bl" rotWithShape="0">
              <a:srgbClr val="000000">
                <a:alpha val="12000"/>
              </a:srgbClr>
            </a:outerShdw>
          </a:effectLst>
        </p:spPr>
        <p:txBody>
          <a:bodyPr/>
          <a:lstStyle/>
          <a:p>
            <a:endParaRPr lang="fr-FR"/>
          </a:p>
        </p:txBody>
      </p:sp>
      <p:sp>
        <p:nvSpPr>
          <p:cNvPr id="9" name="Shape 7"/>
          <p:cNvSpPr/>
          <p:nvPr/>
        </p:nvSpPr>
        <p:spPr>
          <a:xfrm>
            <a:off x="4754880" y="1051560"/>
            <a:ext cx="4023360" cy="411480"/>
          </a:xfrm>
          <a:prstGeom prst="rect">
            <a:avLst/>
          </a:prstGeom>
          <a:solidFill>
            <a:srgbClr val="70AD47"/>
          </a:solidFill>
          <a:ln w="12700">
            <a:solidFill>
              <a:srgbClr val="70AD47"/>
            </a:solidFill>
            <a:prstDash val="solid"/>
          </a:ln>
        </p:spPr>
        <p:txBody>
          <a:bodyPr/>
          <a:lstStyle/>
          <a:p>
            <a:endParaRPr lang="fr-FR"/>
          </a:p>
        </p:txBody>
      </p:sp>
      <p:sp>
        <p:nvSpPr>
          <p:cNvPr id="10" name="Text 8"/>
          <p:cNvSpPr/>
          <p:nvPr/>
        </p:nvSpPr>
        <p:spPr>
          <a:xfrm>
            <a:off x="4892040" y="1078992"/>
            <a:ext cx="3749040" cy="36576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flow_powerbi.yaml</a:t>
            </a:r>
            <a:endParaRPr lang="en-US" sz="1300" dirty="0"/>
          </a:p>
        </p:txBody>
      </p:sp>
      <p:sp>
        <p:nvSpPr>
          <p:cNvPr id="11" name="Text 9"/>
          <p:cNvSpPr/>
          <p:nvPr/>
        </p:nvSpPr>
        <p:spPr>
          <a:xfrm>
            <a:off x="4892040" y="1508760"/>
            <a:ext cx="3749040" cy="2880360"/>
          </a:xfrm>
          <a:prstGeom prst="rect">
            <a:avLst/>
          </a:prstGeom>
          <a:noFill/>
          <a:ln/>
        </p:spPr>
        <p:txBody>
          <a:bodyPr wrap="square" lIns="0" tIns="0" rIns="0" bIns="0" rtlCol="0" anchor="ctr"/>
          <a:lstStyle/>
          <a:p>
            <a:pPr marL="342900" indent="-342900">
              <a:buSzPct val="100000"/>
              <a:buChar char="•"/>
            </a:pPr>
            <a:r>
              <a:rPr lang="en-US" sz="1100" dirty="0">
                <a:solidFill>
                  <a:srgbClr val="BDD7EE"/>
                </a:solidFill>
              </a:rPr>
              <a:t>Declencheur : lundis a 6h00</a:t>
            </a:r>
            <a:endParaRPr lang="en-US" sz="1100" dirty="0"/>
          </a:p>
          <a:p>
            <a:pPr marL="342900" indent="-342900">
              <a:buSzPct val="100000"/>
              <a:buChar char="•"/>
            </a:pPr>
            <a:r>
              <a:rPr lang="en-US" sz="1100" dirty="0">
                <a:solidFill>
                  <a:srgbClr val="BDD7EE"/>
                </a:solidFill>
              </a:rPr>
              <a:t>Retry : 3 tentatives, 30s d'intervalle</a:t>
            </a:r>
            <a:endParaRPr lang="en-US" sz="1100" dirty="0"/>
          </a:p>
          <a:p>
            <a:pPr marL="342900" indent="-342900">
              <a:buSzPct val="100000"/>
              <a:buChar char="•"/>
            </a:pPr>
            <a:r>
              <a:rPr lang="en-US" sz="1100" dirty="0">
                <a:solidFill>
                  <a:srgbClr val="BDD7EE"/>
                </a:solidFill>
              </a:rPr>
              <a:t>export → tests → calcul primes</a:t>
            </a:r>
            <a:endParaRPr lang="en-US" sz="1100" dirty="0"/>
          </a:p>
          <a:p>
            <a:pPr marL="342900" indent="-342900">
              <a:buSzPct val="100000"/>
              <a:buChar char="•"/>
            </a:pPr>
            <a:r>
              <a:rPr lang="en-US" sz="1100" dirty="0">
                <a:solidFill>
                  <a:srgbClr val="BDD7EE"/>
                </a:solidFill>
              </a:rPr>
              <a:t>8 scripts executes en sequence</a:t>
            </a:r>
            <a:endParaRPr lang="en-US" sz="1100" dirty="0"/>
          </a:p>
          <a:p>
            <a:pPr marL="342900" indent="-342900">
              <a:buSzPct val="100000"/>
              <a:buChar char="•"/>
            </a:pPr>
            <a:r>
              <a:rPr lang="en-US" sz="1100" dirty="0">
                <a:solidFill>
                  <a:srgbClr val="70AD47"/>
                </a:solidFill>
              </a:rPr>
              <a:t>Email OK / ECHEC en fin de flow</a:t>
            </a:r>
            <a:endParaRPr lang="en-US" sz="1100" dirty="0"/>
          </a:p>
        </p:txBody>
      </p:sp>
      <p:sp>
        <p:nvSpPr>
          <p:cNvPr id="12" name="Text 10"/>
          <p:cNvSpPr/>
          <p:nvPr/>
        </p:nvSpPr>
        <p:spPr>
          <a:xfrm>
            <a:off x="365760" y="4663440"/>
            <a:ext cx="8412480" cy="320040"/>
          </a:xfrm>
          <a:prstGeom prst="rect">
            <a:avLst/>
          </a:prstGeom>
          <a:noFill/>
          <a:ln/>
        </p:spPr>
        <p:txBody>
          <a:bodyPr wrap="square" lIns="0" tIns="0" rIns="0" bIns="0" rtlCol="0" anchor="ctr"/>
          <a:lstStyle/>
          <a:p>
            <a:pPr marL="0" indent="0" algn="ctr">
              <a:buNone/>
            </a:pPr>
            <a:r>
              <a:rPr lang="en-US" sz="1000" dirty="0">
                <a:solidFill>
                  <a:srgbClr val="64748B"/>
                </a:solidFill>
                <a:latin typeface="Arial" pitchFamily="34" charset="0"/>
                <a:ea typeface="Arial" pitchFamily="34" charset="-122"/>
                <a:cs typeface="Arial" pitchFamily="34" charset="-120"/>
              </a:rPr>
              <a:t>Interface web Kestra : http://localhost:8080  |  Namespace : avantages_sportifs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marL="0" indent="0">
              <a:buNone/>
            </a:pPr>
            <a:r>
              <a:rPr lang="en-US" sz="2600" b="1" dirty="0">
                <a:solidFill>
                  <a:srgbClr val="1F4E79"/>
                </a:solidFill>
                <a:latin typeface="Arial" pitchFamily="34" charset="0"/>
                <a:ea typeface="Arial" pitchFamily="34" charset="-122"/>
                <a:cs typeface="Arial" pitchFamily="34" charset="-120"/>
              </a:rPr>
              <a:t>Securite et bonnes pratiques</a:t>
            </a:r>
            <a:endParaRPr lang="en-US" sz="2600" dirty="0"/>
          </a:p>
        </p:txBody>
      </p:sp>
      <p:sp>
        <p:nvSpPr>
          <p:cNvPr id="3" name="Shape 1"/>
          <p:cNvSpPr/>
          <p:nvPr/>
        </p:nvSpPr>
        <p:spPr>
          <a:xfrm>
            <a:off x="457200" y="896112"/>
            <a:ext cx="1097280" cy="54864"/>
          </a:xfrm>
          <a:prstGeom prst="rect">
            <a:avLst/>
          </a:prstGeom>
          <a:solidFill>
            <a:srgbClr val="2E75B6"/>
          </a:solidFill>
          <a:ln w="12700">
            <a:solidFill>
              <a:srgbClr val="2E75B6"/>
            </a:solidFill>
            <a:prstDash val="solid"/>
          </a:ln>
        </p:spPr>
        <p:txBody>
          <a:bodyPr/>
          <a:lstStyle/>
          <a:p>
            <a:endParaRPr lang="fr-FR"/>
          </a:p>
        </p:txBody>
      </p:sp>
      <p:sp>
        <p:nvSpPr>
          <p:cNvPr id="4" name="Shape 2"/>
          <p:cNvSpPr/>
          <p:nvPr/>
        </p:nvSpPr>
        <p:spPr>
          <a:xfrm>
            <a:off x="365760" y="1051560"/>
            <a:ext cx="4023360" cy="411480"/>
          </a:xfrm>
          <a:prstGeom prst="rect">
            <a:avLst/>
          </a:prstGeom>
          <a:solidFill>
            <a:srgbClr val="1EB980"/>
          </a:solidFill>
          <a:ln w="12700">
            <a:solidFill>
              <a:srgbClr val="1EB980"/>
            </a:solidFill>
            <a:prstDash val="solid"/>
          </a:ln>
        </p:spPr>
        <p:txBody>
          <a:bodyPr/>
          <a:lstStyle/>
          <a:p>
            <a:endParaRPr lang="fr-FR"/>
          </a:p>
        </p:txBody>
      </p:sp>
      <p:sp>
        <p:nvSpPr>
          <p:cNvPr id="5" name="Text 3"/>
          <p:cNvSpPr/>
          <p:nvPr/>
        </p:nvSpPr>
        <p:spPr>
          <a:xfrm>
            <a:off x="502920" y="1078992"/>
            <a:ext cx="3749040" cy="36576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Ce qui est en place</a:t>
            </a:r>
            <a:endParaRPr lang="en-US" sz="1300" dirty="0"/>
          </a:p>
        </p:txBody>
      </p:sp>
      <p:sp>
        <p:nvSpPr>
          <p:cNvPr id="6" name="Shape 4"/>
          <p:cNvSpPr/>
          <p:nvPr/>
        </p:nvSpPr>
        <p:spPr>
          <a:xfrm>
            <a:off x="365760" y="1463040"/>
            <a:ext cx="4023360" cy="3063240"/>
          </a:xfrm>
          <a:prstGeom prst="rect">
            <a:avLst/>
          </a:prstGeom>
          <a:solidFill>
            <a:srgbClr val="EAF9EE"/>
          </a:solidFill>
          <a:ln w="12700">
            <a:solidFill>
              <a:srgbClr val="1EB980"/>
            </a:solidFill>
            <a:prstDash val="solid"/>
          </a:ln>
        </p:spPr>
        <p:txBody>
          <a:bodyPr/>
          <a:lstStyle/>
          <a:p>
            <a:endParaRPr lang="fr-FR"/>
          </a:p>
        </p:txBody>
      </p:sp>
      <p:sp>
        <p:nvSpPr>
          <p:cNvPr id="7" name="Text 5"/>
          <p:cNvSpPr/>
          <p:nvPr/>
        </p:nvSpPr>
        <p:spPr>
          <a:xfrm>
            <a:off x="502920" y="1554480"/>
            <a:ext cx="3749040" cy="2834640"/>
          </a:xfrm>
          <a:prstGeom prst="rect">
            <a:avLst/>
          </a:prstGeom>
          <a:noFill/>
          <a:ln/>
        </p:spPr>
        <p:txBody>
          <a:bodyPr wrap="square" lIns="0" tIns="0" rIns="0" bIns="0" rtlCol="0" anchor="ctr"/>
          <a:lstStyle/>
          <a:p>
            <a:pPr marL="342900" indent="-342900">
              <a:buSzPct val="100000"/>
              <a:buChar char="•"/>
            </a:pPr>
            <a:r>
              <a:rPr lang="en-US" sz="1100" dirty="0">
                <a:solidFill>
                  <a:srgbClr val="1A1A2E"/>
                </a:solidFill>
              </a:rPr>
              <a:t>Fichiers .env exclus du git (.gitignore)</a:t>
            </a:r>
            <a:endParaRPr lang="en-US" sz="1100" dirty="0"/>
          </a:p>
          <a:p>
            <a:pPr marL="342900" indent="-342900">
              <a:buSzPct val="100000"/>
              <a:buChar char="•"/>
            </a:pPr>
            <a:r>
              <a:rPr lang="en-US" sz="1100" dirty="0">
                <a:solidFill>
                  <a:srgbClr val="1A1A2E"/>
                </a:solidFill>
              </a:rPr>
              <a:t>Credentials charges via os.getenv() uniquement</a:t>
            </a:r>
            <a:endParaRPr lang="en-US" sz="1100" dirty="0"/>
          </a:p>
          <a:p>
            <a:pPr marL="342900" indent="-342900">
              <a:buSzPct val="100000"/>
              <a:buChar char="•"/>
            </a:pPr>
            <a:r>
              <a:rPr lang="en-US" sz="1100" dirty="0">
                <a:solidFill>
                  <a:srgbClr val="1A1A2E"/>
                </a:solidFill>
              </a:rPr>
              <a:t>Parametre state OAuth valide (int.TryParse)</a:t>
            </a:r>
            <a:endParaRPr lang="en-US" sz="1100" dirty="0"/>
          </a:p>
          <a:p>
            <a:pPr marL="342900" indent="-342900">
              <a:buSzPct val="100000"/>
              <a:buChar char="•"/>
            </a:pPr>
            <a:r>
              <a:rPr lang="en-US" sz="1100" dirty="0">
                <a:solidFill>
                  <a:srgbClr val="1A1A2E"/>
                </a:solidFill>
              </a:rPr>
              <a:t>Requetes SQL parametrees (anti-injection)</a:t>
            </a:r>
            <a:endParaRPr lang="en-US" sz="1100" dirty="0"/>
          </a:p>
          <a:p>
            <a:pPr marL="342900" indent="-342900">
              <a:buSzPct val="100000"/>
              <a:buChar char="•"/>
            </a:pPr>
            <a:r>
              <a:rPr lang="en-US" sz="1100" dirty="0">
                <a:solidFill>
                  <a:srgbClr val="1A1A2E"/>
                </a:solidFill>
              </a:rPr>
              <a:t>Secrets Kestra via prefixe SECRET_</a:t>
            </a:r>
            <a:endParaRPr lang="en-US" sz="1100" dirty="0"/>
          </a:p>
        </p:txBody>
      </p:sp>
      <p:sp>
        <p:nvSpPr>
          <p:cNvPr id="8" name="Shape 6"/>
          <p:cNvSpPr/>
          <p:nvPr/>
        </p:nvSpPr>
        <p:spPr>
          <a:xfrm>
            <a:off x="4754880" y="1051560"/>
            <a:ext cx="4023360" cy="411480"/>
          </a:xfrm>
          <a:prstGeom prst="rect">
            <a:avLst/>
          </a:prstGeom>
          <a:solidFill>
            <a:srgbClr val="E74C3C"/>
          </a:solidFill>
          <a:ln w="12700">
            <a:solidFill>
              <a:srgbClr val="E74C3C"/>
            </a:solidFill>
            <a:prstDash val="solid"/>
          </a:ln>
        </p:spPr>
        <p:txBody>
          <a:bodyPr/>
          <a:lstStyle/>
          <a:p>
            <a:endParaRPr lang="fr-FR"/>
          </a:p>
        </p:txBody>
      </p:sp>
      <p:sp>
        <p:nvSpPr>
          <p:cNvPr id="9" name="Text 7"/>
          <p:cNvSpPr/>
          <p:nvPr/>
        </p:nvSpPr>
        <p:spPr>
          <a:xfrm>
            <a:off x="4892040" y="1078992"/>
            <a:ext cx="3749040" cy="36576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A ameliorer en production</a:t>
            </a:r>
            <a:endParaRPr lang="en-US" sz="1300" dirty="0"/>
          </a:p>
        </p:txBody>
      </p:sp>
      <p:sp>
        <p:nvSpPr>
          <p:cNvPr id="10" name="Shape 8"/>
          <p:cNvSpPr/>
          <p:nvPr/>
        </p:nvSpPr>
        <p:spPr>
          <a:xfrm>
            <a:off x="4754880" y="1463040"/>
            <a:ext cx="4023360" cy="3063240"/>
          </a:xfrm>
          <a:prstGeom prst="rect">
            <a:avLst/>
          </a:prstGeom>
          <a:solidFill>
            <a:srgbClr val="FDEDEC"/>
          </a:solidFill>
          <a:ln w="12700">
            <a:solidFill>
              <a:srgbClr val="E74C3C"/>
            </a:solidFill>
            <a:prstDash val="solid"/>
          </a:ln>
        </p:spPr>
        <p:txBody>
          <a:bodyPr/>
          <a:lstStyle/>
          <a:p>
            <a:endParaRPr lang="fr-FR"/>
          </a:p>
        </p:txBody>
      </p:sp>
      <p:sp>
        <p:nvSpPr>
          <p:cNvPr id="11" name="Text 9"/>
          <p:cNvSpPr/>
          <p:nvPr/>
        </p:nvSpPr>
        <p:spPr>
          <a:xfrm>
            <a:off x="4892040" y="1554480"/>
            <a:ext cx="3749040" cy="2834640"/>
          </a:xfrm>
          <a:prstGeom prst="rect">
            <a:avLst/>
          </a:prstGeom>
          <a:noFill/>
          <a:ln/>
        </p:spPr>
        <p:txBody>
          <a:bodyPr wrap="square" lIns="0" tIns="0" rIns="0" bIns="0" rtlCol="0" anchor="ctr"/>
          <a:lstStyle/>
          <a:p>
            <a:pPr marL="342900" indent="-342900">
              <a:buSzPct val="100000"/>
              <a:buChar char="•"/>
            </a:pPr>
            <a:r>
              <a:rPr lang="en-US" sz="1100" dirty="0">
                <a:solidFill>
                  <a:srgbClr val="1A1A2E"/>
                </a:solidFill>
              </a:rPr>
              <a:t>Remplacer le compte SA par compte dedie</a:t>
            </a:r>
            <a:endParaRPr lang="en-US" sz="1100" dirty="0"/>
          </a:p>
          <a:p>
            <a:pPr marL="342900" indent="-342900">
              <a:buSzPct val="100000"/>
              <a:buChar char="•"/>
            </a:pPr>
            <a:r>
              <a:rPr lang="en-US" sz="1100" dirty="0">
                <a:solidFill>
                  <a:srgbClr val="1A1A2E"/>
                </a:solidFill>
              </a:rPr>
              <a:t>Remplacer TrustServerCertificate=yes</a:t>
            </a:r>
            <a:endParaRPr lang="en-US" sz="1100" dirty="0"/>
          </a:p>
          <a:p>
            <a:pPr marL="342900" indent="-342900">
              <a:buSzPct val="100000"/>
              <a:buChar char="•"/>
            </a:pPr>
            <a:r>
              <a:rPr lang="en-US" sz="1100" dirty="0">
                <a:solidFill>
                  <a:srgbClr val="1A1A2E"/>
                </a:solidFill>
              </a:rPr>
              <a:t>Migrer vers Kestra Enterprise (secrets natifs)</a:t>
            </a:r>
            <a:endParaRPr lang="en-US" sz="1100" dirty="0"/>
          </a:p>
          <a:p>
            <a:pPr marL="342900" indent="-342900">
              <a:buSzPct val="100000"/>
              <a:buChar char="•"/>
            </a:pPr>
            <a:r>
              <a:rPr lang="en-US" sz="1100" dirty="0">
                <a:solidFill>
                  <a:srgbClr val="1A1A2E"/>
                </a:solidFill>
              </a:rPr>
              <a:t>Monitoring des tokens Strava revoques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marL="0" indent="0">
              <a:buNone/>
            </a:pPr>
            <a:r>
              <a:rPr lang="en-US" sz="2600" b="1" dirty="0">
                <a:solidFill>
                  <a:srgbClr val="1F4E79"/>
                </a:solidFill>
                <a:latin typeface="Arial" pitchFamily="34" charset="0"/>
                <a:ea typeface="Arial" pitchFamily="34" charset="-122"/>
                <a:cs typeface="Arial" pitchFamily="34" charset="-120"/>
              </a:rPr>
              <a:t>Rapport PowerBI — Vue RH</a:t>
            </a:r>
            <a:endParaRPr lang="en-US" sz="2600" dirty="0"/>
          </a:p>
        </p:txBody>
      </p:sp>
      <p:sp>
        <p:nvSpPr>
          <p:cNvPr id="3" name="Shape 1"/>
          <p:cNvSpPr/>
          <p:nvPr/>
        </p:nvSpPr>
        <p:spPr>
          <a:xfrm>
            <a:off x="457200" y="896112"/>
            <a:ext cx="1097280" cy="54864"/>
          </a:xfrm>
          <a:prstGeom prst="rect">
            <a:avLst/>
          </a:prstGeom>
          <a:solidFill>
            <a:srgbClr val="2E75B6"/>
          </a:solidFill>
          <a:ln w="12700">
            <a:solidFill>
              <a:srgbClr val="2E75B6"/>
            </a:solidFill>
            <a:prstDash val="solid"/>
          </a:ln>
        </p:spPr>
        <p:txBody>
          <a:bodyPr/>
          <a:lstStyle/>
          <a:p>
            <a:endParaRPr lang="fr-FR"/>
          </a:p>
        </p:txBody>
      </p:sp>
      <p:sp>
        <p:nvSpPr>
          <p:cNvPr id="4" name="Shape 2"/>
          <p:cNvSpPr/>
          <p:nvPr/>
        </p:nvSpPr>
        <p:spPr>
          <a:xfrm>
            <a:off x="365760" y="1051560"/>
            <a:ext cx="4023360" cy="1783080"/>
          </a:xfrm>
          <a:prstGeom prst="rect">
            <a:avLst/>
          </a:prstGeom>
          <a:solidFill>
            <a:srgbClr val="1F4E79"/>
          </a:solidFill>
          <a:ln w="12700">
            <a:solidFill>
              <a:srgbClr val="1F4E79"/>
            </a:solidFill>
            <a:prstDash val="solid"/>
          </a:ln>
          <a:effectLst>
            <a:outerShdw blurRad="101600" dist="25400" dir="8100000" algn="bl" rotWithShape="0">
              <a:srgbClr val="000000">
                <a:alpha val="12000"/>
              </a:srgbClr>
            </a:outerShdw>
          </a:effectLst>
        </p:spPr>
        <p:txBody>
          <a:bodyPr/>
          <a:lstStyle/>
          <a:p>
            <a:endParaRPr lang="fr-FR"/>
          </a:p>
        </p:txBody>
      </p:sp>
      <p:sp>
        <p:nvSpPr>
          <p:cNvPr id="5" name="Shape 3"/>
          <p:cNvSpPr/>
          <p:nvPr/>
        </p:nvSpPr>
        <p:spPr>
          <a:xfrm>
            <a:off x="475488" y="1143000"/>
            <a:ext cx="411480" cy="411480"/>
          </a:xfrm>
          <a:prstGeom prst="ellipse">
            <a:avLst/>
          </a:prstGeom>
          <a:solidFill>
            <a:srgbClr val="FFFFFF">
              <a:alpha val="20000"/>
            </a:srgbClr>
          </a:solidFill>
          <a:ln w="12700">
            <a:solidFill>
              <a:srgbClr val="FFFFFF">
                <a:alpha val="20000"/>
              </a:srgbClr>
            </a:solidFill>
            <a:prstDash val="solid"/>
          </a:ln>
        </p:spPr>
        <p:txBody>
          <a:bodyPr/>
          <a:lstStyle/>
          <a:p>
            <a:endParaRPr lang="fr-FR"/>
          </a:p>
        </p:txBody>
      </p:sp>
      <p:sp>
        <p:nvSpPr>
          <p:cNvPr id="6" name="Text 4"/>
          <p:cNvSpPr/>
          <p:nvPr/>
        </p:nvSpPr>
        <p:spPr>
          <a:xfrm>
            <a:off x="475488" y="114300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005840" y="1161288"/>
            <a:ext cx="3246120" cy="38404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Tableau de bord global</a:t>
            </a:r>
            <a:endParaRPr lang="en-US" sz="1300" dirty="0"/>
          </a:p>
        </p:txBody>
      </p:sp>
      <p:sp>
        <p:nvSpPr>
          <p:cNvPr id="8" name="Shape 6"/>
          <p:cNvSpPr/>
          <p:nvPr/>
        </p:nvSpPr>
        <p:spPr>
          <a:xfrm>
            <a:off x="502920" y="1645920"/>
            <a:ext cx="3749040" cy="0"/>
          </a:xfrm>
          <a:prstGeom prst="line">
            <a:avLst/>
          </a:prstGeom>
          <a:noFill/>
          <a:ln w="12700">
            <a:solidFill>
              <a:srgbClr val="FFFFFF">
                <a:alpha val="40000"/>
              </a:srgbClr>
            </a:solidFill>
            <a:prstDash val="solid"/>
          </a:ln>
        </p:spPr>
        <p:txBody>
          <a:bodyPr/>
          <a:lstStyle/>
          <a:p>
            <a:endParaRPr lang="fr-FR"/>
          </a:p>
        </p:txBody>
      </p:sp>
      <p:sp>
        <p:nvSpPr>
          <p:cNvPr id="9" name="Text 7"/>
          <p:cNvSpPr/>
          <p:nvPr/>
        </p:nvSpPr>
        <p:spPr>
          <a:xfrm>
            <a:off x="502920" y="1737360"/>
            <a:ext cx="3749040" cy="1005840"/>
          </a:xfrm>
          <a:prstGeom prst="rect">
            <a:avLst/>
          </a:prstGeom>
          <a:noFill/>
          <a:ln/>
        </p:spPr>
        <p:txBody>
          <a:bodyPr wrap="square" lIns="0" tIns="0" rIns="0" bIns="0" rtlCol="0" anchor="ctr"/>
          <a:lstStyle/>
          <a:p>
            <a:pPr marL="0" indent="0">
              <a:buNone/>
            </a:pPr>
            <a:r>
              <a:rPr lang="en-US" sz="1100" dirty="0">
                <a:solidFill>
                  <a:srgbClr val="BDD7EE"/>
                </a:solidFill>
                <a:latin typeface="Arial" pitchFamily="34" charset="0"/>
                <a:ea typeface="Arial" pitchFamily="34" charset="-122"/>
                <a:cs typeface="Arial" pitchFamily="34" charset="-120"/>
              </a:rPr>
              <a:t>KPIs: eligibles trajet / bien-etre / montant primes</a:t>
            </a:r>
            <a:endParaRPr lang="en-US" sz="1100" dirty="0"/>
          </a:p>
          <a:p>
            <a:pPr marL="0" indent="0">
              <a:buNone/>
            </a:pPr>
            <a:r>
              <a:rPr lang="en-US" sz="1100" dirty="0">
                <a:solidFill>
                  <a:srgbClr val="BDD7EE"/>
                </a:solidFill>
                <a:latin typeface="Arial" pitchFamily="34" charset="0"/>
                <a:ea typeface="Arial" pitchFamily="34" charset="-122"/>
                <a:cs typeface="Arial" pitchFamily="34" charset="-120"/>
              </a:rPr>
              <a:t>Filtre par Business Unit</a:t>
            </a:r>
            <a:endParaRPr lang="en-US" sz="1100" dirty="0"/>
          </a:p>
        </p:txBody>
      </p:sp>
      <p:sp>
        <p:nvSpPr>
          <p:cNvPr id="10" name="Shape 8"/>
          <p:cNvSpPr/>
          <p:nvPr/>
        </p:nvSpPr>
        <p:spPr>
          <a:xfrm>
            <a:off x="4709160" y="1051560"/>
            <a:ext cx="4023360" cy="1783080"/>
          </a:xfrm>
          <a:prstGeom prst="rect">
            <a:avLst/>
          </a:prstGeom>
          <a:solidFill>
            <a:srgbClr val="1D6FA4"/>
          </a:solidFill>
          <a:ln w="12700">
            <a:solidFill>
              <a:srgbClr val="1D6FA4"/>
            </a:solidFill>
            <a:prstDash val="solid"/>
          </a:ln>
          <a:effectLst>
            <a:outerShdw blurRad="101600" dist="25400" dir="8100000" algn="bl" rotWithShape="0">
              <a:srgbClr val="000000">
                <a:alpha val="12000"/>
              </a:srgbClr>
            </a:outerShdw>
          </a:effectLst>
        </p:spPr>
        <p:txBody>
          <a:bodyPr/>
          <a:lstStyle/>
          <a:p>
            <a:endParaRPr lang="fr-FR"/>
          </a:p>
        </p:txBody>
      </p:sp>
      <p:sp>
        <p:nvSpPr>
          <p:cNvPr id="11" name="Shape 9"/>
          <p:cNvSpPr/>
          <p:nvPr/>
        </p:nvSpPr>
        <p:spPr>
          <a:xfrm>
            <a:off x="4818888" y="1143000"/>
            <a:ext cx="411480" cy="411480"/>
          </a:xfrm>
          <a:prstGeom prst="ellipse">
            <a:avLst/>
          </a:prstGeom>
          <a:solidFill>
            <a:srgbClr val="FFFFFF">
              <a:alpha val="20000"/>
            </a:srgbClr>
          </a:solidFill>
          <a:ln w="12700">
            <a:solidFill>
              <a:srgbClr val="FFFFFF">
                <a:alpha val="20000"/>
              </a:srgbClr>
            </a:solidFill>
            <a:prstDash val="solid"/>
          </a:ln>
        </p:spPr>
        <p:txBody>
          <a:bodyPr/>
          <a:lstStyle/>
          <a:p>
            <a:endParaRPr lang="fr-FR"/>
          </a:p>
        </p:txBody>
      </p:sp>
      <p:sp>
        <p:nvSpPr>
          <p:cNvPr id="12" name="Text 10"/>
          <p:cNvSpPr/>
          <p:nvPr/>
        </p:nvSpPr>
        <p:spPr>
          <a:xfrm>
            <a:off x="4818888" y="114300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p:nvPr/>
        </p:nvSpPr>
        <p:spPr>
          <a:xfrm>
            <a:off x="5349240" y="1161288"/>
            <a:ext cx="3246120" cy="38404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Prime de trajet</a:t>
            </a:r>
            <a:endParaRPr lang="en-US" sz="1300" dirty="0"/>
          </a:p>
        </p:txBody>
      </p:sp>
      <p:sp>
        <p:nvSpPr>
          <p:cNvPr id="14" name="Shape 12"/>
          <p:cNvSpPr/>
          <p:nvPr/>
        </p:nvSpPr>
        <p:spPr>
          <a:xfrm>
            <a:off x="4846320" y="1645920"/>
            <a:ext cx="3749040" cy="0"/>
          </a:xfrm>
          <a:prstGeom prst="line">
            <a:avLst/>
          </a:prstGeom>
          <a:noFill/>
          <a:ln w="12700">
            <a:solidFill>
              <a:srgbClr val="FFFFFF">
                <a:alpha val="40000"/>
              </a:srgbClr>
            </a:solidFill>
            <a:prstDash val="solid"/>
          </a:ln>
        </p:spPr>
        <p:txBody>
          <a:bodyPr/>
          <a:lstStyle/>
          <a:p>
            <a:endParaRPr lang="fr-FR"/>
          </a:p>
        </p:txBody>
      </p:sp>
      <p:sp>
        <p:nvSpPr>
          <p:cNvPr id="15" name="Text 13"/>
          <p:cNvSpPr/>
          <p:nvPr/>
        </p:nvSpPr>
        <p:spPr>
          <a:xfrm>
            <a:off x="4846320" y="1737360"/>
            <a:ext cx="3749040" cy="1005840"/>
          </a:xfrm>
          <a:prstGeom prst="rect">
            <a:avLst/>
          </a:prstGeom>
          <a:noFill/>
          <a:ln/>
        </p:spPr>
        <p:txBody>
          <a:bodyPr wrap="square" lIns="0" tIns="0" rIns="0" bIns="0" rtlCol="0" anchor="ctr"/>
          <a:lstStyle/>
          <a:p>
            <a:pPr marL="0" indent="0">
              <a:buNone/>
            </a:pPr>
            <a:r>
              <a:rPr lang="en-US" sz="1100" dirty="0">
                <a:solidFill>
                  <a:srgbClr val="BDD7EE"/>
                </a:solidFill>
                <a:latin typeface="Arial" pitchFamily="34" charset="0"/>
                <a:ea typeface="Arial" pitchFamily="34" charset="-122"/>
                <a:cs typeface="Arial" pitchFamily="34" charset="-120"/>
              </a:rPr>
              <a:t>Table detaillee par salarie</a:t>
            </a:r>
            <a:endParaRPr lang="en-US" sz="1100" dirty="0"/>
          </a:p>
          <a:p>
            <a:pPr marL="0" indent="0">
              <a:buNone/>
            </a:pPr>
            <a:r>
              <a:rPr lang="en-US" sz="1100" dirty="0">
                <a:solidFill>
                  <a:srgbClr val="BDD7EE"/>
                </a:solidFill>
                <a:latin typeface="Arial" pitchFamily="34" charset="0"/>
                <a:ea typeface="Arial" pitchFamily="34" charset="-122"/>
                <a:cs typeface="Arial" pitchFamily="34" charset="-120"/>
              </a:rPr>
              <a:t>Graphique montant par BU</a:t>
            </a:r>
            <a:endParaRPr lang="en-US" sz="1100" dirty="0"/>
          </a:p>
        </p:txBody>
      </p:sp>
      <p:sp>
        <p:nvSpPr>
          <p:cNvPr id="16" name="Shape 14"/>
          <p:cNvSpPr/>
          <p:nvPr/>
        </p:nvSpPr>
        <p:spPr>
          <a:xfrm>
            <a:off x="365760" y="2971800"/>
            <a:ext cx="4023360" cy="1783080"/>
          </a:xfrm>
          <a:prstGeom prst="rect">
            <a:avLst/>
          </a:prstGeom>
          <a:solidFill>
            <a:srgbClr val="2E75B6"/>
          </a:solidFill>
          <a:ln w="12700">
            <a:solidFill>
              <a:srgbClr val="2E75B6"/>
            </a:solidFill>
            <a:prstDash val="solid"/>
          </a:ln>
          <a:effectLst>
            <a:outerShdw blurRad="101600" dist="25400" dir="8100000" algn="bl" rotWithShape="0">
              <a:srgbClr val="000000">
                <a:alpha val="12000"/>
              </a:srgbClr>
            </a:outerShdw>
          </a:effectLst>
        </p:spPr>
        <p:txBody>
          <a:bodyPr/>
          <a:lstStyle/>
          <a:p>
            <a:endParaRPr lang="fr-FR"/>
          </a:p>
        </p:txBody>
      </p:sp>
      <p:sp>
        <p:nvSpPr>
          <p:cNvPr id="17" name="Shape 15"/>
          <p:cNvSpPr/>
          <p:nvPr/>
        </p:nvSpPr>
        <p:spPr>
          <a:xfrm>
            <a:off x="475488" y="3063240"/>
            <a:ext cx="411480" cy="411480"/>
          </a:xfrm>
          <a:prstGeom prst="ellipse">
            <a:avLst/>
          </a:prstGeom>
          <a:solidFill>
            <a:srgbClr val="FFFFFF">
              <a:alpha val="20000"/>
            </a:srgbClr>
          </a:solidFill>
          <a:ln w="12700">
            <a:solidFill>
              <a:srgbClr val="FFFFFF">
                <a:alpha val="20000"/>
              </a:srgbClr>
            </a:solidFill>
            <a:prstDash val="solid"/>
          </a:ln>
        </p:spPr>
        <p:txBody>
          <a:bodyPr/>
          <a:lstStyle/>
          <a:p>
            <a:endParaRPr lang="fr-FR"/>
          </a:p>
        </p:txBody>
      </p:sp>
      <p:sp>
        <p:nvSpPr>
          <p:cNvPr id="18" name="Text 16"/>
          <p:cNvSpPr/>
          <p:nvPr/>
        </p:nvSpPr>
        <p:spPr>
          <a:xfrm>
            <a:off x="475488" y="30632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 17"/>
          <p:cNvSpPr/>
          <p:nvPr/>
        </p:nvSpPr>
        <p:spPr>
          <a:xfrm>
            <a:off x="1005840" y="3081528"/>
            <a:ext cx="3246120" cy="38404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5 Jours bien-etre</a:t>
            </a:r>
            <a:endParaRPr lang="en-US" sz="1300" dirty="0"/>
          </a:p>
        </p:txBody>
      </p:sp>
      <p:sp>
        <p:nvSpPr>
          <p:cNvPr id="20" name="Shape 18"/>
          <p:cNvSpPr/>
          <p:nvPr/>
        </p:nvSpPr>
        <p:spPr>
          <a:xfrm>
            <a:off x="502920" y="3566160"/>
            <a:ext cx="3749040" cy="0"/>
          </a:xfrm>
          <a:prstGeom prst="line">
            <a:avLst/>
          </a:prstGeom>
          <a:noFill/>
          <a:ln w="12700">
            <a:solidFill>
              <a:srgbClr val="FFFFFF">
                <a:alpha val="40000"/>
              </a:srgbClr>
            </a:solidFill>
            <a:prstDash val="solid"/>
          </a:ln>
        </p:spPr>
        <p:txBody>
          <a:bodyPr/>
          <a:lstStyle/>
          <a:p>
            <a:endParaRPr lang="fr-FR"/>
          </a:p>
        </p:txBody>
      </p:sp>
      <p:sp>
        <p:nvSpPr>
          <p:cNvPr id="21" name="Text 19"/>
          <p:cNvSpPr/>
          <p:nvPr/>
        </p:nvSpPr>
        <p:spPr>
          <a:xfrm>
            <a:off x="502920" y="3657600"/>
            <a:ext cx="3749040" cy="1005840"/>
          </a:xfrm>
          <a:prstGeom prst="rect">
            <a:avLst/>
          </a:prstGeom>
          <a:noFill/>
          <a:ln/>
        </p:spPr>
        <p:txBody>
          <a:bodyPr wrap="square" lIns="0" tIns="0" rIns="0" bIns="0" rtlCol="0" anchor="ctr"/>
          <a:lstStyle/>
          <a:p>
            <a:pPr marL="0" indent="0">
              <a:buNone/>
            </a:pPr>
            <a:r>
              <a:rPr lang="en-US" sz="1100" dirty="0">
                <a:solidFill>
                  <a:srgbClr val="BDD7EE"/>
                </a:solidFill>
                <a:latin typeface="Arial" pitchFamily="34" charset="0"/>
                <a:ea typeface="Arial" pitchFamily="34" charset="-122"/>
                <a:cs typeface="Arial" pitchFamily="34" charset="-120"/>
              </a:rPr>
              <a:t>Histogramme activites + seuil 15 (ligne rouge)</a:t>
            </a:r>
            <a:endParaRPr lang="en-US" sz="1100" dirty="0"/>
          </a:p>
          <a:p>
            <a:pPr marL="0" indent="0">
              <a:buNone/>
            </a:pPr>
            <a:r>
              <a:rPr lang="en-US" sz="1100" dirty="0">
                <a:solidFill>
                  <a:srgbClr val="BDD7EE"/>
                </a:solidFill>
                <a:latin typeface="Arial" pitchFamily="34" charset="0"/>
                <a:ea typeface="Arial" pitchFamily="34" charset="-122"/>
                <a:cs typeface="Arial" pitchFamily="34" charset="-120"/>
              </a:rPr>
              <a:t>Eligibilite par salarie</a:t>
            </a:r>
            <a:endParaRPr lang="en-US" sz="1100" dirty="0"/>
          </a:p>
        </p:txBody>
      </p:sp>
      <p:sp>
        <p:nvSpPr>
          <p:cNvPr id="22" name="Shape 20"/>
          <p:cNvSpPr/>
          <p:nvPr/>
        </p:nvSpPr>
        <p:spPr>
          <a:xfrm>
            <a:off x="4709160" y="2971800"/>
            <a:ext cx="4023360" cy="1783080"/>
          </a:xfrm>
          <a:prstGeom prst="rect">
            <a:avLst/>
          </a:prstGeom>
          <a:solidFill>
            <a:srgbClr val="70AD47"/>
          </a:solidFill>
          <a:ln w="12700">
            <a:solidFill>
              <a:srgbClr val="70AD47"/>
            </a:solidFill>
            <a:prstDash val="solid"/>
          </a:ln>
          <a:effectLst>
            <a:outerShdw blurRad="101600" dist="25400" dir="8100000" algn="bl" rotWithShape="0">
              <a:srgbClr val="000000">
                <a:alpha val="12000"/>
              </a:srgbClr>
            </a:outerShdw>
          </a:effectLst>
        </p:spPr>
        <p:txBody>
          <a:bodyPr/>
          <a:lstStyle/>
          <a:p>
            <a:endParaRPr lang="fr-FR"/>
          </a:p>
        </p:txBody>
      </p:sp>
      <p:sp>
        <p:nvSpPr>
          <p:cNvPr id="23" name="Shape 21"/>
          <p:cNvSpPr/>
          <p:nvPr/>
        </p:nvSpPr>
        <p:spPr>
          <a:xfrm>
            <a:off x="4818888" y="3063240"/>
            <a:ext cx="411480" cy="411480"/>
          </a:xfrm>
          <a:prstGeom prst="ellipse">
            <a:avLst/>
          </a:prstGeom>
          <a:solidFill>
            <a:srgbClr val="FFFFFF">
              <a:alpha val="20000"/>
            </a:srgbClr>
          </a:solidFill>
          <a:ln w="12700">
            <a:solidFill>
              <a:srgbClr val="FFFFFF">
                <a:alpha val="20000"/>
              </a:srgbClr>
            </a:solidFill>
            <a:prstDash val="solid"/>
          </a:ln>
        </p:spPr>
        <p:txBody>
          <a:bodyPr/>
          <a:lstStyle/>
          <a:p>
            <a:endParaRPr lang="fr-FR"/>
          </a:p>
        </p:txBody>
      </p:sp>
      <p:sp>
        <p:nvSpPr>
          <p:cNvPr id="24" name="Text 22"/>
          <p:cNvSpPr/>
          <p:nvPr/>
        </p:nvSpPr>
        <p:spPr>
          <a:xfrm>
            <a:off x="4818888" y="30632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5" name="Text 23"/>
          <p:cNvSpPr/>
          <p:nvPr/>
        </p:nvSpPr>
        <p:spPr>
          <a:xfrm>
            <a:off x="5349240" y="3081528"/>
            <a:ext cx="3246120" cy="38404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Activites sportives</a:t>
            </a:r>
            <a:endParaRPr lang="en-US" sz="1300" dirty="0"/>
          </a:p>
        </p:txBody>
      </p:sp>
      <p:sp>
        <p:nvSpPr>
          <p:cNvPr id="26" name="Shape 24"/>
          <p:cNvSpPr/>
          <p:nvPr/>
        </p:nvSpPr>
        <p:spPr>
          <a:xfrm>
            <a:off x="4846320" y="3566160"/>
            <a:ext cx="3749040" cy="0"/>
          </a:xfrm>
          <a:prstGeom prst="line">
            <a:avLst/>
          </a:prstGeom>
          <a:noFill/>
          <a:ln w="12700">
            <a:solidFill>
              <a:srgbClr val="FFFFFF">
                <a:alpha val="40000"/>
              </a:srgbClr>
            </a:solidFill>
            <a:prstDash val="solid"/>
          </a:ln>
        </p:spPr>
        <p:txBody>
          <a:bodyPr/>
          <a:lstStyle/>
          <a:p>
            <a:endParaRPr lang="fr-FR"/>
          </a:p>
        </p:txBody>
      </p:sp>
      <p:sp>
        <p:nvSpPr>
          <p:cNvPr id="27" name="Text 25"/>
          <p:cNvSpPr/>
          <p:nvPr/>
        </p:nvSpPr>
        <p:spPr>
          <a:xfrm>
            <a:off x="4846320" y="3657600"/>
            <a:ext cx="3749040" cy="1005840"/>
          </a:xfrm>
          <a:prstGeom prst="rect">
            <a:avLst/>
          </a:prstGeom>
          <a:noFill/>
          <a:ln/>
        </p:spPr>
        <p:txBody>
          <a:bodyPr wrap="square" lIns="0" tIns="0" rIns="0" bIns="0" rtlCol="0" anchor="ctr"/>
          <a:lstStyle/>
          <a:p>
            <a:pPr marL="0" indent="0">
              <a:buNone/>
            </a:pPr>
            <a:r>
              <a:rPr lang="en-US" sz="1100" dirty="0">
                <a:solidFill>
                  <a:srgbClr val="BDD7EE"/>
                </a:solidFill>
                <a:latin typeface="Arial" pitchFamily="34" charset="0"/>
                <a:ea typeface="Arial" pitchFamily="34" charset="-122"/>
                <a:cs typeface="Arial" pitchFamily="34" charset="-120"/>
              </a:rPr>
              <a:t>Top sports pratiques</a:t>
            </a:r>
            <a:endParaRPr lang="en-US" sz="1100" dirty="0"/>
          </a:p>
          <a:p>
            <a:pPr marL="0" indent="0">
              <a:buNone/>
            </a:pPr>
            <a:r>
              <a:rPr lang="en-US" sz="1100" dirty="0">
                <a:solidFill>
                  <a:srgbClr val="BDD7EE"/>
                </a:solidFill>
                <a:latin typeface="Arial" pitchFamily="34" charset="0"/>
                <a:ea typeface="Arial" pitchFamily="34" charset="-122"/>
                <a:cs typeface="Arial" pitchFamily="34" charset="-120"/>
              </a:rPr>
              <a:t>Evolution mensuelle + historique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marL="0" indent="0">
              <a:buNone/>
            </a:pPr>
            <a:r>
              <a:rPr lang="en-US" sz="2600" b="1" dirty="0">
                <a:solidFill>
                  <a:srgbClr val="1F4E79"/>
                </a:solidFill>
                <a:latin typeface="Arial" pitchFamily="34" charset="0"/>
                <a:ea typeface="Arial" pitchFamily="34" charset="-122"/>
                <a:cs typeface="Arial" pitchFamily="34" charset="-120"/>
              </a:rPr>
              <a:t>Rapport PowerBI — Vue Employe</a:t>
            </a:r>
            <a:endParaRPr lang="en-US" sz="2600" dirty="0"/>
          </a:p>
        </p:txBody>
      </p:sp>
      <p:sp>
        <p:nvSpPr>
          <p:cNvPr id="3" name="Shape 1"/>
          <p:cNvSpPr/>
          <p:nvPr/>
        </p:nvSpPr>
        <p:spPr>
          <a:xfrm>
            <a:off x="457200" y="896112"/>
            <a:ext cx="1097280" cy="54864"/>
          </a:xfrm>
          <a:prstGeom prst="rect">
            <a:avLst/>
          </a:prstGeom>
          <a:solidFill>
            <a:srgbClr val="2E75B6"/>
          </a:solidFill>
          <a:ln w="12700">
            <a:solidFill>
              <a:srgbClr val="2E75B6"/>
            </a:solidFill>
            <a:prstDash val="solid"/>
          </a:ln>
        </p:spPr>
        <p:txBody>
          <a:bodyPr/>
          <a:lstStyle/>
          <a:p>
            <a:endParaRPr lang="fr-FR"/>
          </a:p>
        </p:txBody>
      </p:sp>
      <p:sp>
        <p:nvSpPr>
          <p:cNvPr id="4" name="Shape 2"/>
          <p:cNvSpPr/>
          <p:nvPr/>
        </p:nvSpPr>
        <p:spPr>
          <a:xfrm>
            <a:off x="365760" y="1051560"/>
            <a:ext cx="4023360" cy="3383280"/>
          </a:xfrm>
          <a:prstGeom prst="rect">
            <a:avLst/>
          </a:prstGeom>
          <a:solidFill>
            <a:srgbClr val="D6E4F0"/>
          </a:solidFill>
          <a:ln w="12700">
            <a:solidFill>
              <a:srgbClr val="2E75B6"/>
            </a:solidFill>
            <a:prstDash val="solid"/>
          </a:ln>
          <a:effectLst>
            <a:outerShdw blurRad="101600" dist="25400" dir="8100000" algn="bl" rotWithShape="0">
              <a:srgbClr val="000000">
                <a:alpha val="12000"/>
              </a:srgbClr>
            </a:outerShdw>
          </a:effectLst>
        </p:spPr>
        <p:txBody>
          <a:bodyPr/>
          <a:lstStyle/>
          <a:p>
            <a:endParaRPr lang="fr-FR"/>
          </a:p>
        </p:txBody>
      </p:sp>
      <p:sp>
        <p:nvSpPr>
          <p:cNvPr id="5" name="Text 3"/>
          <p:cNvSpPr/>
          <p:nvPr/>
        </p:nvSpPr>
        <p:spPr>
          <a:xfrm>
            <a:off x="502920" y="1143000"/>
            <a:ext cx="3749040" cy="365760"/>
          </a:xfrm>
          <a:prstGeom prst="rect">
            <a:avLst/>
          </a:prstGeom>
          <a:noFill/>
          <a:ln/>
        </p:spPr>
        <p:txBody>
          <a:bodyPr wrap="square" lIns="0" tIns="0" rIns="0" bIns="0" rtlCol="0" anchor="ctr"/>
          <a:lstStyle/>
          <a:p>
            <a:pPr marL="0" indent="0">
              <a:buNone/>
            </a:pPr>
            <a:r>
              <a:rPr lang="en-US" sz="1300" b="1" dirty="0">
                <a:solidFill>
                  <a:srgbClr val="1F4E79"/>
                </a:solidFill>
                <a:latin typeface="Arial" pitchFamily="34" charset="0"/>
                <a:ea typeface="Arial" pitchFamily="34" charset="-122"/>
                <a:cs typeface="Arial" pitchFamily="34" charset="-120"/>
              </a:rPr>
              <a:t>Page 1 — Mon tableau de bord</a:t>
            </a:r>
            <a:endParaRPr lang="en-US" sz="1300" dirty="0"/>
          </a:p>
        </p:txBody>
      </p:sp>
      <p:sp>
        <p:nvSpPr>
          <p:cNvPr id="6" name="Text 4"/>
          <p:cNvSpPr/>
          <p:nvPr/>
        </p:nvSpPr>
        <p:spPr>
          <a:xfrm>
            <a:off x="502920" y="1554480"/>
            <a:ext cx="3749040" cy="2788920"/>
          </a:xfrm>
          <a:prstGeom prst="rect">
            <a:avLst/>
          </a:prstGeom>
          <a:noFill/>
          <a:ln/>
        </p:spPr>
        <p:txBody>
          <a:bodyPr wrap="square" lIns="0" tIns="0" rIns="0" bIns="0" rtlCol="0" anchor="ctr"/>
          <a:lstStyle/>
          <a:p>
            <a:pPr marL="342900" indent="-342900">
              <a:spcAft>
                <a:spcPts val="300"/>
              </a:spcAft>
              <a:buSzPct val="100000"/>
              <a:buChar char="•"/>
            </a:pPr>
            <a:r>
              <a:rPr lang="en-US" sz="1100" dirty="0">
                <a:solidFill>
                  <a:srgbClr val="1A1A2E"/>
                </a:solidFill>
                <a:latin typeface="Arial" pitchFamily="34" charset="0"/>
                <a:ea typeface="Arial" pitchFamily="34" charset="-122"/>
                <a:cs typeface="Arial" pitchFamily="34" charset="-120"/>
              </a:rPr>
              <a:t>Jauge : mes activites vs seuil 15</a:t>
            </a:r>
            <a:endParaRPr lang="en-US" sz="1100" dirty="0"/>
          </a:p>
          <a:p>
            <a:pPr marL="342900" indent="-342900">
              <a:spcAft>
                <a:spcPts val="300"/>
              </a:spcAft>
              <a:buSzPct val="100000"/>
              <a:buChar char="•"/>
            </a:pPr>
            <a:r>
              <a:rPr lang="en-US" sz="1100" dirty="0">
                <a:solidFill>
                  <a:srgbClr val="1A1A2E"/>
                </a:solidFill>
                <a:latin typeface="Arial" pitchFamily="34" charset="0"/>
                <a:ea typeface="Arial" pitchFamily="34" charset="-122"/>
                <a:cs typeface="Arial" pitchFamily="34" charset="-120"/>
              </a:rPr>
              <a:t>Carte : eligibilite 5 jours bien-etre</a:t>
            </a:r>
            <a:endParaRPr lang="en-US" sz="1100" dirty="0"/>
          </a:p>
          <a:p>
            <a:pPr marL="342900" indent="-342900">
              <a:spcAft>
                <a:spcPts val="300"/>
              </a:spcAft>
              <a:buSzPct val="100000"/>
              <a:buChar char="•"/>
            </a:pPr>
            <a:r>
              <a:rPr lang="en-US" sz="1100" dirty="0">
                <a:solidFill>
                  <a:srgbClr val="1A1A2E"/>
                </a:solidFill>
                <a:latin typeface="Arial" pitchFamily="34" charset="0"/>
                <a:ea typeface="Arial" pitchFamily="34" charset="-122"/>
                <a:cs typeface="Arial" pitchFamily="34" charset="-120"/>
              </a:rPr>
              <a:t>Carte : eligibilite prime trajet</a:t>
            </a:r>
            <a:endParaRPr lang="en-US" sz="1100" dirty="0"/>
          </a:p>
          <a:p>
            <a:pPr marL="342900" indent="-342900">
              <a:spcAft>
                <a:spcPts val="300"/>
              </a:spcAft>
              <a:buSzPct val="100000"/>
              <a:buChar char="•"/>
            </a:pPr>
            <a:r>
              <a:rPr lang="en-US" sz="1100" dirty="0">
                <a:solidFill>
                  <a:srgbClr val="1A1A2E"/>
                </a:solidFill>
                <a:latin typeface="Arial" pitchFamily="34" charset="0"/>
                <a:ea typeface="Arial" pitchFamily="34" charset="-122"/>
                <a:cs typeface="Arial" pitchFamily="34" charset="-120"/>
              </a:rPr>
              <a:t>Selecteur d'identifiant employe</a:t>
            </a:r>
            <a:endParaRPr lang="en-US" sz="1100" dirty="0"/>
          </a:p>
        </p:txBody>
      </p:sp>
      <p:sp>
        <p:nvSpPr>
          <p:cNvPr id="7" name="Shape 5"/>
          <p:cNvSpPr/>
          <p:nvPr/>
        </p:nvSpPr>
        <p:spPr>
          <a:xfrm>
            <a:off x="4754880" y="1051560"/>
            <a:ext cx="4023360" cy="3383280"/>
          </a:xfrm>
          <a:prstGeom prst="rect">
            <a:avLst/>
          </a:prstGeom>
          <a:solidFill>
            <a:srgbClr val="D6E4F0"/>
          </a:solidFill>
          <a:ln w="12700">
            <a:solidFill>
              <a:srgbClr val="2E75B6"/>
            </a:solidFill>
            <a:prstDash val="solid"/>
          </a:ln>
          <a:effectLst>
            <a:outerShdw blurRad="101600" dist="25400" dir="8100000" algn="bl" rotWithShape="0">
              <a:srgbClr val="000000">
                <a:alpha val="12000"/>
              </a:srgbClr>
            </a:outerShdw>
          </a:effectLst>
        </p:spPr>
        <p:txBody>
          <a:bodyPr/>
          <a:lstStyle/>
          <a:p>
            <a:endParaRPr lang="fr-FR"/>
          </a:p>
        </p:txBody>
      </p:sp>
      <p:sp>
        <p:nvSpPr>
          <p:cNvPr id="8" name="Text 6"/>
          <p:cNvSpPr/>
          <p:nvPr/>
        </p:nvSpPr>
        <p:spPr>
          <a:xfrm>
            <a:off x="4892040" y="1143000"/>
            <a:ext cx="3749040" cy="365760"/>
          </a:xfrm>
          <a:prstGeom prst="rect">
            <a:avLst/>
          </a:prstGeom>
          <a:noFill/>
          <a:ln/>
        </p:spPr>
        <p:txBody>
          <a:bodyPr wrap="square" lIns="0" tIns="0" rIns="0" bIns="0" rtlCol="0" anchor="ctr"/>
          <a:lstStyle/>
          <a:p>
            <a:pPr marL="0" indent="0">
              <a:buNone/>
            </a:pPr>
            <a:r>
              <a:rPr lang="en-US" sz="1300" b="1" dirty="0">
                <a:solidFill>
                  <a:srgbClr val="1F4E79"/>
                </a:solidFill>
                <a:latin typeface="Arial" pitchFamily="34" charset="0"/>
                <a:ea typeface="Arial" pitchFamily="34" charset="-122"/>
                <a:cs typeface="Arial" pitchFamily="34" charset="-120"/>
              </a:rPr>
              <a:t>Page 2 — Mes activites</a:t>
            </a:r>
            <a:endParaRPr lang="en-US" sz="1300" dirty="0"/>
          </a:p>
        </p:txBody>
      </p:sp>
      <p:sp>
        <p:nvSpPr>
          <p:cNvPr id="9" name="Text 7"/>
          <p:cNvSpPr/>
          <p:nvPr/>
        </p:nvSpPr>
        <p:spPr>
          <a:xfrm>
            <a:off x="4892040" y="1554480"/>
            <a:ext cx="3749040" cy="2788920"/>
          </a:xfrm>
          <a:prstGeom prst="rect">
            <a:avLst/>
          </a:prstGeom>
          <a:noFill/>
          <a:ln/>
        </p:spPr>
        <p:txBody>
          <a:bodyPr wrap="square" lIns="0" tIns="0" rIns="0" bIns="0" rtlCol="0" anchor="ctr"/>
          <a:lstStyle/>
          <a:p>
            <a:pPr marL="342900" indent="-342900">
              <a:spcAft>
                <a:spcPts val="300"/>
              </a:spcAft>
              <a:buSzPct val="100000"/>
              <a:buChar char="•"/>
            </a:pPr>
            <a:r>
              <a:rPr lang="en-US" sz="1100" dirty="0">
                <a:solidFill>
                  <a:srgbClr val="1A1A2E"/>
                </a:solidFill>
                <a:latin typeface="Arial" pitchFamily="34" charset="0"/>
                <a:ea typeface="Arial" pitchFamily="34" charset="-122"/>
                <a:cs typeface="Arial" pitchFamily="34" charset="-120"/>
              </a:rPr>
              <a:t>Courbe d'evolution mensuelle</a:t>
            </a:r>
            <a:endParaRPr lang="en-US" sz="1100" dirty="0"/>
          </a:p>
          <a:p>
            <a:pPr marL="342900" indent="-342900">
              <a:spcAft>
                <a:spcPts val="300"/>
              </a:spcAft>
              <a:buSzPct val="100000"/>
              <a:buChar char="•"/>
            </a:pPr>
            <a:r>
              <a:rPr lang="en-US" sz="1100" dirty="0">
                <a:solidFill>
                  <a:srgbClr val="1A1A2E"/>
                </a:solidFill>
                <a:latin typeface="Arial" pitchFamily="34" charset="0"/>
                <a:ea typeface="Arial" pitchFamily="34" charset="-122"/>
                <a:cs typeface="Arial" pitchFamily="34" charset="-120"/>
              </a:rPr>
              <a:t>Repartition par type de sport</a:t>
            </a:r>
            <a:endParaRPr lang="en-US" sz="1100" dirty="0"/>
          </a:p>
          <a:p>
            <a:pPr marL="342900" indent="-342900">
              <a:spcAft>
                <a:spcPts val="300"/>
              </a:spcAft>
              <a:buSzPct val="100000"/>
              <a:buChar char="•"/>
            </a:pPr>
            <a:r>
              <a:rPr lang="en-US" sz="1100" dirty="0">
                <a:solidFill>
                  <a:srgbClr val="1A1A2E"/>
                </a:solidFill>
                <a:latin typeface="Arial" pitchFamily="34" charset="0"/>
                <a:ea typeface="Arial" pitchFamily="34" charset="-122"/>
                <a:cs typeface="Arial" pitchFamily="34" charset="-120"/>
              </a:rPr>
              <a:t>Historique de toutes mes activites</a:t>
            </a:r>
            <a:endParaRPr lang="en-US" sz="1100" dirty="0"/>
          </a:p>
        </p:txBody>
      </p:sp>
      <p:sp>
        <p:nvSpPr>
          <p:cNvPr id="10" name="Shape 8"/>
          <p:cNvSpPr/>
          <p:nvPr/>
        </p:nvSpPr>
        <p:spPr>
          <a:xfrm>
            <a:off x="365760" y="4526280"/>
            <a:ext cx="8412480" cy="411480"/>
          </a:xfrm>
          <a:prstGeom prst="rect">
            <a:avLst/>
          </a:prstGeom>
          <a:solidFill>
            <a:srgbClr val="FEF9E7"/>
          </a:solidFill>
          <a:ln w="12700">
            <a:solidFill>
              <a:srgbClr val="F39C12"/>
            </a:solidFill>
            <a:prstDash val="solid"/>
          </a:ln>
        </p:spPr>
        <p:txBody>
          <a:bodyPr/>
          <a:lstStyle/>
          <a:p>
            <a:endParaRPr lang="fr-FR"/>
          </a:p>
        </p:txBody>
      </p:sp>
      <p:sp>
        <p:nvSpPr>
          <p:cNvPr id="11" name="Text 9"/>
          <p:cNvSpPr/>
          <p:nvPr/>
        </p:nvSpPr>
        <p:spPr>
          <a:xfrm>
            <a:off x="548640" y="4553712"/>
            <a:ext cx="8046720" cy="347472"/>
          </a:xfrm>
          <a:prstGeom prst="rect">
            <a:avLst/>
          </a:prstGeom>
          <a:noFill/>
          <a:ln/>
        </p:spPr>
        <p:txBody>
          <a:bodyPr wrap="square" lIns="0" tIns="0" rIns="0" bIns="0" rtlCol="0" anchor="ctr"/>
          <a:lstStyle/>
          <a:p>
            <a:pPr marL="0" indent="0">
              <a:buNone/>
            </a:pPr>
            <a:r>
              <a:rPr lang="en-US" sz="1000" i="1" dirty="0">
                <a:solidFill>
                  <a:srgbClr val="7D6608"/>
                </a:solidFill>
                <a:latin typeface="Arial" pitchFamily="34" charset="0"/>
                <a:ea typeface="Arial" pitchFamily="34" charset="-122"/>
                <a:cs typeface="Arial" pitchFamily="34" charset="-120"/>
              </a:rPr>
              <a:t>En production : Row-Level Security via PowerBI Service — chaque employe ne voit que ses propres donnees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marL="0" indent="0">
              <a:buNone/>
            </a:pPr>
            <a:r>
              <a:rPr lang="en-US" sz="2600" b="1" dirty="0">
                <a:solidFill>
                  <a:srgbClr val="1F4E79"/>
                </a:solidFill>
                <a:latin typeface="Arial" pitchFamily="34" charset="0"/>
                <a:ea typeface="Arial" pitchFamily="34" charset="-122"/>
                <a:cs typeface="Arial" pitchFamily="34" charset="-120"/>
              </a:rPr>
              <a:t>Resultats du POC</a:t>
            </a:r>
            <a:endParaRPr lang="en-US" sz="2600" dirty="0"/>
          </a:p>
        </p:txBody>
      </p:sp>
      <p:sp>
        <p:nvSpPr>
          <p:cNvPr id="3" name="Shape 1"/>
          <p:cNvSpPr/>
          <p:nvPr/>
        </p:nvSpPr>
        <p:spPr>
          <a:xfrm>
            <a:off x="457200" y="896112"/>
            <a:ext cx="1097280" cy="54864"/>
          </a:xfrm>
          <a:prstGeom prst="rect">
            <a:avLst/>
          </a:prstGeom>
          <a:solidFill>
            <a:srgbClr val="2E75B6"/>
          </a:solidFill>
          <a:ln w="12700">
            <a:solidFill>
              <a:srgbClr val="2E75B6"/>
            </a:solidFill>
            <a:prstDash val="solid"/>
          </a:ln>
        </p:spPr>
        <p:txBody>
          <a:bodyPr/>
          <a:lstStyle/>
          <a:p>
            <a:endParaRPr lang="fr-FR"/>
          </a:p>
        </p:txBody>
      </p:sp>
      <p:sp>
        <p:nvSpPr>
          <p:cNvPr id="4" name="Shape 2"/>
          <p:cNvSpPr/>
          <p:nvPr/>
        </p:nvSpPr>
        <p:spPr>
          <a:xfrm>
            <a:off x="365760" y="1051560"/>
            <a:ext cx="2560320" cy="1371600"/>
          </a:xfrm>
          <a:prstGeom prst="rect">
            <a:avLst/>
          </a:prstGeom>
          <a:solidFill>
            <a:srgbClr val="1F4E79"/>
          </a:solidFill>
          <a:ln w="12700">
            <a:solidFill>
              <a:srgbClr val="1F4E79"/>
            </a:solidFill>
            <a:prstDash val="solid"/>
          </a:ln>
          <a:effectLst>
            <a:outerShdw blurRad="101600" dist="25400" dir="8100000" algn="bl" rotWithShape="0">
              <a:srgbClr val="000000">
                <a:alpha val="12000"/>
              </a:srgbClr>
            </a:outerShdw>
          </a:effectLst>
        </p:spPr>
        <p:txBody>
          <a:bodyPr/>
          <a:lstStyle/>
          <a:p>
            <a:endParaRPr lang="fr-FR"/>
          </a:p>
        </p:txBody>
      </p:sp>
      <p:sp>
        <p:nvSpPr>
          <p:cNvPr id="5" name="Text 3"/>
          <p:cNvSpPr/>
          <p:nvPr/>
        </p:nvSpPr>
        <p:spPr>
          <a:xfrm>
            <a:off x="365760" y="1097280"/>
            <a:ext cx="2560320" cy="777240"/>
          </a:xfrm>
          <a:prstGeom prst="rect">
            <a:avLst/>
          </a:prstGeom>
          <a:noFill/>
          <a:ln/>
        </p:spPr>
        <p:txBody>
          <a:bodyPr wrap="square" lIns="0" tIns="0" rIns="0" bIns="0"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161</a:t>
            </a:r>
            <a:endParaRPr lang="en-US" sz="4000" dirty="0"/>
          </a:p>
        </p:txBody>
      </p:sp>
      <p:sp>
        <p:nvSpPr>
          <p:cNvPr id="6" name="Text 4"/>
          <p:cNvSpPr/>
          <p:nvPr/>
        </p:nvSpPr>
        <p:spPr>
          <a:xfrm>
            <a:off x="365760" y="1828800"/>
            <a:ext cx="2560320" cy="502920"/>
          </a:xfrm>
          <a:prstGeom prst="rect">
            <a:avLst/>
          </a:prstGeom>
          <a:noFill/>
          <a:ln/>
        </p:spPr>
        <p:txBody>
          <a:bodyPr wrap="square" lIns="0" tIns="0" rIns="0" bIns="0" rtlCol="0" anchor="ctr"/>
          <a:lstStyle/>
          <a:p>
            <a:pPr marL="0" indent="0" algn="ctr">
              <a:buNone/>
            </a:pPr>
            <a:r>
              <a:rPr lang="en-US" sz="1100" dirty="0">
                <a:solidFill>
                  <a:srgbClr val="BDD7EE"/>
                </a:solidFill>
                <a:latin typeface="Arial" pitchFamily="34" charset="0"/>
                <a:ea typeface="Arial" pitchFamily="34" charset="-122"/>
                <a:cs typeface="Arial" pitchFamily="34" charset="-120"/>
              </a:rPr>
              <a:t>salaries en base RH</a:t>
            </a:r>
            <a:endParaRPr lang="en-US" sz="1100" dirty="0"/>
          </a:p>
        </p:txBody>
      </p:sp>
      <p:sp>
        <p:nvSpPr>
          <p:cNvPr id="7" name="Shape 5"/>
          <p:cNvSpPr/>
          <p:nvPr/>
        </p:nvSpPr>
        <p:spPr>
          <a:xfrm>
            <a:off x="3200400" y="1051560"/>
            <a:ext cx="2560320" cy="1371600"/>
          </a:xfrm>
          <a:prstGeom prst="rect">
            <a:avLst/>
          </a:prstGeom>
          <a:solidFill>
            <a:srgbClr val="2E75B6"/>
          </a:solidFill>
          <a:ln w="12700">
            <a:solidFill>
              <a:srgbClr val="2E75B6"/>
            </a:solidFill>
            <a:prstDash val="solid"/>
          </a:ln>
          <a:effectLst>
            <a:outerShdw blurRad="101600" dist="25400" dir="8100000" algn="bl" rotWithShape="0">
              <a:srgbClr val="000000">
                <a:alpha val="12000"/>
              </a:srgbClr>
            </a:outerShdw>
          </a:effectLst>
        </p:spPr>
        <p:txBody>
          <a:bodyPr/>
          <a:lstStyle/>
          <a:p>
            <a:endParaRPr lang="fr-FR"/>
          </a:p>
        </p:txBody>
      </p:sp>
      <p:sp>
        <p:nvSpPr>
          <p:cNvPr id="8" name="Text 6"/>
          <p:cNvSpPr/>
          <p:nvPr/>
        </p:nvSpPr>
        <p:spPr>
          <a:xfrm>
            <a:off x="3200400" y="1097280"/>
            <a:ext cx="2560320" cy="777240"/>
          </a:xfrm>
          <a:prstGeom prst="rect">
            <a:avLst/>
          </a:prstGeom>
          <a:noFill/>
          <a:ln/>
        </p:spPr>
        <p:txBody>
          <a:bodyPr wrap="square" lIns="0" tIns="0" rIns="0" bIns="0"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&lt; 5s</a:t>
            </a:r>
            <a:endParaRPr lang="en-US" sz="4000" dirty="0"/>
          </a:p>
        </p:txBody>
      </p:sp>
      <p:sp>
        <p:nvSpPr>
          <p:cNvPr id="9" name="Text 7"/>
          <p:cNvSpPr/>
          <p:nvPr/>
        </p:nvSpPr>
        <p:spPr>
          <a:xfrm>
            <a:off x="3200400" y="1828800"/>
            <a:ext cx="2560320" cy="502920"/>
          </a:xfrm>
          <a:prstGeom prst="rect">
            <a:avLst/>
          </a:prstGeom>
          <a:noFill/>
          <a:ln/>
        </p:spPr>
        <p:txBody>
          <a:bodyPr wrap="square" lIns="0" tIns="0" rIns="0" bIns="0" rtlCol="0" anchor="ctr"/>
          <a:lstStyle/>
          <a:p>
            <a:pPr marL="0" indent="0" algn="ctr">
              <a:buNone/>
            </a:pPr>
            <a:r>
              <a:rPr lang="en-US" sz="1100" dirty="0">
                <a:solidFill>
                  <a:srgbClr val="BDD7EE"/>
                </a:solidFill>
                <a:latin typeface="Arial" pitchFamily="34" charset="0"/>
                <a:ea typeface="Arial" pitchFamily="34" charset="-122"/>
                <a:cs typeface="Arial" pitchFamily="34" charset="-120"/>
              </a:rPr>
              <a:t>pour une notification Slack</a:t>
            </a:r>
            <a:endParaRPr lang="en-US" sz="1100" dirty="0"/>
          </a:p>
        </p:txBody>
      </p:sp>
      <p:sp>
        <p:nvSpPr>
          <p:cNvPr id="10" name="Shape 8"/>
          <p:cNvSpPr/>
          <p:nvPr/>
        </p:nvSpPr>
        <p:spPr>
          <a:xfrm>
            <a:off x="6035040" y="1051560"/>
            <a:ext cx="2560320" cy="1371600"/>
          </a:xfrm>
          <a:prstGeom prst="rect">
            <a:avLst/>
          </a:prstGeom>
          <a:solidFill>
            <a:srgbClr val="70AD47"/>
          </a:solidFill>
          <a:ln w="12700">
            <a:solidFill>
              <a:srgbClr val="70AD47"/>
            </a:solidFill>
            <a:prstDash val="solid"/>
          </a:ln>
          <a:effectLst>
            <a:outerShdw blurRad="101600" dist="25400" dir="8100000" algn="bl" rotWithShape="0">
              <a:srgbClr val="000000">
                <a:alpha val="12000"/>
              </a:srgbClr>
            </a:outerShdw>
          </a:effectLst>
        </p:spPr>
        <p:txBody>
          <a:bodyPr/>
          <a:lstStyle/>
          <a:p>
            <a:endParaRPr lang="fr-FR"/>
          </a:p>
        </p:txBody>
      </p:sp>
      <p:sp>
        <p:nvSpPr>
          <p:cNvPr id="11" name="Text 9"/>
          <p:cNvSpPr/>
          <p:nvPr/>
        </p:nvSpPr>
        <p:spPr>
          <a:xfrm>
            <a:off x="6035040" y="1097280"/>
            <a:ext cx="2560320" cy="777240"/>
          </a:xfrm>
          <a:prstGeom prst="rect">
            <a:avLst/>
          </a:prstGeom>
          <a:noFill/>
          <a:ln/>
        </p:spPr>
        <p:txBody>
          <a:bodyPr wrap="square" lIns="0" tIns="0" rIns="0" bIns="0"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100%</a:t>
            </a:r>
            <a:endParaRPr lang="en-US" sz="4000" dirty="0"/>
          </a:p>
        </p:txBody>
      </p:sp>
      <p:sp>
        <p:nvSpPr>
          <p:cNvPr id="12" name="Text 10"/>
          <p:cNvSpPr/>
          <p:nvPr/>
        </p:nvSpPr>
        <p:spPr>
          <a:xfrm>
            <a:off x="6035040" y="1828800"/>
            <a:ext cx="2560320" cy="502920"/>
          </a:xfrm>
          <a:prstGeom prst="rect">
            <a:avLst/>
          </a:prstGeom>
          <a:noFill/>
          <a:ln/>
        </p:spPr>
        <p:txBody>
          <a:bodyPr wrap="square" lIns="0" tIns="0" rIns="0" bIns="0" rtlCol="0" anchor="ctr"/>
          <a:lstStyle/>
          <a:p>
            <a:pPr marL="0" indent="0" algn="ctr">
              <a:buNone/>
            </a:pPr>
            <a:r>
              <a:rPr lang="en-US" sz="1100" dirty="0">
                <a:solidFill>
                  <a:srgbClr val="BDD7EE"/>
                </a:solidFill>
                <a:latin typeface="Arial" pitchFamily="34" charset="0"/>
                <a:ea typeface="Arial" pitchFamily="34" charset="-122"/>
                <a:cs typeface="Arial" pitchFamily="34" charset="-120"/>
              </a:rPr>
              <a:t>automatise de bout en bout</a:t>
            </a:r>
            <a:endParaRPr lang="en-US" sz="1100" dirty="0"/>
          </a:p>
        </p:txBody>
      </p:sp>
      <p:sp>
        <p:nvSpPr>
          <p:cNvPr id="13" name="Text 11"/>
          <p:cNvSpPr/>
          <p:nvPr/>
        </p:nvSpPr>
        <p:spPr>
          <a:xfrm>
            <a:off x="457200" y="2560320"/>
            <a:ext cx="8229600" cy="237744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1A1A2E"/>
                </a:solidFill>
                <a:latin typeface="Arial" pitchFamily="34" charset="0"/>
                <a:ea typeface="Arial" pitchFamily="34" charset="-122"/>
                <a:cs typeface="Arial" pitchFamily="34" charset="-120"/>
              </a:rPr>
              <a:t>Collecte OAuth Strava fonctionnelle end-to-end</a:t>
            </a:r>
            <a:endParaRPr lang="en-US" sz="1200" dirty="0"/>
          </a:p>
          <a:p>
            <a:pPr marL="342900" indent="-342900">
              <a:spcAft>
                <a:spcPts val="500"/>
              </a:spcAft>
              <a:buSzPct val="100000"/>
              <a:buChar char="•"/>
            </a:pPr>
            <a:r>
              <a:rPr lang="en-US" sz="1200" dirty="0">
                <a:solidFill>
                  <a:srgbClr val="1A1A2E"/>
                </a:solidFill>
                <a:latin typeface="Arial" pitchFamily="34" charset="0"/>
                <a:ea typeface="Arial" pitchFamily="34" charset="-122"/>
                <a:cs typeface="Arial" pitchFamily="34" charset="-120"/>
              </a:rPr>
              <a:t>Pipeline ETL automatise — export, nettoyage, tests, calcul</a:t>
            </a:r>
            <a:endParaRPr lang="en-US" sz="1200" dirty="0"/>
          </a:p>
          <a:p>
            <a:pPr marL="342900" indent="-342900">
              <a:spcAft>
                <a:spcPts val="500"/>
              </a:spcAft>
              <a:buSzPct val="100000"/>
              <a:buChar char="•"/>
            </a:pPr>
            <a:r>
              <a:rPr lang="en-US" sz="1200" dirty="0">
                <a:solidFill>
                  <a:srgbClr val="1A1A2E"/>
                </a:solidFill>
                <a:latin typeface="Arial" pitchFamily="34" charset="0"/>
                <a:ea typeface="Arial" pitchFamily="34" charset="-122"/>
                <a:cs typeface="Arial" pitchFamily="34" charset="-120"/>
              </a:rPr>
              <a:t>Calcul des primes en quelques secondes</a:t>
            </a:r>
            <a:endParaRPr lang="en-US" sz="1200" dirty="0"/>
          </a:p>
          <a:p>
            <a:pPr marL="342900" indent="-342900">
              <a:spcAft>
                <a:spcPts val="500"/>
              </a:spcAft>
              <a:buSzPct val="100000"/>
              <a:buChar char="•"/>
            </a:pPr>
            <a:r>
              <a:rPr lang="en-US" sz="1200" dirty="0">
                <a:solidFill>
                  <a:srgbClr val="1A1A2E"/>
                </a:solidFill>
                <a:latin typeface="Arial" pitchFamily="34" charset="0"/>
                <a:ea typeface="Arial" pitchFamily="34" charset="-122"/>
                <a:cs typeface="Arial" pitchFamily="34" charset="-120"/>
              </a:rPr>
              <a:t>Notifications Slack en temps reel via CDC Debezium</a:t>
            </a:r>
            <a:endParaRPr lang="en-US" sz="1200" dirty="0"/>
          </a:p>
          <a:p>
            <a:pPr marL="342900" indent="-342900">
              <a:spcAft>
                <a:spcPts val="500"/>
              </a:spcAft>
              <a:buSzPct val="100000"/>
              <a:buChar char="•"/>
            </a:pPr>
            <a:r>
              <a:rPr lang="en-US" sz="1200" dirty="0">
                <a:solidFill>
                  <a:srgbClr val="1A1A2E"/>
                </a:solidFill>
                <a:latin typeface="Arial" pitchFamily="34" charset="0"/>
                <a:ea typeface="Arial" pitchFamily="34" charset="-122"/>
                <a:cs typeface="Arial" pitchFamily="34" charset="-120"/>
              </a:rPr>
              <a:t>Orchestration fiable avec retry automatique (Kestra)</a:t>
            </a:r>
            <a:endParaRPr lang="en-US" sz="1200" dirty="0"/>
          </a:p>
          <a:p>
            <a:pPr marL="342900" indent="-342900">
              <a:spcAft>
                <a:spcPts val="500"/>
              </a:spcAft>
              <a:buSzPct val="100000"/>
              <a:buChar char="•"/>
            </a:pPr>
            <a:r>
              <a:rPr lang="en-US" sz="1200" dirty="0">
                <a:solidFill>
                  <a:srgbClr val="1A1A2E"/>
                </a:solidFill>
                <a:latin typeface="Arial" pitchFamily="34" charset="0"/>
                <a:ea typeface="Arial" pitchFamily="34" charset="-122"/>
                <a:cs typeface="Arial" pitchFamily="34" charset="-120"/>
              </a:rPr>
              <a:t>Deux rapports PowerBI operationnels (RH + Employe)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marL="0" indent="0">
              <a:buNone/>
            </a:pPr>
            <a:r>
              <a:rPr lang="en-US" sz="2600" b="1" dirty="0">
                <a:solidFill>
                  <a:srgbClr val="1F4E79"/>
                </a:solidFill>
                <a:latin typeface="Arial" pitchFamily="34" charset="0"/>
                <a:ea typeface="Arial" pitchFamily="34" charset="-122"/>
                <a:cs typeface="Arial" pitchFamily="34" charset="-120"/>
              </a:rPr>
              <a:t>Evolutions recommandees pour la production</a:t>
            </a:r>
            <a:endParaRPr lang="en-US" sz="2600" dirty="0"/>
          </a:p>
        </p:txBody>
      </p:sp>
      <p:sp>
        <p:nvSpPr>
          <p:cNvPr id="3" name="Shape 1"/>
          <p:cNvSpPr/>
          <p:nvPr/>
        </p:nvSpPr>
        <p:spPr>
          <a:xfrm>
            <a:off x="457200" y="896112"/>
            <a:ext cx="1097280" cy="54864"/>
          </a:xfrm>
          <a:prstGeom prst="rect">
            <a:avLst/>
          </a:prstGeom>
          <a:solidFill>
            <a:srgbClr val="2E75B6"/>
          </a:solidFill>
          <a:ln w="12700">
            <a:solidFill>
              <a:srgbClr val="2E75B6"/>
            </a:solidFill>
            <a:prstDash val="solid"/>
          </a:ln>
        </p:spPr>
        <p:txBody>
          <a:bodyPr/>
          <a:lstStyle/>
          <a:p>
            <a:endParaRPr lang="fr-FR"/>
          </a:p>
        </p:txBody>
      </p:sp>
      <p:sp>
        <p:nvSpPr>
          <p:cNvPr id="4" name="Shape 2"/>
          <p:cNvSpPr/>
          <p:nvPr/>
        </p:nvSpPr>
        <p:spPr>
          <a:xfrm>
            <a:off x="365760" y="1051560"/>
            <a:ext cx="1645920" cy="365760"/>
          </a:xfrm>
          <a:prstGeom prst="rect">
            <a:avLst/>
          </a:prstGeom>
          <a:solidFill>
            <a:srgbClr val="1F4E79"/>
          </a:solidFill>
          <a:ln w="12700">
            <a:solidFill>
              <a:srgbClr val="1F4E79"/>
            </a:solidFill>
            <a:prstDash val="solid"/>
          </a:ln>
        </p:spPr>
        <p:txBody>
          <a:bodyPr/>
          <a:lstStyle/>
          <a:p>
            <a:endParaRPr lang="fr-FR"/>
          </a:p>
        </p:txBody>
      </p:sp>
      <p:sp>
        <p:nvSpPr>
          <p:cNvPr id="5" name="Text 3"/>
          <p:cNvSpPr/>
          <p:nvPr/>
        </p:nvSpPr>
        <p:spPr>
          <a:xfrm>
            <a:off x="438912" y="1051560"/>
            <a:ext cx="1499616" cy="36576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Domaine</a:t>
            </a:r>
            <a:endParaRPr lang="en-US" sz="1100" dirty="0"/>
          </a:p>
        </p:txBody>
      </p:sp>
      <p:sp>
        <p:nvSpPr>
          <p:cNvPr id="6" name="Shape 4"/>
          <p:cNvSpPr/>
          <p:nvPr/>
        </p:nvSpPr>
        <p:spPr>
          <a:xfrm>
            <a:off x="2011680" y="1051560"/>
            <a:ext cx="5303520" cy="365760"/>
          </a:xfrm>
          <a:prstGeom prst="rect">
            <a:avLst/>
          </a:prstGeom>
          <a:solidFill>
            <a:srgbClr val="1F4E79"/>
          </a:solidFill>
          <a:ln w="12700">
            <a:solidFill>
              <a:srgbClr val="1F4E79"/>
            </a:solidFill>
            <a:prstDash val="solid"/>
          </a:ln>
        </p:spPr>
        <p:txBody>
          <a:bodyPr/>
          <a:lstStyle/>
          <a:p>
            <a:endParaRPr lang="fr-FR"/>
          </a:p>
        </p:txBody>
      </p:sp>
      <p:sp>
        <p:nvSpPr>
          <p:cNvPr id="7" name="Text 5"/>
          <p:cNvSpPr/>
          <p:nvPr/>
        </p:nvSpPr>
        <p:spPr>
          <a:xfrm>
            <a:off x="2084832" y="1051560"/>
            <a:ext cx="5157216" cy="36576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Evolution</a:t>
            </a:r>
            <a:endParaRPr lang="en-US" sz="1100" dirty="0"/>
          </a:p>
        </p:txBody>
      </p:sp>
      <p:sp>
        <p:nvSpPr>
          <p:cNvPr id="8" name="Shape 6"/>
          <p:cNvSpPr/>
          <p:nvPr/>
        </p:nvSpPr>
        <p:spPr>
          <a:xfrm>
            <a:off x="7315200" y="1051560"/>
            <a:ext cx="1645920" cy="365760"/>
          </a:xfrm>
          <a:prstGeom prst="rect">
            <a:avLst/>
          </a:prstGeom>
          <a:solidFill>
            <a:srgbClr val="1F4E79"/>
          </a:solidFill>
          <a:ln w="12700">
            <a:solidFill>
              <a:srgbClr val="1F4E79"/>
            </a:solidFill>
            <a:prstDash val="solid"/>
          </a:ln>
        </p:spPr>
        <p:txBody>
          <a:bodyPr/>
          <a:lstStyle/>
          <a:p>
            <a:endParaRPr lang="fr-FR"/>
          </a:p>
        </p:txBody>
      </p:sp>
      <p:sp>
        <p:nvSpPr>
          <p:cNvPr id="9" name="Text 7"/>
          <p:cNvSpPr/>
          <p:nvPr/>
        </p:nvSpPr>
        <p:spPr>
          <a:xfrm>
            <a:off x="7388352" y="1051560"/>
            <a:ext cx="1499616" cy="36576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Priorite</a:t>
            </a:r>
            <a:endParaRPr lang="en-US" sz="1100" dirty="0"/>
          </a:p>
        </p:txBody>
      </p:sp>
      <p:sp>
        <p:nvSpPr>
          <p:cNvPr id="10" name="Shape 8"/>
          <p:cNvSpPr/>
          <p:nvPr/>
        </p:nvSpPr>
        <p:spPr>
          <a:xfrm>
            <a:off x="365760" y="1417320"/>
            <a:ext cx="1645920" cy="475488"/>
          </a:xfrm>
          <a:prstGeom prst="rect">
            <a:avLst/>
          </a:prstGeom>
          <a:solidFill>
            <a:srgbClr val="D6E4F0"/>
          </a:solidFill>
          <a:ln w="12700">
            <a:solidFill>
              <a:srgbClr val="DDDDDD"/>
            </a:solidFill>
            <a:prstDash val="solid"/>
          </a:ln>
        </p:spPr>
        <p:txBody>
          <a:bodyPr/>
          <a:lstStyle/>
          <a:p>
            <a:endParaRPr lang="fr-FR"/>
          </a:p>
        </p:txBody>
      </p:sp>
      <p:sp>
        <p:nvSpPr>
          <p:cNvPr id="11" name="Shape 9"/>
          <p:cNvSpPr/>
          <p:nvPr/>
        </p:nvSpPr>
        <p:spPr>
          <a:xfrm>
            <a:off x="2011680" y="1417320"/>
            <a:ext cx="5303520" cy="475488"/>
          </a:xfrm>
          <a:prstGeom prst="rect">
            <a:avLst/>
          </a:prstGeom>
          <a:solidFill>
            <a:srgbClr val="D6E4F0"/>
          </a:solidFill>
          <a:ln w="12700">
            <a:solidFill>
              <a:srgbClr val="DDDDDD"/>
            </a:solidFill>
            <a:prstDash val="solid"/>
          </a:ln>
        </p:spPr>
        <p:txBody>
          <a:bodyPr/>
          <a:lstStyle/>
          <a:p>
            <a:endParaRPr lang="fr-FR"/>
          </a:p>
        </p:txBody>
      </p:sp>
      <p:sp>
        <p:nvSpPr>
          <p:cNvPr id="12" name="Shape 10"/>
          <p:cNvSpPr/>
          <p:nvPr/>
        </p:nvSpPr>
        <p:spPr>
          <a:xfrm>
            <a:off x="7315200" y="1417320"/>
            <a:ext cx="1645920" cy="475488"/>
          </a:xfrm>
          <a:prstGeom prst="rect">
            <a:avLst/>
          </a:prstGeom>
          <a:solidFill>
            <a:srgbClr val="D6E4F0"/>
          </a:solidFill>
          <a:ln w="12700">
            <a:solidFill>
              <a:srgbClr val="DDDDDD"/>
            </a:solidFill>
            <a:prstDash val="solid"/>
          </a:ln>
        </p:spPr>
        <p:txBody>
          <a:bodyPr/>
          <a:lstStyle/>
          <a:p>
            <a:endParaRPr lang="fr-FR"/>
          </a:p>
        </p:txBody>
      </p:sp>
      <p:sp>
        <p:nvSpPr>
          <p:cNvPr id="13" name="Text 11"/>
          <p:cNvSpPr/>
          <p:nvPr/>
        </p:nvSpPr>
        <p:spPr>
          <a:xfrm>
            <a:off x="457200" y="1444752"/>
            <a:ext cx="1463040" cy="420624"/>
          </a:xfrm>
          <a:prstGeom prst="rect">
            <a:avLst/>
          </a:prstGeom>
          <a:noFill/>
          <a:ln/>
        </p:spPr>
        <p:txBody>
          <a:bodyPr wrap="square" lIns="0" tIns="0" rIns="0" bIns="0" rtlCol="0" anchor="ctr"/>
          <a:lstStyle/>
          <a:p>
            <a:pPr marL="0" indent="0">
              <a:buNone/>
            </a:pPr>
            <a:r>
              <a:rPr lang="en-US" sz="1000" b="1" dirty="0">
                <a:solidFill>
                  <a:srgbClr val="1F4E79"/>
                </a:solidFill>
                <a:latin typeface="Arial" pitchFamily="34" charset="0"/>
                <a:ea typeface="Arial" pitchFamily="34" charset="-122"/>
                <a:cs typeface="Arial" pitchFamily="34" charset="-120"/>
              </a:rPr>
              <a:t>Securite SQL</a:t>
            </a:r>
            <a:endParaRPr lang="en-US" sz="1000" dirty="0"/>
          </a:p>
        </p:txBody>
      </p:sp>
      <p:sp>
        <p:nvSpPr>
          <p:cNvPr id="14" name="Text 12"/>
          <p:cNvSpPr/>
          <p:nvPr/>
        </p:nvSpPr>
        <p:spPr>
          <a:xfrm>
            <a:off x="2103120" y="1444752"/>
            <a:ext cx="5120640" cy="420624"/>
          </a:xfrm>
          <a:prstGeom prst="rect">
            <a:avLst/>
          </a:prstGeom>
          <a:noFill/>
          <a:ln/>
        </p:spPr>
        <p:txBody>
          <a:bodyPr wrap="square" lIns="0" tIns="0" rIns="0" bIns="0" rtlCol="0" anchor="ctr"/>
          <a:lstStyle/>
          <a:p>
            <a:pPr marL="0" indent="0">
              <a:buNone/>
            </a:pPr>
            <a:r>
              <a:rPr lang="en-US" sz="1000" dirty="0">
                <a:solidFill>
                  <a:srgbClr val="1A1A2E"/>
                </a:solidFill>
                <a:latin typeface="Arial" pitchFamily="34" charset="0"/>
                <a:ea typeface="Arial" pitchFamily="34" charset="-122"/>
                <a:cs typeface="Arial" pitchFamily="34" charset="-120"/>
              </a:rPr>
              <a:t>Remplacer compte SA par compte dedie (droits limites)</a:t>
            </a:r>
            <a:endParaRPr lang="en-US" sz="1000" dirty="0"/>
          </a:p>
        </p:txBody>
      </p:sp>
      <p:sp>
        <p:nvSpPr>
          <p:cNvPr id="15" name="Shape 13"/>
          <p:cNvSpPr/>
          <p:nvPr/>
        </p:nvSpPr>
        <p:spPr>
          <a:xfrm>
            <a:off x="7406640" y="1481328"/>
            <a:ext cx="1371600" cy="320040"/>
          </a:xfrm>
          <a:prstGeom prst="rect">
            <a:avLst/>
          </a:prstGeom>
          <a:solidFill>
            <a:srgbClr val="C0392B"/>
          </a:solidFill>
          <a:ln w="12700">
            <a:solidFill>
              <a:srgbClr val="C0392B"/>
            </a:solidFill>
            <a:prstDash val="solid"/>
          </a:ln>
        </p:spPr>
        <p:txBody>
          <a:bodyPr/>
          <a:lstStyle/>
          <a:p>
            <a:endParaRPr lang="fr-FR"/>
          </a:p>
        </p:txBody>
      </p:sp>
      <p:sp>
        <p:nvSpPr>
          <p:cNvPr id="16" name="Text 14"/>
          <p:cNvSpPr/>
          <p:nvPr/>
        </p:nvSpPr>
        <p:spPr>
          <a:xfrm>
            <a:off x="7406640" y="1481328"/>
            <a:ext cx="137160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HAUTE</a:t>
            </a:r>
            <a:endParaRPr lang="en-US" sz="900" dirty="0"/>
          </a:p>
        </p:txBody>
      </p:sp>
      <p:sp>
        <p:nvSpPr>
          <p:cNvPr id="17" name="Shape 15"/>
          <p:cNvSpPr/>
          <p:nvPr/>
        </p:nvSpPr>
        <p:spPr>
          <a:xfrm>
            <a:off x="365760" y="1892808"/>
            <a:ext cx="1645920" cy="475488"/>
          </a:xfrm>
          <a:prstGeom prst="rect">
            <a:avLst/>
          </a:prstGeom>
          <a:solidFill>
            <a:srgbClr val="FFFFFF"/>
          </a:solidFill>
          <a:ln w="12700">
            <a:solidFill>
              <a:srgbClr val="DDDDDD"/>
            </a:solidFill>
            <a:prstDash val="solid"/>
          </a:ln>
        </p:spPr>
        <p:txBody>
          <a:bodyPr/>
          <a:lstStyle/>
          <a:p>
            <a:endParaRPr lang="fr-FR"/>
          </a:p>
        </p:txBody>
      </p:sp>
      <p:sp>
        <p:nvSpPr>
          <p:cNvPr id="18" name="Shape 16"/>
          <p:cNvSpPr/>
          <p:nvPr/>
        </p:nvSpPr>
        <p:spPr>
          <a:xfrm>
            <a:off x="2011680" y="1892808"/>
            <a:ext cx="5303520" cy="475488"/>
          </a:xfrm>
          <a:prstGeom prst="rect">
            <a:avLst/>
          </a:prstGeom>
          <a:solidFill>
            <a:srgbClr val="FFFFFF"/>
          </a:solidFill>
          <a:ln w="12700">
            <a:solidFill>
              <a:srgbClr val="DDDDDD"/>
            </a:solidFill>
            <a:prstDash val="solid"/>
          </a:ln>
        </p:spPr>
        <p:txBody>
          <a:bodyPr/>
          <a:lstStyle/>
          <a:p>
            <a:endParaRPr lang="fr-FR"/>
          </a:p>
        </p:txBody>
      </p:sp>
      <p:sp>
        <p:nvSpPr>
          <p:cNvPr id="19" name="Shape 17"/>
          <p:cNvSpPr/>
          <p:nvPr/>
        </p:nvSpPr>
        <p:spPr>
          <a:xfrm>
            <a:off x="7315200" y="1892808"/>
            <a:ext cx="1645920" cy="475488"/>
          </a:xfrm>
          <a:prstGeom prst="rect">
            <a:avLst/>
          </a:prstGeom>
          <a:solidFill>
            <a:srgbClr val="FFFFFF"/>
          </a:solidFill>
          <a:ln w="12700">
            <a:solidFill>
              <a:srgbClr val="DDDDDD"/>
            </a:solidFill>
            <a:prstDash val="solid"/>
          </a:ln>
        </p:spPr>
        <p:txBody>
          <a:bodyPr/>
          <a:lstStyle/>
          <a:p>
            <a:endParaRPr lang="fr-FR"/>
          </a:p>
        </p:txBody>
      </p:sp>
      <p:sp>
        <p:nvSpPr>
          <p:cNvPr id="20" name="Text 18"/>
          <p:cNvSpPr/>
          <p:nvPr/>
        </p:nvSpPr>
        <p:spPr>
          <a:xfrm>
            <a:off x="457200" y="1920240"/>
            <a:ext cx="1463040" cy="420624"/>
          </a:xfrm>
          <a:prstGeom prst="rect">
            <a:avLst/>
          </a:prstGeom>
          <a:noFill/>
          <a:ln/>
        </p:spPr>
        <p:txBody>
          <a:bodyPr wrap="square" lIns="0" tIns="0" rIns="0" bIns="0" rtlCol="0" anchor="ctr"/>
          <a:lstStyle/>
          <a:p>
            <a:pPr marL="0" indent="0">
              <a:buNone/>
            </a:pPr>
            <a:r>
              <a:rPr lang="en-US" sz="1000" b="1" dirty="0">
                <a:solidFill>
                  <a:srgbClr val="1F4E79"/>
                </a:solidFill>
                <a:latin typeface="Arial" pitchFamily="34" charset="0"/>
                <a:ea typeface="Arial" pitchFamily="34" charset="-122"/>
                <a:cs typeface="Arial" pitchFamily="34" charset="-120"/>
              </a:rPr>
              <a:t>Historisation</a:t>
            </a:r>
            <a:endParaRPr lang="en-US" sz="1000" dirty="0"/>
          </a:p>
        </p:txBody>
      </p:sp>
      <p:sp>
        <p:nvSpPr>
          <p:cNvPr id="21" name="Text 19"/>
          <p:cNvSpPr/>
          <p:nvPr/>
        </p:nvSpPr>
        <p:spPr>
          <a:xfrm>
            <a:off x="2103120" y="1920240"/>
            <a:ext cx="5120640" cy="420624"/>
          </a:xfrm>
          <a:prstGeom prst="rect">
            <a:avLst/>
          </a:prstGeom>
          <a:noFill/>
          <a:ln/>
        </p:spPr>
        <p:txBody>
          <a:bodyPr wrap="square" lIns="0" tIns="0" rIns="0" bIns="0" rtlCol="0" anchor="ctr"/>
          <a:lstStyle/>
          <a:p>
            <a:pPr marL="0" indent="0">
              <a:buNone/>
            </a:pPr>
            <a:r>
              <a:rPr lang="en-US" sz="1000" dirty="0">
                <a:solidFill>
                  <a:srgbClr val="1A1A2E"/>
                </a:solidFill>
                <a:latin typeface="Arial" pitchFamily="34" charset="0"/>
                <a:ea typeface="Arial" pitchFamily="34" charset="-122"/>
                <a:cs typeface="Arial" pitchFamily="34" charset="-120"/>
              </a:rPr>
              <a:t>Passer if_exists=replace a append avec filtre annee</a:t>
            </a:r>
            <a:endParaRPr lang="en-US" sz="1000" dirty="0"/>
          </a:p>
        </p:txBody>
      </p:sp>
      <p:sp>
        <p:nvSpPr>
          <p:cNvPr id="22" name="Shape 20"/>
          <p:cNvSpPr/>
          <p:nvPr/>
        </p:nvSpPr>
        <p:spPr>
          <a:xfrm>
            <a:off x="7406640" y="1956816"/>
            <a:ext cx="1371600" cy="320040"/>
          </a:xfrm>
          <a:prstGeom prst="rect">
            <a:avLst/>
          </a:prstGeom>
          <a:solidFill>
            <a:srgbClr val="C0392B"/>
          </a:solidFill>
          <a:ln w="12700">
            <a:solidFill>
              <a:srgbClr val="C0392B"/>
            </a:solidFill>
            <a:prstDash val="solid"/>
          </a:ln>
        </p:spPr>
        <p:txBody>
          <a:bodyPr/>
          <a:lstStyle/>
          <a:p>
            <a:endParaRPr lang="fr-FR"/>
          </a:p>
        </p:txBody>
      </p:sp>
      <p:sp>
        <p:nvSpPr>
          <p:cNvPr id="23" name="Text 21"/>
          <p:cNvSpPr/>
          <p:nvPr/>
        </p:nvSpPr>
        <p:spPr>
          <a:xfrm>
            <a:off x="7406640" y="1956816"/>
            <a:ext cx="137160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HAUTE</a:t>
            </a:r>
            <a:endParaRPr lang="en-US" sz="900" dirty="0"/>
          </a:p>
        </p:txBody>
      </p:sp>
      <p:sp>
        <p:nvSpPr>
          <p:cNvPr id="24" name="Shape 22"/>
          <p:cNvSpPr/>
          <p:nvPr/>
        </p:nvSpPr>
        <p:spPr>
          <a:xfrm>
            <a:off x="365760" y="2368296"/>
            <a:ext cx="1645920" cy="475488"/>
          </a:xfrm>
          <a:prstGeom prst="rect">
            <a:avLst/>
          </a:prstGeom>
          <a:solidFill>
            <a:srgbClr val="D6E4F0"/>
          </a:solidFill>
          <a:ln w="12700">
            <a:solidFill>
              <a:srgbClr val="DDDDDD"/>
            </a:solidFill>
            <a:prstDash val="solid"/>
          </a:ln>
        </p:spPr>
        <p:txBody>
          <a:bodyPr/>
          <a:lstStyle/>
          <a:p>
            <a:endParaRPr lang="fr-FR"/>
          </a:p>
        </p:txBody>
      </p:sp>
      <p:sp>
        <p:nvSpPr>
          <p:cNvPr id="25" name="Shape 23"/>
          <p:cNvSpPr/>
          <p:nvPr/>
        </p:nvSpPr>
        <p:spPr>
          <a:xfrm>
            <a:off x="2011680" y="2368296"/>
            <a:ext cx="5303520" cy="475488"/>
          </a:xfrm>
          <a:prstGeom prst="rect">
            <a:avLst/>
          </a:prstGeom>
          <a:solidFill>
            <a:srgbClr val="D6E4F0"/>
          </a:solidFill>
          <a:ln w="12700">
            <a:solidFill>
              <a:srgbClr val="DDDDDD"/>
            </a:solidFill>
            <a:prstDash val="solid"/>
          </a:ln>
        </p:spPr>
        <p:txBody>
          <a:bodyPr/>
          <a:lstStyle/>
          <a:p>
            <a:endParaRPr lang="fr-FR"/>
          </a:p>
        </p:txBody>
      </p:sp>
      <p:sp>
        <p:nvSpPr>
          <p:cNvPr id="26" name="Shape 24"/>
          <p:cNvSpPr/>
          <p:nvPr/>
        </p:nvSpPr>
        <p:spPr>
          <a:xfrm>
            <a:off x="7315200" y="2368296"/>
            <a:ext cx="1645920" cy="475488"/>
          </a:xfrm>
          <a:prstGeom prst="rect">
            <a:avLst/>
          </a:prstGeom>
          <a:solidFill>
            <a:srgbClr val="D6E4F0"/>
          </a:solidFill>
          <a:ln w="12700">
            <a:solidFill>
              <a:srgbClr val="DDDDDD"/>
            </a:solidFill>
            <a:prstDash val="solid"/>
          </a:ln>
        </p:spPr>
        <p:txBody>
          <a:bodyPr/>
          <a:lstStyle/>
          <a:p>
            <a:endParaRPr lang="fr-FR"/>
          </a:p>
        </p:txBody>
      </p:sp>
      <p:sp>
        <p:nvSpPr>
          <p:cNvPr id="27" name="Text 25"/>
          <p:cNvSpPr/>
          <p:nvPr/>
        </p:nvSpPr>
        <p:spPr>
          <a:xfrm>
            <a:off x="457200" y="2395728"/>
            <a:ext cx="1463040" cy="420624"/>
          </a:xfrm>
          <a:prstGeom prst="rect">
            <a:avLst/>
          </a:prstGeom>
          <a:noFill/>
          <a:ln/>
        </p:spPr>
        <p:txBody>
          <a:bodyPr wrap="square" lIns="0" tIns="0" rIns="0" bIns="0" rtlCol="0" anchor="ctr"/>
          <a:lstStyle/>
          <a:p>
            <a:pPr marL="0" indent="0">
              <a:buNone/>
            </a:pPr>
            <a:r>
              <a:rPr lang="en-US" sz="1000" b="1" dirty="0">
                <a:solidFill>
                  <a:srgbClr val="1F4E79"/>
                </a:solidFill>
                <a:latin typeface="Arial" pitchFamily="34" charset="0"/>
                <a:ea typeface="Arial" pitchFamily="34" charset="-122"/>
                <a:cs typeface="Arial" pitchFamily="34" charset="-120"/>
              </a:rPr>
              <a:t>Mapping Strava</a:t>
            </a:r>
            <a:endParaRPr lang="en-US" sz="1000" dirty="0"/>
          </a:p>
        </p:txBody>
      </p:sp>
      <p:sp>
        <p:nvSpPr>
          <p:cNvPr id="28" name="Text 26"/>
          <p:cNvSpPr/>
          <p:nvPr/>
        </p:nvSpPr>
        <p:spPr>
          <a:xfrm>
            <a:off x="2103120" y="2395728"/>
            <a:ext cx="5120640" cy="420624"/>
          </a:xfrm>
          <a:prstGeom prst="rect">
            <a:avLst/>
          </a:prstGeom>
          <a:noFill/>
          <a:ln/>
        </p:spPr>
        <p:txBody>
          <a:bodyPr wrap="square" lIns="0" tIns="0" rIns="0" bIns="0" rtlCol="0" anchor="ctr"/>
          <a:lstStyle/>
          <a:p>
            <a:pPr marL="0" indent="0">
              <a:buNone/>
            </a:pPr>
            <a:r>
              <a:rPr lang="en-US" sz="1000" dirty="0">
                <a:solidFill>
                  <a:srgbClr val="1A1A2E"/>
                </a:solidFill>
                <a:latin typeface="Arial" pitchFamily="34" charset="0"/>
                <a:ea typeface="Arial" pitchFamily="34" charset="-122"/>
                <a:cs typeface="Arial" pitchFamily="34" charset="-120"/>
              </a:rPr>
              <a:t>Table AthleteId &lt;-&gt; IdEmploye pour donnees reelles</a:t>
            </a:r>
            <a:endParaRPr lang="en-US" sz="1000" dirty="0"/>
          </a:p>
        </p:txBody>
      </p:sp>
      <p:sp>
        <p:nvSpPr>
          <p:cNvPr id="29" name="Shape 27"/>
          <p:cNvSpPr/>
          <p:nvPr/>
        </p:nvSpPr>
        <p:spPr>
          <a:xfrm>
            <a:off x="7406640" y="2432304"/>
            <a:ext cx="1371600" cy="320040"/>
          </a:xfrm>
          <a:prstGeom prst="rect">
            <a:avLst/>
          </a:prstGeom>
          <a:solidFill>
            <a:srgbClr val="C0392B"/>
          </a:solidFill>
          <a:ln w="12700">
            <a:solidFill>
              <a:srgbClr val="C0392B"/>
            </a:solidFill>
            <a:prstDash val="solid"/>
          </a:ln>
        </p:spPr>
        <p:txBody>
          <a:bodyPr/>
          <a:lstStyle/>
          <a:p>
            <a:endParaRPr lang="fr-FR"/>
          </a:p>
        </p:txBody>
      </p:sp>
      <p:sp>
        <p:nvSpPr>
          <p:cNvPr id="30" name="Text 28"/>
          <p:cNvSpPr/>
          <p:nvPr/>
        </p:nvSpPr>
        <p:spPr>
          <a:xfrm>
            <a:off x="7406640" y="2432304"/>
            <a:ext cx="137160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HAUTE</a:t>
            </a:r>
            <a:endParaRPr lang="en-US" sz="900" dirty="0"/>
          </a:p>
        </p:txBody>
      </p:sp>
      <p:sp>
        <p:nvSpPr>
          <p:cNvPr id="31" name="Shape 29"/>
          <p:cNvSpPr/>
          <p:nvPr/>
        </p:nvSpPr>
        <p:spPr>
          <a:xfrm>
            <a:off x="365760" y="2843784"/>
            <a:ext cx="1645920" cy="475488"/>
          </a:xfrm>
          <a:prstGeom prst="rect">
            <a:avLst/>
          </a:prstGeom>
          <a:solidFill>
            <a:srgbClr val="FFFFFF"/>
          </a:solidFill>
          <a:ln w="12700">
            <a:solidFill>
              <a:srgbClr val="DDDDDD"/>
            </a:solidFill>
            <a:prstDash val="solid"/>
          </a:ln>
        </p:spPr>
        <p:txBody>
          <a:bodyPr/>
          <a:lstStyle/>
          <a:p>
            <a:endParaRPr lang="fr-FR"/>
          </a:p>
        </p:txBody>
      </p:sp>
      <p:sp>
        <p:nvSpPr>
          <p:cNvPr id="32" name="Shape 30"/>
          <p:cNvSpPr/>
          <p:nvPr/>
        </p:nvSpPr>
        <p:spPr>
          <a:xfrm>
            <a:off x="2011680" y="2843784"/>
            <a:ext cx="5303520" cy="475488"/>
          </a:xfrm>
          <a:prstGeom prst="rect">
            <a:avLst/>
          </a:prstGeom>
          <a:solidFill>
            <a:srgbClr val="FFFFFF"/>
          </a:solidFill>
          <a:ln w="12700">
            <a:solidFill>
              <a:srgbClr val="DDDDDD"/>
            </a:solidFill>
            <a:prstDash val="solid"/>
          </a:ln>
        </p:spPr>
        <p:txBody>
          <a:bodyPr/>
          <a:lstStyle/>
          <a:p>
            <a:endParaRPr lang="fr-FR"/>
          </a:p>
        </p:txBody>
      </p:sp>
      <p:sp>
        <p:nvSpPr>
          <p:cNvPr id="33" name="Shape 31"/>
          <p:cNvSpPr/>
          <p:nvPr/>
        </p:nvSpPr>
        <p:spPr>
          <a:xfrm>
            <a:off x="7315200" y="2843784"/>
            <a:ext cx="1645920" cy="475488"/>
          </a:xfrm>
          <a:prstGeom prst="rect">
            <a:avLst/>
          </a:prstGeom>
          <a:solidFill>
            <a:srgbClr val="FFFFFF"/>
          </a:solidFill>
          <a:ln w="12700">
            <a:solidFill>
              <a:srgbClr val="DDDDDD"/>
            </a:solidFill>
            <a:prstDash val="solid"/>
          </a:ln>
        </p:spPr>
        <p:txBody>
          <a:bodyPr/>
          <a:lstStyle/>
          <a:p>
            <a:endParaRPr lang="fr-FR"/>
          </a:p>
        </p:txBody>
      </p:sp>
      <p:sp>
        <p:nvSpPr>
          <p:cNvPr id="34" name="Text 32"/>
          <p:cNvSpPr/>
          <p:nvPr/>
        </p:nvSpPr>
        <p:spPr>
          <a:xfrm>
            <a:off x="457200" y="2871216"/>
            <a:ext cx="1463040" cy="420624"/>
          </a:xfrm>
          <a:prstGeom prst="rect">
            <a:avLst/>
          </a:prstGeom>
          <a:noFill/>
          <a:ln/>
        </p:spPr>
        <p:txBody>
          <a:bodyPr wrap="square" lIns="0" tIns="0" rIns="0" bIns="0" rtlCol="0" anchor="ctr"/>
          <a:lstStyle/>
          <a:p>
            <a:pPr marL="0" indent="0">
              <a:buNone/>
            </a:pPr>
            <a:r>
              <a:rPr lang="en-US" sz="1000" b="1" dirty="0">
                <a:solidFill>
                  <a:srgbClr val="1F4E79"/>
                </a:solidFill>
                <a:latin typeface="Arial" pitchFamily="34" charset="0"/>
                <a:ea typeface="Arial" pitchFamily="34" charset="-122"/>
                <a:cs typeface="Arial" pitchFamily="34" charset="-120"/>
              </a:rPr>
              <a:t>Tokens Strava</a:t>
            </a:r>
            <a:endParaRPr lang="en-US" sz="1000" dirty="0"/>
          </a:p>
        </p:txBody>
      </p:sp>
      <p:sp>
        <p:nvSpPr>
          <p:cNvPr id="35" name="Text 33"/>
          <p:cNvSpPr/>
          <p:nvPr/>
        </p:nvSpPr>
        <p:spPr>
          <a:xfrm>
            <a:off x="2103120" y="2871216"/>
            <a:ext cx="5120640" cy="420624"/>
          </a:xfrm>
          <a:prstGeom prst="rect">
            <a:avLst/>
          </a:prstGeom>
          <a:noFill/>
          <a:ln/>
        </p:spPr>
        <p:txBody>
          <a:bodyPr wrap="square" lIns="0" tIns="0" rIns="0" bIns="0" rtlCol="0" anchor="ctr"/>
          <a:lstStyle/>
          <a:p>
            <a:pPr marL="0" indent="0">
              <a:buNone/>
            </a:pPr>
            <a:r>
              <a:rPr lang="en-US" sz="1000" dirty="0">
                <a:solidFill>
                  <a:srgbClr val="1A1A2E"/>
                </a:solidFill>
                <a:latin typeface="Arial" pitchFamily="34" charset="0"/>
                <a:ea typeface="Arial" pitchFamily="34" charset="-122"/>
                <a:cs typeface="Arial" pitchFamily="34" charset="-120"/>
              </a:rPr>
              <a:t>Monitoring des tokens revoques avec alerte</a:t>
            </a:r>
            <a:endParaRPr lang="en-US" sz="1000" dirty="0"/>
          </a:p>
        </p:txBody>
      </p:sp>
      <p:sp>
        <p:nvSpPr>
          <p:cNvPr id="36" name="Shape 34"/>
          <p:cNvSpPr/>
          <p:nvPr/>
        </p:nvSpPr>
        <p:spPr>
          <a:xfrm>
            <a:off x="7406640" y="2907792"/>
            <a:ext cx="1371600" cy="320040"/>
          </a:xfrm>
          <a:prstGeom prst="rect">
            <a:avLst/>
          </a:prstGeom>
          <a:solidFill>
            <a:srgbClr val="E67E22"/>
          </a:solidFill>
          <a:ln w="12700">
            <a:solidFill>
              <a:srgbClr val="E67E22"/>
            </a:solidFill>
            <a:prstDash val="solid"/>
          </a:ln>
        </p:spPr>
        <p:txBody>
          <a:bodyPr/>
          <a:lstStyle/>
          <a:p>
            <a:endParaRPr lang="fr-FR"/>
          </a:p>
        </p:txBody>
      </p:sp>
      <p:sp>
        <p:nvSpPr>
          <p:cNvPr id="37" name="Text 35"/>
          <p:cNvSpPr/>
          <p:nvPr/>
        </p:nvSpPr>
        <p:spPr>
          <a:xfrm>
            <a:off x="7406640" y="2907792"/>
            <a:ext cx="137160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MOYENNE</a:t>
            </a:r>
            <a:endParaRPr lang="en-US" sz="900" dirty="0"/>
          </a:p>
        </p:txBody>
      </p:sp>
      <p:sp>
        <p:nvSpPr>
          <p:cNvPr id="38" name="Shape 36"/>
          <p:cNvSpPr/>
          <p:nvPr/>
        </p:nvSpPr>
        <p:spPr>
          <a:xfrm>
            <a:off x="365760" y="3319272"/>
            <a:ext cx="1645920" cy="475488"/>
          </a:xfrm>
          <a:prstGeom prst="rect">
            <a:avLst/>
          </a:prstGeom>
          <a:solidFill>
            <a:srgbClr val="D6E4F0"/>
          </a:solidFill>
          <a:ln w="12700">
            <a:solidFill>
              <a:srgbClr val="DDDDDD"/>
            </a:solidFill>
            <a:prstDash val="solid"/>
          </a:ln>
        </p:spPr>
        <p:txBody>
          <a:bodyPr/>
          <a:lstStyle/>
          <a:p>
            <a:endParaRPr lang="fr-FR"/>
          </a:p>
        </p:txBody>
      </p:sp>
      <p:sp>
        <p:nvSpPr>
          <p:cNvPr id="39" name="Shape 37"/>
          <p:cNvSpPr/>
          <p:nvPr/>
        </p:nvSpPr>
        <p:spPr>
          <a:xfrm>
            <a:off x="2011680" y="3319272"/>
            <a:ext cx="5303520" cy="475488"/>
          </a:xfrm>
          <a:prstGeom prst="rect">
            <a:avLst/>
          </a:prstGeom>
          <a:solidFill>
            <a:srgbClr val="D6E4F0"/>
          </a:solidFill>
          <a:ln w="12700">
            <a:solidFill>
              <a:srgbClr val="DDDDDD"/>
            </a:solidFill>
            <a:prstDash val="solid"/>
          </a:ln>
        </p:spPr>
        <p:txBody>
          <a:bodyPr/>
          <a:lstStyle/>
          <a:p>
            <a:endParaRPr lang="fr-FR"/>
          </a:p>
        </p:txBody>
      </p:sp>
      <p:sp>
        <p:nvSpPr>
          <p:cNvPr id="40" name="Shape 38"/>
          <p:cNvSpPr/>
          <p:nvPr/>
        </p:nvSpPr>
        <p:spPr>
          <a:xfrm>
            <a:off x="7315200" y="3319272"/>
            <a:ext cx="1645920" cy="475488"/>
          </a:xfrm>
          <a:prstGeom prst="rect">
            <a:avLst/>
          </a:prstGeom>
          <a:solidFill>
            <a:srgbClr val="D6E4F0"/>
          </a:solidFill>
          <a:ln w="12700">
            <a:solidFill>
              <a:srgbClr val="DDDDDD"/>
            </a:solidFill>
            <a:prstDash val="solid"/>
          </a:ln>
        </p:spPr>
        <p:txBody>
          <a:bodyPr/>
          <a:lstStyle/>
          <a:p>
            <a:endParaRPr lang="fr-FR"/>
          </a:p>
        </p:txBody>
      </p:sp>
      <p:sp>
        <p:nvSpPr>
          <p:cNvPr id="41" name="Text 39"/>
          <p:cNvSpPr/>
          <p:nvPr/>
        </p:nvSpPr>
        <p:spPr>
          <a:xfrm>
            <a:off x="457200" y="3346704"/>
            <a:ext cx="1463040" cy="420624"/>
          </a:xfrm>
          <a:prstGeom prst="rect">
            <a:avLst/>
          </a:prstGeom>
          <a:noFill/>
          <a:ln/>
        </p:spPr>
        <p:txBody>
          <a:bodyPr wrap="square" lIns="0" tIns="0" rIns="0" bIns="0" rtlCol="0" anchor="ctr"/>
          <a:lstStyle/>
          <a:p>
            <a:pPr marL="0" indent="0">
              <a:buNone/>
            </a:pPr>
            <a:r>
              <a:rPr lang="en-US" sz="1000" b="1" dirty="0">
                <a:solidFill>
                  <a:srgbClr val="1F4E79"/>
                </a:solidFill>
                <a:latin typeface="Arial" pitchFamily="34" charset="0"/>
                <a:ea typeface="Arial" pitchFamily="34" charset="-122"/>
                <a:cs typeface="Arial" pitchFamily="34" charset="-120"/>
              </a:rPr>
              <a:t>Secrets Kestra</a:t>
            </a:r>
            <a:endParaRPr lang="en-US" sz="1000" dirty="0"/>
          </a:p>
        </p:txBody>
      </p:sp>
      <p:sp>
        <p:nvSpPr>
          <p:cNvPr id="42" name="Text 40"/>
          <p:cNvSpPr/>
          <p:nvPr/>
        </p:nvSpPr>
        <p:spPr>
          <a:xfrm>
            <a:off x="2103120" y="3346704"/>
            <a:ext cx="5120640" cy="420624"/>
          </a:xfrm>
          <a:prstGeom prst="rect">
            <a:avLst/>
          </a:prstGeom>
          <a:noFill/>
          <a:ln/>
        </p:spPr>
        <p:txBody>
          <a:bodyPr wrap="square" lIns="0" tIns="0" rIns="0" bIns="0" rtlCol="0" anchor="ctr"/>
          <a:lstStyle/>
          <a:p>
            <a:pPr marL="0" indent="0">
              <a:buNone/>
            </a:pPr>
            <a:r>
              <a:rPr lang="en-US" sz="1000" dirty="0">
                <a:solidFill>
                  <a:srgbClr val="1A1A2E"/>
                </a:solidFill>
                <a:latin typeface="Arial" pitchFamily="34" charset="0"/>
                <a:ea typeface="Arial" pitchFamily="34" charset="-122"/>
                <a:cs typeface="Arial" pitchFamily="34" charset="-120"/>
              </a:rPr>
              <a:t>Migrer vers Kestra Enterprise (secrets natifs)</a:t>
            </a:r>
            <a:endParaRPr lang="en-US" sz="1000" dirty="0"/>
          </a:p>
        </p:txBody>
      </p:sp>
      <p:sp>
        <p:nvSpPr>
          <p:cNvPr id="43" name="Shape 41"/>
          <p:cNvSpPr/>
          <p:nvPr/>
        </p:nvSpPr>
        <p:spPr>
          <a:xfrm>
            <a:off x="7406640" y="3383280"/>
            <a:ext cx="1371600" cy="320040"/>
          </a:xfrm>
          <a:prstGeom prst="rect">
            <a:avLst/>
          </a:prstGeom>
          <a:solidFill>
            <a:srgbClr val="E67E22"/>
          </a:solidFill>
          <a:ln w="12700">
            <a:solidFill>
              <a:srgbClr val="E67E22"/>
            </a:solidFill>
            <a:prstDash val="solid"/>
          </a:ln>
        </p:spPr>
        <p:txBody>
          <a:bodyPr/>
          <a:lstStyle/>
          <a:p>
            <a:endParaRPr lang="fr-FR"/>
          </a:p>
        </p:txBody>
      </p:sp>
      <p:sp>
        <p:nvSpPr>
          <p:cNvPr id="44" name="Text 42"/>
          <p:cNvSpPr/>
          <p:nvPr/>
        </p:nvSpPr>
        <p:spPr>
          <a:xfrm>
            <a:off x="7406640" y="3383280"/>
            <a:ext cx="137160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MOYENNE</a:t>
            </a:r>
            <a:endParaRPr lang="en-US" sz="900" dirty="0"/>
          </a:p>
        </p:txBody>
      </p:sp>
      <p:sp>
        <p:nvSpPr>
          <p:cNvPr id="45" name="Shape 43"/>
          <p:cNvSpPr/>
          <p:nvPr/>
        </p:nvSpPr>
        <p:spPr>
          <a:xfrm>
            <a:off x="365760" y="3794760"/>
            <a:ext cx="1645920" cy="475488"/>
          </a:xfrm>
          <a:prstGeom prst="rect">
            <a:avLst/>
          </a:prstGeom>
          <a:solidFill>
            <a:srgbClr val="FFFFFF"/>
          </a:solidFill>
          <a:ln w="12700">
            <a:solidFill>
              <a:srgbClr val="DDDDDD"/>
            </a:solidFill>
            <a:prstDash val="solid"/>
          </a:ln>
        </p:spPr>
        <p:txBody>
          <a:bodyPr/>
          <a:lstStyle/>
          <a:p>
            <a:endParaRPr lang="fr-FR"/>
          </a:p>
        </p:txBody>
      </p:sp>
      <p:sp>
        <p:nvSpPr>
          <p:cNvPr id="46" name="Shape 44"/>
          <p:cNvSpPr/>
          <p:nvPr/>
        </p:nvSpPr>
        <p:spPr>
          <a:xfrm>
            <a:off x="2011680" y="3794760"/>
            <a:ext cx="5303520" cy="475488"/>
          </a:xfrm>
          <a:prstGeom prst="rect">
            <a:avLst/>
          </a:prstGeom>
          <a:solidFill>
            <a:srgbClr val="FFFFFF"/>
          </a:solidFill>
          <a:ln w="12700">
            <a:solidFill>
              <a:srgbClr val="DDDDDD"/>
            </a:solidFill>
            <a:prstDash val="solid"/>
          </a:ln>
        </p:spPr>
        <p:txBody>
          <a:bodyPr/>
          <a:lstStyle/>
          <a:p>
            <a:endParaRPr lang="fr-FR"/>
          </a:p>
        </p:txBody>
      </p:sp>
      <p:sp>
        <p:nvSpPr>
          <p:cNvPr id="47" name="Shape 45"/>
          <p:cNvSpPr/>
          <p:nvPr/>
        </p:nvSpPr>
        <p:spPr>
          <a:xfrm>
            <a:off x="7315200" y="3794760"/>
            <a:ext cx="1645920" cy="475488"/>
          </a:xfrm>
          <a:prstGeom prst="rect">
            <a:avLst/>
          </a:prstGeom>
          <a:solidFill>
            <a:srgbClr val="FFFFFF"/>
          </a:solidFill>
          <a:ln w="12700">
            <a:solidFill>
              <a:srgbClr val="DDDDDD"/>
            </a:solidFill>
            <a:prstDash val="solid"/>
          </a:ln>
        </p:spPr>
        <p:txBody>
          <a:bodyPr/>
          <a:lstStyle/>
          <a:p>
            <a:endParaRPr lang="fr-FR"/>
          </a:p>
        </p:txBody>
      </p:sp>
      <p:sp>
        <p:nvSpPr>
          <p:cNvPr id="48" name="Text 46"/>
          <p:cNvSpPr/>
          <p:nvPr/>
        </p:nvSpPr>
        <p:spPr>
          <a:xfrm>
            <a:off x="457200" y="3822192"/>
            <a:ext cx="1463040" cy="420624"/>
          </a:xfrm>
          <a:prstGeom prst="rect">
            <a:avLst/>
          </a:prstGeom>
          <a:noFill/>
          <a:ln/>
        </p:spPr>
        <p:txBody>
          <a:bodyPr wrap="square" lIns="0" tIns="0" rIns="0" bIns="0" rtlCol="0" anchor="ctr"/>
          <a:lstStyle/>
          <a:p>
            <a:pPr marL="0" indent="0">
              <a:buNone/>
            </a:pPr>
            <a:r>
              <a:rPr lang="en-US" sz="1000" b="1" dirty="0">
                <a:solidFill>
                  <a:srgbClr val="1F4E79"/>
                </a:solidFill>
                <a:latin typeface="Arial" pitchFamily="34" charset="0"/>
                <a:ea typeface="Arial" pitchFamily="34" charset="-122"/>
                <a:cs typeface="Arial" pitchFamily="34" charset="-120"/>
              </a:rPr>
              <a:t>RLS PowerBI</a:t>
            </a:r>
            <a:endParaRPr lang="en-US" sz="1000" dirty="0"/>
          </a:p>
        </p:txBody>
      </p:sp>
      <p:sp>
        <p:nvSpPr>
          <p:cNvPr id="49" name="Text 47"/>
          <p:cNvSpPr/>
          <p:nvPr/>
        </p:nvSpPr>
        <p:spPr>
          <a:xfrm>
            <a:off x="2103120" y="3822192"/>
            <a:ext cx="5120640" cy="420624"/>
          </a:xfrm>
          <a:prstGeom prst="rect">
            <a:avLst/>
          </a:prstGeom>
          <a:noFill/>
          <a:ln/>
        </p:spPr>
        <p:txBody>
          <a:bodyPr wrap="square" lIns="0" tIns="0" rIns="0" bIns="0" rtlCol="0" anchor="ctr"/>
          <a:lstStyle/>
          <a:p>
            <a:pPr marL="0" indent="0">
              <a:buNone/>
            </a:pPr>
            <a:r>
              <a:rPr lang="en-US" sz="1000" dirty="0">
                <a:solidFill>
                  <a:srgbClr val="1A1A2E"/>
                </a:solidFill>
                <a:latin typeface="Arial" pitchFamily="34" charset="0"/>
                <a:ea typeface="Arial" pitchFamily="34" charset="-122"/>
                <a:cs typeface="Arial" pitchFamily="34" charset="-120"/>
              </a:rPr>
              <a:t>Row-Level Security via PowerBI Service</a:t>
            </a:r>
            <a:endParaRPr lang="en-US" sz="1000" dirty="0"/>
          </a:p>
        </p:txBody>
      </p:sp>
      <p:sp>
        <p:nvSpPr>
          <p:cNvPr id="50" name="Shape 48"/>
          <p:cNvSpPr/>
          <p:nvPr/>
        </p:nvSpPr>
        <p:spPr>
          <a:xfrm>
            <a:off x="7406640" y="3858768"/>
            <a:ext cx="1371600" cy="320040"/>
          </a:xfrm>
          <a:prstGeom prst="rect">
            <a:avLst/>
          </a:prstGeom>
          <a:solidFill>
            <a:srgbClr val="E67E22"/>
          </a:solidFill>
          <a:ln w="12700">
            <a:solidFill>
              <a:srgbClr val="E67E22"/>
            </a:solidFill>
            <a:prstDash val="solid"/>
          </a:ln>
        </p:spPr>
        <p:txBody>
          <a:bodyPr/>
          <a:lstStyle/>
          <a:p>
            <a:endParaRPr lang="fr-FR"/>
          </a:p>
        </p:txBody>
      </p:sp>
      <p:sp>
        <p:nvSpPr>
          <p:cNvPr id="51" name="Text 49"/>
          <p:cNvSpPr/>
          <p:nvPr/>
        </p:nvSpPr>
        <p:spPr>
          <a:xfrm>
            <a:off x="7406640" y="3858768"/>
            <a:ext cx="137160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MOYENNE</a:t>
            </a:r>
            <a:endParaRPr lang="en-US" sz="900" dirty="0"/>
          </a:p>
        </p:txBody>
      </p:sp>
      <p:sp>
        <p:nvSpPr>
          <p:cNvPr id="52" name="Shape 50"/>
          <p:cNvSpPr/>
          <p:nvPr/>
        </p:nvSpPr>
        <p:spPr>
          <a:xfrm>
            <a:off x="365760" y="4270248"/>
            <a:ext cx="1645920" cy="475488"/>
          </a:xfrm>
          <a:prstGeom prst="rect">
            <a:avLst/>
          </a:prstGeom>
          <a:solidFill>
            <a:srgbClr val="D6E4F0"/>
          </a:solidFill>
          <a:ln w="12700">
            <a:solidFill>
              <a:srgbClr val="DDDDDD"/>
            </a:solidFill>
            <a:prstDash val="solid"/>
          </a:ln>
        </p:spPr>
        <p:txBody>
          <a:bodyPr/>
          <a:lstStyle/>
          <a:p>
            <a:endParaRPr lang="fr-FR"/>
          </a:p>
        </p:txBody>
      </p:sp>
      <p:sp>
        <p:nvSpPr>
          <p:cNvPr id="53" name="Shape 51"/>
          <p:cNvSpPr/>
          <p:nvPr/>
        </p:nvSpPr>
        <p:spPr>
          <a:xfrm>
            <a:off x="2011680" y="4270248"/>
            <a:ext cx="5303520" cy="475488"/>
          </a:xfrm>
          <a:prstGeom prst="rect">
            <a:avLst/>
          </a:prstGeom>
          <a:solidFill>
            <a:srgbClr val="D6E4F0"/>
          </a:solidFill>
          <a:ln w="12700">
            <a:solidFill>
              <a:srgbClr val="DDDDDD"/>
            </a:solidFill>
            <a:prstDash val="solid"/>
          </a:ln>
        </p:spPr>
        <p:txBody>
          <a:bodyPr/>
          <a:lstStyle/>
          <a:p>
            <a:endParaRPr lang="fr-FR"/>
          </a:p>
        </p:txBody>
      </p:sp>
      <p:sp>
        <p:nvSpPr>
          <p:cNvPr id="54" name="Shape 52"/>
          <p:cNvSpPr/>
          <p:nvPr/>
        </p:nvSpPr>
        <p:spPr>
          <a:xfrm>
            <a:off x="7315200" y="4270248"/>
            <a:ext cx="1645920" cy="475488"/>
          </a:xfrm>
          <a:prstGeom prst="rect">
            <a:avLst/>
          </a:prstGeom>
          <a:solidFill>
            <a:srgbClr val="D6E4F0"/>
          </a:solidFill>
          <a:ln w="12700">
            <a:solidFill>
              <a:srgbClr val="DDDDDD"/>
            </a:solidFill>
            <a:prstDash val="solid"/>
          </a:ln>
        </p:spPr>
        <p:txBody>
          <a:bodyPr/>
          <a:lstStyle/>
          <a:p>
            <a:endParaRPr lang="fr-FR"/>
          </a:p>
        </p:txBody>
      </p:sp>
      <p:sp>
        <p:nvSpPr>
          <p:cNvPr id="55" name="Text 53"/>
          <p:cNvSpPr/>
          <p:nvPr/>
        </p:nvSpPr>
        <p:spPr>
          <a:xfrm>
            <a:off x="457200" y="4297680"/>
            <a:ext cx="1463040" cy="420624"/>
          </a:xfrm>
          <a:prstGeom prst="rect">
            <a:avLst/>
          </a:prstGeom>
          <a:noFill/>
          <a:ln/>
        </p:spPr>
        <p:txBody>
          <a:bodyPr wrap="square" lIns="0" tIns="0" rIns="0" bIns="0" rtlCol="0" anchor="ctr"/>
          <a:lstStyle/>
          <a:p>
            <a:pPr marL="0" indent="0">
              <a:buNone/>
            </a:pPr>
            <a:r>
              <a:rPr lang="en-US" sz="1000" b="1" dirty="0">
                <a:solidFill>
                  <a:srgbClr val="1F4E79"/>
                </a:solidFill>
                <a:latin typeface="Arial" pitchFamily="34" charset="0"/>
                <a:ea typeface="Arial" pitchFamily="34" charset="-122"/>
                <a:cs typeface="Arial" pitchFamily="34" charset="-120"/>
              </a:rPr>
              <a:t>Flow Strava</a:t>
            </a:r>
            <a:endParaRPr lang="en-US" sz="1000" dirty="0"/>
          </a:p>
        </p:txBody>
      </p:sp>
      <p:sp>
        <p:nvSpPr>
          <p:cNvPr id="56" name="Text 54"/>
          <p:cNvSpPr/>
          <p:nvPr/>
        </p:nvSpPr>
        <p:spPr>
          <a:xfrm>
            <a:off x="2103120" y="4297680"/>
            <a:ext cx="5120640" cy="420624"/>
          </a:xfrm>
          <a:prstGeom prst="rect">
            <a:avLst/>
          </a:prstGeom>
          <a:noFill/>
          <a:ln/>
        </p:spPr>
        <p:txBody>
          <a:bodyPr wrap="square" lIns="0" tIns="0" rIns="0" bIns="0" rtlCol="0" anchor="ctr"/>
          <a:lstStyle/>
          <a:p>
            <a:pPr marL="0" indent="0">
              <a:buNone/>
            </a:pPr>
            <a:r>
              <a:rPr lang="en-US" sz="1000" dirty="0">
                <a:solidFill>
                  <a:srgbClr val="1A1A2E"/>
                </a:solidFill>
                <a:latin typeface="Arial" pitchFamily="34" charset="0"/>
                <a:ea typeface="Arial" pitchFamily="34" charset="-122"/>
                <a:cs typeface="Arial" pitchFamily="34" charset="-120"/>
              </a:rPr>
              <a:t>Orchestrer envoi emails + collecte via Kestra</a:t>
            </a:r>
            <a:endParaRPr lang="en-US" sz="1000" dirty="0"/>
          </a:p>
        </p:txBody>
      </p:sp>
      <p:sp>
        <p:nvSpPr>
          <p:cNvPr id="57" name="Shape 55"/>
          <p:cNvSpPr/>
          <p:nvPr/>
        </p:nvSpPr>
        <p:spPr>
          <a:xfrm>
            <a:off x="7406640" y="4334256"/>
            <a:ext cx="1371600" cy="320040"/>
          </a:xfrm>
          <a:prstGeom prst="rect">
            <a:avLst/>
          </a:prstGeom>
          <a:solidFill>
            <a:srgbClr val="27AE60"/>
          </a:solidFill>
          <a:ln w="12700">
            <a:solidFill>
              <a:srgbClr val="27AE60"/>
            </a:solidFill>
            <a:prstDash val="solid"/>
          </a:ln>
        </p:spPr>
        <p:txBody>
          <a:bodyPr/>
          <a:lstStyle/>
          <a:p>
            <a:endParaRPr lang="fr-FR"/>
          </a:p>
        </p:txBody>
      </p:sp>
      <p:sp>
        <p:nvSpPr>
          <p:cNvPr id="58" name="Text 56"/>
          <p:cNvSpPr/>
          <p:nvPr/>
        </p:nvSpPr>
        <p:spPr>
          <a:xfrm>
            <a:off x="7406640" y="4334256"/>
            <a:ext cx="137160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BASSE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4E79"/>
        </a:solidFill>
        <a:effectLst/>
      </p:bgPr>
    </p:bg>
    <p:spTree>
      <p:nvGrpSpPr>
        <p:cNvPr id="1" name=""/>
        <p:cNvGrpSpPr/>
        <p:nvPr/>
      </p:nvGrpSpPr>
      <p:grpSpPr>
        <a:xfrm>
          <a:off x="0" y="0"/>
          <a:ext cx="0" cy="0"/>
          <a:chOff x="0" y="0"/>
          <a:chExt cx="0" cy="0"/>
        </a:xfrm>
      </p:grpSpPr>
      <p:sp>
        <p:nvSpPr>
          <p:cNvPr id="2" name="Shape 0"/>
          <p:cNvSpPr/>
          <p:nvPr/>
        </p:nvSpPr>
        <p:spPr>
          <a:xfrm>
            <a:off x="6400800" y="-274320"/>
            <a:ext cx="3657600" cy="3657600"/>
          </a:xfrm>
          <a:prstGeom prst="ellipse">
            <a:avLst/>
          </a:prstGeom>
          <a:solidFill>
            <a:srgbClr val="2E75B6">
              <a:alpha val="25000"/>
            </a:srgbClr>
          </a:solidFill>
          <a:ln w="12700">
            <a:solidFill>
              <a:srgbClr val="2E75B6">
                <a:alpha val="25000"/>
              </a:srgbClr>
            </a:solidFill>
            <a:prstDash val="solid"/>
          </a:ln>
        </p:spPr>
        <p:txBody>
          <a:bodyPr/>
          <a:lstStyle/>
          <a:p>
            <a:endParaRPr lang="fr-FR"/>
          </a:p>
        </p:txBody>
      </p:sp>
      <p:sp>
        <p:nvSpPr>
          <p:cNvPr id="3" name="Text 1"/>
          <p:cNvSpPr/>
          <p:nvPr/>
        </p:nvSpPr>
        <p:spPr>
          <a:xfrm>
            <a:off x="457200" y="228600"/>
            <a:ext cx="8229600" cy="64008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Conclusion</a:t>
            </a:r>
            <a:endParaRPr lang="en-US" sz="2600" dirty="0"/>
          </a:p>
        </p:txBody>
      </p:sp>
      <p:sp>
        <p:nvSpPr>
          <p:cNvPr id="4" name="Shape 2"/>
          <p:cNvSpPr/>
          <p:nvPr/>
        </p:nvSpPr>
        <p:spPr>
          <a:xfrm>
            <a:off x="457200" y="896112"/>
            <a:ext cx="1097280" cy="54864"/>
          </a:xfrm>
          <a:prstGeom prst="rect">
            <a:avLst/>
          </a:prstGeom>
          <a:solidFill>
            <a:srgbClr val="70AD47"/>
          </a:solidFill>
          <a:ln w="12700">
            <a:solidFill>
              <a:srgbClr val="70AD47"/>
            </a:solidFill>
            <a:prstDash val="solid"/>
          </a:ln>
        </p:spPr>
        <p:txBody>
          <a:bodyPr/>
          <a:lstStyle/>
          <a:p>
            <a:endParaRPr lang="fr-FR"/>
          </a:p>
        </p:txBody>
      </p:sp>
      <p:sp>
        <p:nvSpPr>
          <p:cNvPr id="5" name="Text 3"/>
          <p:cNvSpPr/>
          <p:nvPr/>
        </p:nvSpPr>
        <p:spPr>
          <a:xfrm>
            <a:off x="457200" y="1051560"/>
            <a:ext cx="5943600" cy="292608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BDD7EE"/>
                </a:solidFill>
                <a:latin typeface="Arial" pitchFamily="34" charset="0"/>
                <a:ea typeface="Arial" pitchFamily="34" charset="-122"/>
                <a:cs typeface="Arial" pitchFamily="34" charset="-120"/>
              </a:rPr>
              <a:t>POC fonctionnel end-to-end en environnement Docker</a:t>
            </a:r>
            <a:endParaRPr lang="en-US" sz="1300" dirty="0"/>
          </a:p>
          <a:p>
            <a:pPr marL="342900" indent="-342900">
              <a:spcAft>
                <a:spcPts val="800"/>
              </a:spcAft>
              <a:buSzPct val="100000"/>
              <a:buChar char="•"/>
            </a:pPr>
            <a:r>
              <a:rPr lang="en-US" sz="1300" dirty="0">
                <a:solidFill>
                  <a:srgbClr val="BDD7EE"/>
                </a:solidFill>
                <a:latin typeface="Arial" pitchFamily="34" charset="0"/>
                <a:ea typeface="Arial" pitchFamily="34" charset="-122"/>
                <a:cs typeface="Arial" pitchFamily="34" charset="-120"/>
              </a:rPr>
              <a:t>Architecture modulaire et evolutive (3 flows independants)</a:t>
            </a:r>
            <a:endParaRPr lang="en-US" sz="1300" dirty="0"/>
          </a:p>
          <a:p>
            <a:pPr marL="342900" indent="-342900">
              <a:spcAft>
                <a:spcPts val="800"/>
              </a:spcAft>
              <a:buSzPct val="100000"/>
              <a:buChar char="•"/>
            </a:pPr>
            <a:r>
              <a:rPr lang="en-US" sz="1300" dirty="0">
                <a:solidFill>
                  <a:srgbClr val="BDD7EE"/>
                </a:solidFill>
                <a:latin typeface="Arial" pitchFamily="34" charset="0"/>
                <a:ea typeface="Arial" pitchFamily="34" charset="-122"/>
                <a:cs typeface="Arial" pitchFamily="34" charset="-120"/>
              </a:rPr>
              <a:t>Automatisation complete : de la collecte Strava au rapport PowerBI</a:t>
            </a:r>
            <a:endParaRPr lang="en-US" sz="1300" dirty="0"/>
          </a:p>
          <a:p>
            <a:pPr marL="342900" indent="-342900">
              <a:spcAft>
                <a:spcPts val="800"/>
              </a:spcAft>
              <a:buSzPct val="100000"/>
              <a:buChar char="•"/>
            </a:pPr>
            <a:r>
              <a:rPr lang="en-US" sz="1300" dirty="0">
                <a:solidFill>
                  <a:srgbClr val="BDD7EE"/>
                </a:solidFill>
                <a:latin typeface="Arial" pitchFamily="34" charset="0"/>
                <a:ea typeface="Arial" pitchFamily="34" charset="-122"/>
                <a:cs typeface="Arial" pitchFamily="34" charset="-120"/>
              </a:rPr>
              <a:t>Reduction du calcul des primes : de plusieurs heures a quelques secondes</a:t>
            </a:r>
            <a:endParaRPr lang="en-US" sz="1300" dirty="0"/>
          </a:p>
          <a:p>
            <a:pPr marL="342900" indent="-342900">
              <a:spcAft>
                <a:spcPts val="800"/>
              </a:spcAft>
              <a:buSzPct val="100000"/>
              <a:buChar char="•"/>
            </a:pPr>
            <a:r>
              <a:rPr lang="en-US" sz="1300" dirty="0">
                <a:solidFill>
                  <a:srgbClr val="BDD7EE"/>
                </a:solidFill>
                <a:latin typeface="Arial" pitchFamily="34" charset="0"/>
                <a:ea typeface="Arial" pitchFamily="34" charset="-122"/>
                <a:cs typeface="Arial" pitchFamily="34" charset="-120"/>
              </a:rPr>
              <a:t>Base solide pour un deploiement en production</a:t>
            </a:r>
            <a:endParaRPr lang="en-US" sz="1300" dirty="0"/>
          </a:p>
        </p:txBody>
      </p:sp>
      <p:sp>
        <p:nvSpPr>
          <p:cNvPr id="6" name="Shape 4"/>
          <p:cNvSpPr/>
          <p:nvPr/>
        </p:nvSpPr>
        <p:spPr>
          <a:xfrm>
            <a:off x="365760" y="3977640"/>
            <a:ext cx="8412480" cy="868680"/>
          </a:xfrm>
          <a:prstGeom prst="rect">
            <a:avLst/>
          </a:prstGeom>
          <a:solidFill>
            <a:srgbClr val="1D6FA4"/>
          </a:solidFill>
          <a:ln w="12700">
            <a:solidFill>
              <a:srgbClr val="70AD47"/>
            </a:solidFill>
            <a:prstDash val="solid"/>
          </a:ln>
          <a:effectLst>
            <a:outerShdw blurRad="101600" dist="25400" dir="8100000" algn="bl" rotWithShape="0">
              <a:srgbClr val="000000">
                <a:alpha val="12000"/>
              </a:srgbClr>
            </a:outerShdw>
          </a:effectLst>
        </p:spPr>
        <p:txBody>
          <a:bodyPr/>
          <a:lstStyle/>
          <a:p>
            <a:endParaRPr lang="fr-FR"/>
          </a:p>
        </p:txBody>
      </p:sp>
      <p:sp>
        <p:nvSpPr>
          <p:cNvPr id="7" name="Text 5"/>
          <p:cNvSpPr/>
          <p:nvPr/>
        </p:nvSpPr>
        <p:spPr>
          <a:xfrm>
            <a:off x="548640" y="4005072"/>
            <a:ext cx="8046720" cy="8046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Ce POC demontre la faisabilite technique complete</a:t>
            </a:r>
            <a:endParaRPr lang="en-US" sz="1400" dirty="0"/>
          </a:p>
          <a:p>
            <a:pPr marL="0" indent="0" algn="ctr">
              <a:buNone/>
            </a:pPr>
            <a:r>
              <a:rPr lang="en-US" sz="1400" b="1" dirty="0">
                <a:solidFill>
                  <a:srgbClr val="FFFFFF"/>
                </a:solidFill>
                <a:latin typeface="Arial" pitchFamily="34" charset="0"/>
                <a:ea typeface="Arial" pitchFamily="34" charset="-122"/>
                <a:cs typeface="Arial" pitchFamily="34" charset="-120"/>
              </a:rPr>
              <a:t>de l'automatisation des avantages sportifs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F4E79"/>
        </a:solidFill>
        <a:effectLst/>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2E75B6">
              <a:alpha val="25000"/>
            </a:srgbClr>
          </a:solidFill>
          <a:ln w="12700">
            <a:solidFill>
              <a:srgbClr val="2E75B6">
                <a:alpha val="25000"/>
              </a:srgbClr>
            </a:solidFill>
            <a:prstDash val="solid"/>
          </a:ln>
        </p:spPr>
        <p:txBody>
          <a:bodyPr/>
          <a:lstStyle/>
          <a:p>
            <a:endParaRPr lang="fr-FR"/>
          </a:p>
        </p:txBody>
      </p:sp>
      <p:sp>
        <p:nvSpPr>
          <p:cNvPr id="3" name="Shape 1"/>
          <p:cNvSpPr/>
          <p:nvPr/>
        </p:nvSpPr>
        <p:spPr>
          <a:xfrm>
            <a:off x="6858000" y="-457200"/>
            <a:ext cx="3657600" cy="3657600"/>
          </a:xfrm>
          <a:prstGeom prst="ellipse">
            <a:avLst/>
          </a:prstGeom>
          <a:solidFill>
            <a:srgbClr val="70AD47">
              <a:alpha val="20000"/>
            </a:srgbClr>
          </a:solidFill>
          <a:ln w="12700">
            <a:solidFill>
              <a:srgbClr val="70AD47">
                <a:alpha val="20000"/>
              </a:srgbClr>
            </a:solidFill>
            <a:prstDash val="solid"/>
          </a:ln>
        </p:spPr>
        <p:txBody>
          <a:bodyPr/>
          <a:lstStyle/>
          <a:p>
            <a:endParaRPr lang="fr-FR"/>
          </a:p>
        </p:txBody>
      </p:sp>
      <p:sp>
        <p:nvSpPr>
          <p:cNvPr id="4" name="Text 2"/>
          <p:cNvSpPr/>
          <p:nvPr/>
        </p:nvSpPr>
        <p:spPr>
          <a:xfrm>
            <a:off x="914400" y="1280160"/>
            <a:ext cx="7315200" cy="1280160"/>
          </a:xfrm>
          <a:prstGeom prst="rect">
            <a:avLst/>
          </a:prstGeom>
          <a:noFill/>
          <a:ln/>
        </p:spPr>
        <p:txBody>
          <a:bodyPr wrap="square" rtlCol="0" anchor="ctr"/>
          <a:lstStyle/>
          <a:p>
            <a:pPr marL="0" indent="0" algn="ctr">
              <a:buNone/>
            </a:pPr>
            <a:r>
              <a:rPr lang="en-US" sz="5600" b="1" dirty="0">
                <a:solidFill>
                  <a:srgbClr val="FFFFFF"/>
                </a:solidFill>
                <a:latin typeface="Arial" pitchFamily="34" charset="0"/>
                <a:ea typeface="Arial" pitchFamily="34" charset="-122"/>
                <a:cs typeface="Arial" pitchFamily="34" charset="-120"/>
              </a:rPr>
              <a:t>Questions ?</a:t>
            </a:r>
            <a:endParaRPr lang="en-US" sz="5600" dirty="0"/>
          </a:p>
        </p:txBody>
      </p:sp>
      <p:sp>
        <p:nvSpPr>
          <p:cNvPr id="5" name="Text 3"/>
          <p:cNvSpPr/>
          <p:nvPr/>
        </p:nvSpPr>
        <p:spPr>
          <a:xfrm>
            <a:off x="914400" y="2651760"/>
            <a:ext cx="7315200" cy="548640"/>
          </a:xfrm>
          <a:prstGeom prst="rect">
            <a:avLst/>
          </a:prstGeom>
          <a:noFill/>
          <a:ln/>
        </p:spPr>
        <p:txBody>
          <a:bodyPr wrap="square" rtlCol="0" anchor="ctr"/>
          <a:lstStyle/>
          <a:p>
            <a:pPr marL="0" indent="0" algn="ctr">
              <a:buNone/>
            </a:pPr>
            <a:r>
              <a:rPr lang="en-US" sz="2000" i="1" dirty="0">
                <a:solidFill>
                  <a:srgbClr val="9DC3E6"/>
                </a:solidFill>
                <a:latin typeface="Arial" pitchFamily="34" charset="0"/>
                <a:ea typeface="Arial" pitchFamily="34" charset="-122"/>
                <a:cs typeface="Arial" pitchFamily="34" charset="-120"/>
              </a:rPr>
              <a:t>Merci pour votre attention</a:t>
            </a:r>
            <a:endParaRPr lang="en-US" sz="2000" dirty="0"/>
          </a:p>
        </p:txBody>
      </p:sp>
      <p:sp>
        <p:nvSpPr>
          <p:cNvPr id="6" name="Shape 4"/>
          <p:cNvSpPr/>
          <p:nvPr/>
        </p:nvSpPr>
        <p:spPr>
          <a:xfrm>
            <a:off x="2743200" y="3429000"/>
            <a:ext cx="3657600" cy="45720"/>
          </a:xfrm>
          <a:prstGeom prst="rect">
            <a:avLst/>
          </a:prstGeom>
          <a:solidFill>
            <a:srgbClr val="70AD47"/>
          </a:solidFill>
          <a:ln w="12700">
            <a:solidFill>
              <a:srgbClr val="70AD47"/>
            </a:solidFill>
            <a:prstDash val="solid"/>
          </a:ln>
        </p:spPr>
        <p:txBody>
          <a:bodyPr/>
          <a:lstStyle/>
          <a:p>
            <a:endParaRPr lang="fr-FR"/>
          </a:p>
        </p:txBody>
      </p:sp>
      <p:sp>
        <p:nvSpPr>
          <p:cNvPr id="7" name="Text 5"/>
          <p:cNvSpPr/>
          <p:nvPr/>
        </p:nvSpPr>
        <p:spPr>
          <a:xfrm>
            <a:off x="914400" y="3657600"/>
            <a:ext cx="7315200" cy="365760"/>
          </a:xfrm>
          <a:prstGeom prst="rect">
            <a:avLst/>
          </a:prstGeom>
          <a:noFill/>
          <a:ln/>
        </p:spPr>
        <p:txBody>
          <a:bodyPr wrap="square" rtlCol="0" anchor="ctr"/>
          <a:lstStyle/>
          <a:p>
            <a:pPr marL="0" indent="0" algn="ctr">
              <a:buNone/>
            </a:pPr>
            <a:r>
              <a:rPr lang="en-US" sz="1200" dirty="0">
                <a:solidFill>
                  <a:srgbClr val="9DC3E6"/>
                </a:solidFill>
                <a:latin typeface="Arial" pitchFamily="34" charset="0"/>
                <a:ea typeface="Arial" pitchFamily="34" charset="-122"/>
                <a:cs typeface="Arial" pitchFamily="34" charset="-120"/>
              </a:rPr>
              <a:t>Sport Data Solution  |  ardit.karaboja@live.com  |  Juin 2026</a:t>
            </a:r>
            <a:endParaRPr lang="en-US" sz="1200"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 name="rect"/>
          <p:cNvSpPr>
            <a:spLocks noGrp="1"/>
          </p:cNvSpPr>
          <p:nvPr/>
        </p:nvSpPr>
        <p:spPr>
          <a:xfrm>
            <a:off x="0" y="0"/>
            <a:ext cx="9144000" cy="5143500"/>
          </a:xfrm>
          <a:prstGeom prst="rect">
            <a:avLst/>
          </a:prstGeom>
          <a:solidFill>
            <a:srgbClr val="1A1A2E"/>
          </a:solidFill>
          <a:ln>
            <a:noFill/>
          </a:ln>
        </p:spPr>
        <p:txBody>
          <a:bodyPr/>
          <a:lstStyle/>
          <a:p/>
        </p:txBody>
      </p:sp>
      <p:sp>
        <p:nvSpPr>
          <p:cNvPr id="2" name="TextBox 1"/>
          <p:cNvSpPr txBox="1"/>
          <p:nvPr/>
        </p:nvSpPr>
        <p:spPr>
          <a:xfrm>
            <a:off x="274320" y="91440"/>
            <a:ext cx="8595360" cy="457200"/>
          </a:xfrm>
          <a:prstGeom prst="rect">
            <a:avLst/>
          </a:prstGeom>
          <a:noFill/>
        </p:spPr>
        <p:txBody>
          <a:bodyPr wrap="square">
            <a:spAutoFit/>
          </a:bodyPr>
          <a:lstStyle/>
          <a:p>
            <a:pPr algn="ctr"/>
            <a:r>
              <a:rPr sz="2200" b="1" i="0">
                <a:solidFill>
                  <a:srgbClr val="FFFFFF"/>
                </a:solidFill>
              </a:rPr>
              <a:t>Schéma de l'architecture complète</a:t>
            </a:r>
          </a:p>
        </p:txBody>
      </p:sp>
      <p:sp>
        <p:nvSpPr>
          <p:cNvPr id="3" name="TextBox 2"/>
          <p:cNvSpPr txBox="1"/>
          <p:nvPr/>
        </p:nvSpPr>
        <p:spPr>
          <a:xfrm>
            <a:off x="274320" y="502920"/>
            <a:ext cx="8595360" cy="256032"/>
          </a:xfrm>
          <a:prstGeom prst="rect">
            <a:avLst/>
          </a:prstGeom>
          <a:noFill/>
        </p:spPr>
        <p:txBody>
          <a:bodyPr wrap="square">
            <a:spAutoFit/>
          </a:bodyPr>
          <a:lstStyle/>
          <a:p>
            <a:pPr algn="ctr"/>
            <a:r>
              <a:rPr sz="1000" b="0" i="0">
                <a:solidFill>
                  <a:srgbClr val="8888AA"/>
                </a:solidFill>
              </a:rPr>
              <a:t>Réseau Docker partagé : strava_network</a:t>
            </a:r>
          </a:p>
        </p:txBody>
      </p:sp>
      <p:sp>
        <p:nvSpPr>
          <p:cNvPr id="1" name="rect"/>
          <p:cNvSpPr>
            <a:spLocks noGrp="1"/>
          </p:cNvSpPr>
          <p:nvPr/>
        </p:nvSpPr>
        <p:spPr>
          <a:xfrm>
            <a:off x="228600" y="868680"/>
            <a:ext cx="2743200" cy="2377440"/>
          </a:xfrm>
          <a:prstGeom prst="rect">
            <a:avLst/>
          </a:prstGeom>
          <a:solidFill>
            <a:srgbClr val="16213E"/>
          </a:solidFill>
          <a:ln w="19050">
            <a:solidFill>
              <a:srgbClr val="FC4C02"/>
            </a:solidFill>
          </a:ln>
        </p:spPr>
        <p:txBody>
          <a:bodyPr/>
          <a:lstStyle/>
          <a:p/>
        </p:txBody>
      </p:sp>
      <p:sp>
        <p:nvSpPr>
          <p:cNvPr id="4" name="TextBox 3"/>
          <p:cNvSpPr txBox="1"/>
          <p:nvPr/>
        </p:nvSpPr>
        <p:spPr>
          <a:xfrm>
            <a:off x="320040" y="914400"/>
            <a:ext cx="2560320" cy="274320"/>
          </a:xfrm>
          <a:prstGeom prst="rect">
            <a:avLst/>
          </a:prstGeom>
          <a:noFill/>
        </p:spPr>
        <p:txBody>
          <a:bodyPr wrap="square">
            <a:spAutoFit/>
          </a:bodyPr>
          <a:lstStyle/>
          <a:p>
            <a:pPr algn="l"/>
            <a:r>
              <a:rPr sz="900" b="1" i="0">
                <a:solidFill>
                  <a:srgbClr val="FC4C02"/>
                </a:solidFill>
              </a:rPr>
              <a:t>Docker Compose 1 — Collecte Strava</a:t>
            </a:r>
          </a:p>
        </p:txBody>
      </p:sp>
      <p:sp>
        <p:nvSpPr>
          <p:cNvPr id="1" name="rect"/>
          <p:cNvSpPr>
            <a:spLocks noGrp="1"/>
          </p:cNvSpPr>
          <p:nvPr/>
        </p:nvSpPr>
        <p:spPr>
          <a:xfrm>
            <a:off x="320040" y="1216152"/>
            <a:ext cx="1143000" cy="502920"/>
          </a:xfrm>
          <a:prstGeom prst="rect">
            <a:avLst/>
          </a:prstGeom>
          <a:solidFill>
            <a:srgbClr val="0F3460"/>
          </a:solidFill>
          <a:ln w="12700">
            <a:solidFill>
              <a:srgbClr val="4A90D9"/>
            </a:solidFill>
          </a:ln>
        </p:spPr>
        <p:txBody>
          <a:bodyPr/>
          <a:lstStyle/>
          <a:p/>
        </p:txBody>
      </p:sp>
      <p:sp>
        <p:nvSpPr>
          <p:cNvPr id="5" name="TextBox 4"/>
          <p:cNvSpPr txBox="1"/>
          <p:nvPr/>
        </p:nvSpPr>
        <p:spPr>
          <a:xfrm>
            <a:off x="338328" y="1234440"/>
            <a:ext cx="1097280" cy="182880"/>
          </a:xfrm>
          <a:prstGeom prst="rect">
            <a:avLst/>
          </a:prstGeom>
          <a:noFill/>
        </p:spPr>
        <p:txBody>
          <a:bodyPr wrap="square">
            <a:spAutoFit/>
          </a:bodyPr>
          <a:lstStyle/>
          <a:p>
            <a:pPr algn="l"/>
            <a:r>
              <a:rPr sz="800" b="1" i="0">
                <a:solidFill>
                  <a:srgbClr val="4A90D9"/>
                </a:solidFill>
              </a:rPr>
              <a:t>SQL Server 2022</a:t>
            </a:r>
          </a:p>
        </p:txBody>
      </p:sp>
      <p:sp>
        <p:nvSpPr>
          <p:cNvPr id="6" name="TextBox 5"/>
          <p:cNvSpPr txBox="1"/>
          <p:nvPr/>
        </p:nvSpPr>
        <p:spPr>
          <a:xfrm>
            <a:off x="338328" y="1399031"/>
            <a:ext cx="1097280" cy="292608"/>
          </a:xfrm>
          <a:prstGeom prst="rect">
            <a:avLst/>
          </a:prstGeom>
          <a:noFill/>
        </p:spPr>
        <p:txBody>
          <a:bodyPr wrap="square">
            <a:spAutoFit/>
          </a:bodyPr>
          <a:lstStyle/>
          <a:p>
            <a:pPr algn="l"/>
            <a:r>
              <a:rPr sz="700" b="0" i="0">
                <a:solidFill>
                  <a:srgbClr val="AAAACC"/>
                </a:solidFill>
              </a:rPr>
              <a:t>CDC activé
StravaDb</a:t>
            </a:r>
          </a:p>
        </p:txBody>
      </p:sp>
      <p:sp>
        <p:nvSpPr>
          <p:cNvPr id="1" name="rect"/>
          <p:cNvSpPr>
            <a:spLocks noGrp="1"/>
          </p:cNvSpPr>
          <p:nvPr/>
        </p:nvSpPr>
        <p:spPr>
          <a:xfrm>
            <a:off x="1600200" y="1216152"/>
            <a:ext cx="1234440" cy="502920"/>
          </a:xfrm>
          <a:prstGeom prst="rect">
            <a:avLst/>
          </a:prstGeom>
          <a:solidFill>
            <a:srgbClr val="0F3460"/>
          </a:solidFill>
          <a:ln w="12700">
            <a:solidFill>
              <a:srgbClr val="7B68EE"/>
            </a:solidFill>
          </a:ln>
        </p:spPr>
        <p:txBody>
          <a:bodyPr/>
          <a:lstStyle/>
          <a:p/>
        </p:txBody>
      </p:sp>
      <p:sp>
        <p:nvSpPr>
          <p:cNvPr id="7" name="TextBox 6"/>
          <p:cNvSpPr txBox="1"/>
          <p:nvPr/>
        </p:nvSpPr>
        <p:spPr>
          <a:xfrm>
            <a:off x="1618488" y="1234440"/>
            <a:ext cx="1188720" cy="182880"/>
          </a:xfrm>
          <a:prstGeom prst="rect">
            <a:avLst/>
          </a:prstGeom>
          <a:noFill/>
        </p:spPr>
        <p:txBody>
          <a:bodyPr wrap="square">
            <a:spAutoFit/>
          </a:bodyPr>
          <a:lstStyle/>
          <a:p>
            <a:pPr algn="l"/>
            <a:r>
              <a:rPr sz="800" b="1" i="0">
                <a:solidFill>
                  <a:srgbClr val="7B68EE"/>
                </a:solidFill>
              </a:rPr>
              <a:t>webapp (ASP.NET)</a:t>
            </a:r>
          </a:p>
        </p:txBody>
      </p:sp>
      <p:sp>
        <p:nvSpPr>
          <p:cNvPr id="8" name="TextBox 7"/>
          <p:cNvSpPr txBox="1"/>
          <p:nvPr/>
        </p:nvSpPr>
        <p:spPr>
          <a:xfrm>
            <a:off x="1618488" y="1399031"/>
            <a:ext cx="1188720" cy="292608"/>
          </a:xfrm>
          <a:prstGeom prst="rect">
            <a:avLst/>
          </a:prstGeom>
          <a:noFill/>
        </p:spPr>
        <p:txBody>
          <a:bodyPr wrap="square">
            <a:spAutoFit/>
          </a:bodyPr>
          <a:lstStyle/>
          <a:p>
            <a:pPr algn="l"/>
            <a:r>
              <a:rPr sz="700" b="0" i="0">
                <a:solidFill>
                  <a:srgbClr val="AAAACC"/>
                </a:solidFill>
              </a:rPr>
              <a:t>OAuth redirect
port 5001</a:t>
            </a:r>
          </a:p>
        </p:txBody>
      </p:sp>
      <p:sp>
        <p:nvSpPr>
          <p:cNvPr id="1" name="rect"/>
          <p:cNvSpPr>
            <a:spLocks noGrp="1"/>
          </p:cNvSpPr>
          <p:nvPr/>
        </p:nvSpPr>
        <p:spPr>
          <a:xfrm>
            <a:off x="320040" y="1828800"/>
            <a:ext cx="1143000" cy="502920"/>
          </a:xfrm>
          <a:prstGeom prst="rect">
            <a:avLst/>
          </a:prstGeom>
          <a:solidFill>
            <a:srgbClr val="0F3460"/>
          </a:solidFill>
          <a:ln w="12700">
            <a:solidFill>
              <a:srgbClr val="00C896"/>
            </a:solidFill>
          </a:ln>
        </p:spPr>
        <p:txBody>
          <a:bodyPr/>
          <a:lstStyle/>
          <a:p/>
        </p:txBody>
      </p:sp>
      <p:sp>
        <p:nvSpPr>
          <p:cNvPr id="9" name="TextBox 8"/>
          <p:cNvSpPr txBox="1"/>
          <p:nvPr/>
        </p:nvSpPr>
        <p:spPr>
          <a:xfrm>
            <a:off x="338328" y="1847088"/>
            <a:ext cx="1097280" cy="182880"/>
          </a:xfrm>
          <a:prstGeom prst="rect">
            <a:avLst/>
          </a:prstGeom>
          <a:noFill/>
        </p:spPr>
        <p:txBody>
          <a:bodyPr wrap="square">
            <a:spAutoFit/>
          </a:bodyPr>
          <a:lstStyle/>
          <a:p>
            <a:pPr algn="l"/>
            <a:r>
              <a:rPr sz="800" b="1" i="0">
                <a:solidFill>
                  <a:srgbClr val="00C896"/>
                </a:solidFill>
              </a:rPr>
              <a:t>getdata (Python)</a:t>
            </a:r>
          </a:p>
        </p:txBody>
      </p:sp>
      <p:sp>
        <p:nvSpPr>
          <p:cNvPr id="10" name="TextBox 9"/>
          <p:cNvSpPr txBox="1"/>
          <p:nvPr/>
        </p:nvSpPr>
        <p:spPr>
          <a:xfrm>
            <a:off x="338328" y="2011680"/>
            <a:ext cx="1097280" cy="292608"/>
          </a:xfrm>
          <a:prstGeom prst="rect">
            <a:avLst/>
          </a:prstGeom>
          <a:noFill/>
        </p:spPr>
        <p:txBody>
          <a:bodyPr wrap="square">
            <a:spAutoFit/>
          </a:bodyPr>
          <a:lstStyle/>
          <a:p>
            <a:pPr algn="l"/>
            <a:r>
              <a:rPr sz="700" b="0" i="0">
                <a:solidFill>
                  <a:srgbClr val="AAAACC"/>
                </a:solidFill>
              </a:rPr>
              <a:t>Sync activités
toutes les 2min</a:t>
            </a:r>
          </a:p>
        </p:txBody>
      </p:sp>
      <p:sp>
        <p:nvSpPr>
          <p:cNvPr id="1" name="rect"/>
          <p:cNvSpPr>
            <a:spLocks noGrp="1"/>
          </p:cNvSpPr>
          <p:nvPr/>
        </p:nvSpPr>
        <p:spPr>
          <a:xfrm>
            <a:off x="1600200" y="1828800"/>
            <a:ext cx="1234440" cy="502920"/>
          </a:xfrm>
          <a:prstGeom prst="rect">
            <a:avLst/>
          </a:prstGeom>
          <a:solidFill>
            <a:srgbClr val="0F3460"/>
          </a:solidFill>
          <a:ln w="12700">
            <a:solidFill>
              <a:srgbClr val="FFB347"/>
            </a:solidFill>
          </a:ln>
        </p:spPr>
        <p:txBody>
          <a:bodyPr/>
          <a:lstStyle/>
          <a:p/>
        </p:txBody>
      </p:sp>
      <p:sp>
        <p:nvSpPr>
          <p:cNvPr id="11" name="TextBox 10"/>
          <p:cNvSpPr txBox="1"/>
          <p:nvPr/>
        </p:nvSpPr>
        <p:spPr>
          <a:xfrm>
            <a:off x="1618488" y="1847088"/>
            <a:ext cx="1188720" cy="182880"/>
          </a:xfrm>
          <a:prstGeom prst="rect">
            <a:avLst/>
          </a:prstGeom>
          <a:noFill/>
        </p:spPr>
        <p:txBody>
          <a:bodyPr wrap="square">
            <a:spAutoFit/>
          </a:bodyPr>
          <a:lstStyle/>
          <a:p>
            <a:pPr algn="l"/>
            <a:r>
              <a:rPr sz="800" b="1" i="0">
                <a:solidFill>
                  <a:srgbClr val="FFB347"/>
                </a:solidFill>
              </a:rPr>
              <a:t>send_email (Py)</a:t>
            </a:r>
          </a:p>
        </p:txBody>
      </p:sp>
      <p:sp>
        <p:nvSpPr>
          <p:cNvPr id="12" name="TextBox 11"/>
          <p:cNvSpPr txBox="1"/>
          <p:nvPr/>
        </p:nvSpPr>
        <p:spPr>
          <a:xfrm>
            <a:off x="1618488" y="2011680"/>
            <a:ext cx="1188720" cy="292608"/>
          </a:xfrm>
          <a:prstGeom prst="rect">
            <a:avLst/>
          </a:prstGeom>
          <a:noFill/>
        </p:spPr>
        <p:txBody>
          <a:bodyPr wrap="square">
            <a:spAutoFit/>
          </a:bodyPr>
          <a:lstStyle/>
          <a:p>
            <a:pPr algn="l"/>
            <a:r>
              <a:rPr sz="700" b="0" i="0">
                <a:solidFill>
                  <a:srgbClr val="AAAACC"/>
                </a:solidFill>
              </a:rPr>
              <a:t>Liens OAuth
par salarié</a:t>
            </a:r>
          </a:p>
        </p:txBody>
      </p:sp>
      <p:sp>
        <p:nvSpPr>
          <p:cNvPr id="1" name="rect"/>
          <p:cNvSpPr>
            <a:spLocks noGrp="1"/>
          </p:cNvSpPr>
          <p:nvPr/>
        </p:nvSpPr>
        <p:spPr>
          <a:xfrm>
            <a:off x="868680" y="2468880"/>
            <a:ext cx="1371600" cy="502920"/>
          </a:xfrm>
          <a:prstGeom prst="rect">
            <a:avLst/>
          </a:prstGeom>
          <a:solidFill>
            <a:srgbClr val="0F3460"/>
          </a:solidFill>
          <a:ln w="12700">
            <a:solidFill>
              <a:srgbClr val="FF6B6B"/>
            </a:solidFill>
          </a:ln>
        </p:spPr>
        <p:txBody>
          <a:bodyPr/>
          <a:lstStyle/>
          <a:p/>
        </p:txBody>
      </p:sp>
      <p:sp>
        <p:nvSpPr>
          <p:cNvPr id="13" name="TextBox 12"/>
          <p:cNvSpPr txBox="1"/>
          <p:nvPr/>
        </p:nvSpPr>
        <p:spPr>
          <a:xfrm>
            <a:off x="886968" y="2487168"/>
            <a:ext cx="1280160" cy="182880"/>
          </a:xfrm>
          <a:prstGeom prst="rect">
            <a:avLst/>
          </a:prstGeom>
          <a:noFill/>
        </p:spPr>
        <p:txBody>
          <a:bodyPr wrap="square">
            <a:spAutoFit/>
          </a:bodyPr>
          <a:lstStyle/>
          <a:p>
            <a:pPr algn="l"/>
            <a:r>
              <a:rPr sz="800" b="1" i="0">
                <a:solidFill>
                  <a:srgbClr val="FF6B6B"/>
                </a:solidFill>
              </a:rPr>
              <a:t>init_db (Python)</a:t>
            </a:r>
          </a:p>
        </p:txBody>
      </p:sp>
      <p:sp>
        <p:nvSpPr>
          <p:cNvPr id="14" name="TextBox 13"/>
          <p:cNvSpPr txBox="1"/>
          <p:nvPr/>
        </p:nvSpPr>
        <p:spPr>
          <a:xfrm>
            <a:off x="886968" y="2651760"/>
            <a:ext cx="1280160" cy="292608"/>
          </a:xfrm>
          <a:prstGeom prst="rect">
            <a:avLst/>
          </a:prstGeom>
          <a:noFill/>
        </p:spPr>
        <p:txBody>
          <a:bodyPr wrap="square">
            <a:spAutoFit/>
          </a:bodyPr>
          <a:lstStyle/>
          <a:p>
            <a:pPr algn="l"/>
            <a:r>
              <a:rPr sz="700" b="0" i="0">
                <a:solidFill>
                  <a:srgbClr val="AAAACC"/>
                </a:solidFill>
              </a:rPr>
              <a:t>Crée tables + CDC
Users SQL Server</a:t>
            </a:r>
          </a:p>
        </p:txBody>
      </p:sp>
      <p:sp>
        <p:nvSpPr>
          <p:cNvPr id="1" name="rect"/>
          <p:cNvSpPr>
            <a:spLocks noGrp="1"/>
          </p:cNvSpPr>
          <p:nvPr/>
        </p:nvSpPr>
        <p:spPr>
          <a:xfrm>
            <a:off x="3246120" y="868680"/>
            <a:ext cx="2560320" cy="1508760"/>
          </a:xfrm>
          <a:prstGeom prst="rect">
            <a:avLst/>
          </a:prstGeom>
          <a:solidFill>
            <a:srgbClr val="16213E"/>
          </a:solidFill>
          <a:ln w="19050">
            <a:solidFill>
              <a:srgbClr val="9B59B6"/>
            </a:solidFill>
          </a:ln>
        </p:spPr>
        <p:txBody>
          <a:bodyPr/>
          <a:lstStyle/>
          <a:p/>
        </p:txBody>
      </p:sp>
      <p:sp>
        <p:nvSpPr>
          <p:cNvPr id="15" name="TextBox 14"/>
          <p:cNvSpPr txBox="1"/>
          <p:nvPr/>
        </p:nvSpPr>
        <p:spPr>
          <a:xfrm>
            <a:off x="3337560" y="914400"/>
            <a:ext cx="2377439" cy="274320"/>
          </a:xfrm>
          <a:prstGeom prst="rect">
            <a:avLst/>
          </a:prstGeom>
          <a:noFill/>
        </p:spPr>
        <p:txBody>
          <a:bodyPr wrap="square">
            <a:spAutoFit/>
          </a:bodyPr>
          <a:lstStyle/>
          <a:p>
            <a:pPr algn="l"/>
            <a:r>
              <a:rPr sz="900" b="1" i="0">
                <a:solidFill>
                  <a:srgbClr val="9B59B6"/>
                </a:solidFill>
              </a:rPr>
              <a:t>Docker Compose 2 — Notifications Slack</a:t>
            </a:r>
          </a:p>
        </p:txBody>
      </p:sp>
      <p:sp>
        <p:nvSpPr>
          <p:cNvPr id="1" name="rect"/>
          <p:cNvSpPr>
            <a:spLocks noGrp="1"/>
          </p:cNvSpPr>
          <p:nvPr/>
        </p:nvSpPr>
        <p:spPr>
          <a:xfrm>
            <a:off x="3337560" y="1216152"/>
            <a:ext cx="1097280" cy="868680"/>
          </a:xfrm>
          <a:prstGeom prst="rect">
            <a:avLst/>
          </a:prstGeom>
          <a:solidFill>
            <a:srgbClr val="0F3460"/>
          </a:solidFill>
          <a:ln w="12700">
            <a:solidFill>
              <a:srgbClr val="E74C3C"/>
            </a:solidFill>
          </a:ln>
        </p:spPr>
        <p:txBody>
          <a:bodyPr/>
          <a:lstStyle/>
          <a:p/>
        </p:txBody>
      </p:sp>
      <p:sp>
        <p:nvSpPr>
          <p:cNvPr id="16" name="TextBox 15"/>
          <p:cNvSpPr txBox="1"/>
          <p:nvPr/>
        </p:nvSpPr>
        <p:spPr>
          <a:xfrm>
            <a:off x="3355848" y="1234440"/>
            <a:ext cx="1051560" cy="201168"/>
          </a:xfrm>
          <a:prstGeom prst="rect">
            <a:avLst/>
          </a:prstGeom>
          <a:noFill/>
        </p:spPr>
        <p:txBody>
          <a:bodyPr wrap="square">
            <a:spAutoFit/>
          </a:bodyPr>
          <a:lstStyle/>
          <a:p>
            <a:pPr algn="l"/>
            <a:r>
              <a:rPr sz="800" b="1" i="0">
                <a:solidFill>
                  <a:srgbClr val="E74C3C"/>
                </a:solidFill>
              </a:rPr>
              <a:t>Debezium Server</a:t>
            </a:r>
          </a:p>
        </p:txBody>
      </p:sp>
      <p:sp>
        <p:nvSpPr>
          <p:cNvPr id="17" name="TextBox 16"/>
          <p:cNvSpPr txBox="1"/>
          <p:nvPr/>
        </p:nvSpPr>
        <p:spPr>
          <a:xfrm>
            <a:off x="3355848" y="1435607"/>
            <a:ext cx="1051560" cy="594360"/>
          </a:xfrm>
          <a:prstGeom prst="rect">
            <a:avLst/>
          </a:prstGeom>
          <a:noFill/>
        </p:spPr>
        <p:txBody>
          <a:bodyPr wrap="square">
            <a:spAutoFit/>
          </a:bodyPr>
          <a:lstStyle/>
          <a:p>
            <a:pPr algn="l"/>
            <a:r>
              <a:rPr sz="700" b="0" i="0">
                <a:solidFill>
                  <a:srgbClr val="AAAACC"/>
                </a:solidFill>
              </a:rPr>
              <a:t>CDC→HTTP
offsets.dat
snapshot: no_data</a:t>
            </a:r>
          </a:p>
        </p:txBody>
      </p:sp>
      <p:sp>
        <p:nvSpPr>
          <p:cNvPr id="1" name="rect"/>
          <p:cNvSpPr>
            <a:spLocks noGrp="1"/>
          </p:cNvSpPr>
          <p:nvPr/>
        </p:nvSpPr>
        <p:spPr>
          <a:xfrm>
            <a:off x="4572000" y="1216152"/>
            <a:ext cx="1143000" cy="868680"/>
          </a:xfrm>
          <a:prstGeom prst="rect">
            <a:avLst/>
          </a:prstGeom>
          <a:solidFill>
            <a:srgbClr val="0F3460"/>
          </a:solidFill>
          <a:ln w="12700">
            <a:solidFill>
              <a:srgbClr val="27AE60"/>
            </a:solidFill>
          </a:ln>
        </p:spPr>
        <p:txBody>
          <a:bodyPr/>
          <a:lstStyle/>
          <a:p/>
        </p:txBody>
      </p:sp>
      <p:sp>
        <p:nvSpPr>
          <p:cNvPr id="18" name="TextBox 17"/>
          <p:cNvSpPr txBox="1"/>
          <p:nvPr/>
        </p:nvSpPr>
        <p:spPr>
          <a:xfrm>
            <a:off x="4590288" y="1234440"/>
            <a:ext cx="1097280" cy="201168"/>
          </a:xfrm>
          <a:prstGeom prst="rect">
            <a:avLst/>
          </a:prstGeom>
          <a:noFill/>
        </p:spPr>
        <p:txBody>
          <a:bodyPr wrap="square">
            <a:spAutoFit/>
          </a:bodyPr>
          <a:lstStyle/>
          <a:p>
            <a:pPr algn="l"/>
            <a:r>
              <a:rPr sz="800" b="1" i="0">
                <a:solidFill>
                  <a:srgbClr val="27AE60"/>
                </a:solidFill>
              </a:rPr>
              <a:t>slack (Flask)</a:t>
            </a:r>
          </a:p>
        </p:txBody>
      </p:sp>
      <p:sp>
        <p:nvSpPr>
          <p:cNvPr id="19" name="TextBox 18"/>
          <p:cNvSpPr txBox="1"/>
          <p:nvPr/>
        </p:nvSpPr>
        <p:spPr>
          <a:xfrm>
            <a:off x="4590288" y="1435607"/>
            <a:ext cx="1097280" cy="594360"/>
          </a:xfrm>
          <a:prstGeom prst="rect">
            <a:avLst/>
          </a:prstGeom>
          <a:noFill/>
        </p:spPr>
        <p:txBody>
          <a:bodyPr wrap="square">
            <a:spAutoFit/>
          </a:bodyPr>
          <a:lstStyle/>
          <a:p>
            <a:pPr algn="l"/>
            <a:r>
              <a:rPr sz="700" b="0" i="0">
                <a:solidFill>
                  <a:srgbClr val="AAAACC"/>
                </a:solidFill>
              </a:rPr>
              <a:t>port 5000
Webhook Slack
Anti-doublons</a:t>
            </a:r>
          </a:p>
        </p:txBody>
      </p:sp>
      <p:sp>
        <p:nvSpPr>
          <p:cNvPr id="1" name="arrow"/>
          <p:cNvSpPr>
            <a:spLocks noGrp="1"/>
          </p:cNvSpPr>
          <p:nvPr/>
        </p:nvSpPr>
        <p:spPr>
          <a:xfrm flipH="0" flipV="0">
            <a:off x="4434840" y="1645919"/>
            <a:ext cx="137160" cy="914"/>
          </a:xfrm>
          <a:prstGeom prst="straightConnector1">
            <a:avLst/>
          </a:prstGeom>
          <a:noFill/>
          <a:ln w="25400">
            <a:solidFill>
              <a:srgbClr val="9B59B6"/>
            </a:solidFill>
            <a:tailEnd type="arrow" w="med" len="med"/>
          </a:ln>
        </p:spPr>
        <p:txBody>
          <a:bodyPr/>
          <a:lstStyle/>
          <a:p/>
        </p:txBody>
      </p:sp>
      <p:sp>
        <p:nvSpPr>
          <p:cNvPr id="1" name="rect"/>
          <p:cNvSpPr>
            <a:spLocks noGrp="1"/>
          </p:cNvSpPr>
          <p:nvPr/>
        </p:nvSpPr>
        <p:spPr>
          <a:xfrm>
            <a:off x="6035040" y="868680"/>
            <a:ext cx="2834640" cy="1508760"/>
          </a:xfrm>
          <a:prstGeom prst="rect">
            <a:avLst/>
          </a:prstGeom>
          <a:solidFill>
            <a:srgbClr val="16213E"/>
          </a:solidFill>
          <a:ln w="19050">
            <a:solidFill>
              <a:srgbClr val="F39C12"/>
            </a:solidFill>
          </a:ln>
        </p:spPr>
        <p:txBody>
          <a:bodyPr/>
          <a:lstStyle/>
          <a:p/>
        </p:txBody>
      </p:sp>
      <p:sp>
        <p:nvSpPr>
          <p:cNvPr id="20" name="TextBox 19"/>
          <p:cNvSpPr txBox="1"/>
          <p:nvPr/>
        </p:nvSpPr>
        <p:spPr>
          <a:xfrm>
            <a:off x="6126479" y="914400"/>
            <a:ext cx="2651760" cy="274320"/>
          </a:xfrm>
          <a:prstGeom prst="rect">
            <a:avLst/>
          </a:prstGeom>
          <a:noFill/>
        </p:spPr>
        <p:txBody>
          <a:bodyPr wrap="square">
            <a:spAutoFit/>
          </a:bodyPr>
          <a:lstStyle/>
          <a:p>
            <a:pPr algn="l"/>
            <a:r>
              <a:rPr sz="900" b="1" i="0">
                <a:solidFill>
                  <a:srgbClr val="F39C12"/>
                </a:solidFill>
              </a:rPr>
              <a:t>Docker Compose 3 — ETL &amp; Primes (Kestra)</a:t>
            </a:r>
          </a:p>
        </p:txBody>
      </p:sp>
      <p:sp>
        <p:nvSpPr>
          <p:cNvPr id="1" name="rect"/>
          <p:cNvSpPr>
            <a:spLocks noGrp="1"/>
          </p:cNvSpPr>
          <p:nvPr/>
        </p:nvSpPr>
        <p:spPr>
          <a:xfrm>
            <a:off x="6126479" y="1216152"/>
            <a:ext cx="777240" cy="868680"/>
          </a:xfrm>
          <a:prstGeom prst="rect">
            <a:avLst/>
          </a:prstGeom>
          <a:solidFill>
            <a:srgbClr val="0F3460"/>
          </a:solidFill>
          <a:ln w="12700">
            <a:solidFill>
              <a:srgbClr val="3498DB"/>
            </a:solidFill>
          </a:ln>
        </p:spPr>
        <p:txBody>
          <a:bodyPr/>
          <a:lstStyle/>
          <a:p/>
        </p:txBody>
      </p:sp>
      <p:sp>
        <p:nvSpPr>
          <p:cNvPr id="21" name="TextBox 20"/>
          <p:cNvSpPr txBox="1"/>
          <p:nvPr/>
        </p:nvSpPr>
        <p:spPr>
          <a:xfrm>
            <a:off x="6144768" y="1234440"/>
            <a:ext cx="731520" cy="201168"/>
          </a:xfrm>
          <a:prstGeom prst="rect">
            <a:avLst/>
          </a:prstGeom>
          <a:noFill/>
        </p:spPr>
        <p:txBody>
          <a:bodyPr wrap="square">
            <a:spAutoFit/>
          </a:bodyPr>
          <a:lstStyle/>
          <a:p>
            <a:pPr algn="l"/>
            <a:r>
              <a:rPr sz="800" b="1" i="0">
                <a:solidFill>
                  <a:srgbClr val="3498DB"/>
                </a:solidFill>
              </a:rPr>
              <a:t>extract</a:t>
            </a:r>
          </a:p>
        </p:txBody>
      </p:sp>
      <p:sp>
        <p:nvSpPr>
          <p:cNvPr id="22" name="TextBox 21"/>
          <p:cNvSpPr txBox="1"/>
          <p:nvPr/>
        </p:nvSpPr>
        <p:spPr>
          <a:xfrm>
            <a:off x="6144768" y="1435607"/>
            <a:ext cx="731520" cy="594360"/>
          </a:xfrm>
          <a:prstGeom prst="rect">
            <a:avLst/>
          </a:prstGeom>
          <a:noFill/>
        </p:spPr>
        <p:txBody>
          <a:bodyPr wrap="square">
            <a:spAutoFit/>
          </a:bodyPr>
          <a:lstStyle/>
          <a:p>
            <a:pPr algn="l"/>
            <a:r>
              <a:rPr sz="700" b="0" i="0">
                <a:solidFill>
                  <a:srgbClr val="AAAACC"/>
                </a:solidFill>
              </a:rPr>
              <a:t>DuckDB
export CSV</a:t>
            </a:r>
          </a:p>
        </p:txBody>
      </p:sp>
      <p:sp>
        <p:nvSpPr>
          <p:cNvPr id="1" name="rect"/>
          <p:cNvSpPr>
            <a:spLocks noGrp="1"/>
          </p:cNvSpPr>
          <p:nvPr/>
        </p:nvSpPr>
        <p:spPr>
          <a:xfrm>
            <a:off x="6995159" y="1216152"/>
            <a:ext cx="777240" cy="868680"/>
          </a:xfrm>
          <a:prstGeom prst="rect">
            <a:avLst/>
          </a:prstGeom>
          <a:solidFill>
            <a:srgbClr val="0F3460"/>
          </a:solidFill>
          <a:ln w="12700">
            <a:solidFill>
              <a:srgbClr val="1ABC9C"/>
            </a:solidFill>
          </a:ln>
        </p:spPr>
        <p:txBody>
          <a:bodyPr/>
          <a:lstStyle/>
          <a:p/>
        </p:txBody>
      </p:sp>
      <p:sp>
        <p:nvSpPr>
          <p:cNvPr id="23" name="TextBox 22"/>
          <p:cNvSpPr txBox="1"/>
          <p:nvPr/>
        </p:nvSpPr>
        <p:spPr>
          <a:xfrm>
            <a:off x="7013448" y="1234440"/>
            <a:ext cx="731520" cy="201168"/>
          </a:xfrm>
          <a:prstGeom prst="rect">
            <a:avLst/>
          </a:prstGeom>
          <a:noFill/>
        </p:spPr>
        <p:txBody>
          <a:bodyPr wrap="square">
            <a:spAutoFit/>
          </a:bodyPr>
          <a:lstStyle/>
          <a:p>
            <a:pPr algn="l"/>
            <a:r>
              <a:rPr sz="800" b="1" i="0">
                <a:solidFill>
                  <a:srgbClr val="1ABC9C"/>
                </a:solidFill>
              </a:rPr>
              <a:t>test</a:t>
            </a:r>
          </a:p>
        </p:txBody>
      </p:sp>
      <p:sp>
        <p:nvSpPr>
          <p:cNvPr id="24" name="TextBox 23"/>
          <p:cNvSpPr txBox="1"/>
          <p:nvPr/>
        </p:nvSpPr>
        <p:spPr>
          <a:xfrm>
            <a:off x="7013448" y="1435607"/>
            <a:ext cx="731520" cy="594360"/>
          </a:xfrm>
          <a:prstGeom prst="rect">
            <a:avLst/>
          </a:prstGeom>
          <a:noFill/>
        </p:spPr>
        <p:txBody>
          <a:bodyPr wrap="square">
            <a:spAutoFit/>
          </a:bodyPr>
          <a:lstStyle/>
          <a:p>
            <a:pPr algn="l"/>
            <a:r>
              <a:rPr sz="700" b="0" i="0">
                <a:solidFill>
                  <a:srgbClr val="AAAACC"/>
                </a:solidFill>
              </a:rPr>
              <a:t>Validation
données</a:t>
            </a:r>
          </a:p>
        </p:txBody>
      </p:sp>
      <p:sp>
        <p:nvSpPr>
          <p:cNvPr id="1" name="rect"/>
          <p:cNvSpPr>
            <a:spLocks noGrp="1"/>
          </p:cNvSpPr>
          <p:nvPr/>
        </p:nvSpPr>
        <p:spPr>
          <a:xfrm>
            <a:off x="7863840" y="1216152"/>
            <a:ext cx="868680" cy="868680"/>
          </a:xfrm>
          <a:prstGeom prst="rect">
            <a:avLst/>
          </a:prstGeom>
          <a:solidFill>
            <a:srgbClr val="0F3460"/>
          </a:solidFill>
          <a:ln w="12700">
            <a:solidFill>
              <a:srgbClr val="E67E22"/>
            </a:solidFill>
          </a:ln>
        </p:spPr>
        <p:txBody>
          <a:bodyPr/>
          <a:lstStyle/>
          <a:p/>
        </p:txBody>
      </p:sp>
      <p:sp>
        <p:nvSpPr>
          <p:cNvPr id="25" name="TextBox 24"/>
          <p:cNvSpPr txBox="1"/>
          <p:nvPr/>
        </p:nvSpPr>
        <p:spPr>
          <a:xfrm>
            <a:off x="7882127" y="1234440"/>
            <a:ext cx="822960" cy="201168"/>
          </a:xfrm>
          <a:prstGeom prst="rect">
            <a:avLst/>
          </a:prstGeom>
          <a:noFill/>
        </p:spPr>
        <p:txBody>
          <a:bodyPr wrap="square">
            <a:spAutoFit/>
          </a:bodyPr>
          <a:lstStyle/>
          <a:p>
            <a:pPr algn="l"/>
            <a:r>
              <a:rPr sz="800" b="1" i="0">
                <a:solidFill>
                  <a:srgbClr val="E67E22"/>
                </a:solidFill>
              </a:rPr>
              <a:t>transfert</a:t>
            </a:r>
          </a:p>
        </p:txBody>
      </p:sp>
      <p:sp>
        <p:nvSpPr>
          <p:cNvPr id="26" name="TextBox 25"/>
          <p:cNvSpPr txBox="1"/>
          <p:nvPr/>
        </p:nvSpPr>
        <p:spPr>
          <a:xfrm>
            <a:off x="7882127" y="1435607"/>
            <a:ext cx="822960" cy="594360"/>
          </a:xfrm>
          <a:prstGeom prst="rect">
            <a:avLst/>
          </a:prstGeom>
          <a:noFill/>
        </p:spPr>
        <p:txBody>
          <a:bodyPr wrap="square">
            <a:spAutoFit/>
          </a:bodyPr>
          <a:lstStyle/>
          <a:p>
            <a:pPr algn="l"/>
            <a:r>
              <a:rPr sz="700" b="0" i="0">
                <a:solidFill>
                  <a:srgbClr val="AAAACC"/>
                </a:solidFill>
              </a:rPr>
              <a:t>SQL Server
→ PowerBI</a:t>
            </a:r>
          </a:p>
        </p:txBody>
      </p:sp>
      <p:sp>
        <p:nvSpPr>
          <p:cNvPr id="1" name="arrow"/>
          <p:cNvSpPr>
            <a:spLocks noGrp="1"/>
          </p:cNvSpPr>
          <p:nvPr/>
        </p:nvSpPr>
        <p:spPr>
          <a:xfrm flipH="0" flipV="0">
            <a:off x="6903720" y="1645919"/>
            <a:ext cx="91439" cy="914"/>
          </a:xfrm>
          <a:prstGeom prst="straightConnector1">
            <a:avLst/>
          </a:prstGeom>
          <a:noFill/>
          <a:ln w="19050">
            <a:solidFill>
              <a:srgbClr val="F39C12"/>
            </a:solidFill>
            <a:tailEnd type="arrow" w="med" len="med"/>
          </a:ln>
        </p:spPr>
        <p:txBody>
          <a:bodyPr/>
          <a:lstStyle/>
          <a:p/>
        </p:txBody>
      </p:sp>
      <p:sp>
        <p:nvSpPr>
          <p:cNvPr id="1" name="arrow"/>
          <p:cNvSpPr>
            <a:spLocks noGrp="1"/>
          </p:cNvSpPr>
          <p:nvPr/>
        </p:nvSpPr>
        <p:spPr>
          <a:xfrm flipH="0" flipV="0">
            <a:off x="7772400" y="1645919"/>
            <a:ext cx="91439" cy="914"/>
          </a:xfrm>
          <a:prstGeom prst="straightConnector1">
            <a:avLst/>
          </a:prstGeom>
          <a:noFill/>
          <a:ln w="19050">
            <a:solidFill>
              <a:srgbClr val="F39C12"/>
            </a:solidFill>
            <a:tailEnd type="arrow" w="med" len="med"/>
          </a:ln>
        </p:spPr>
        <p:txBody>
          <a:bodyPr/>
          <a:lstStyle/>
          <a:p/>
        </p:txBody>
      </p:sp>
      <p:sp>
        <p:nvSpPr>
          <p:cNvPr id="1" name="rect"/>
          <p:cNvSpPr>
            <a:spLocks noGrp="1"/>
          </p:cNvSpPr>
          <p:nvPr/>
        </p:nvSpPr>
        <p:spPr>
          <a:xfrm>
            <a:off x="3246120" y="2514600"/>
            <a:ext cx="2560320" cy="1234440"/>
          </a:xfrm>
          <a:prstGeom prst="rect">
            <a:avLst/>
          </a:prstGeom>
          <a:solidFill>
            <a:srgbClr val="16213E"/>
          </a:solidFill>
          <a:ln w="19050">
            <a:solidFill>
              <a:srgbClr val="2ECC71"/>
            </a:solidFill>
          </a:ln>
        </p:spPr>
        <p:txBody>
          <a:bodyPr/>
          <a:lstStyle/>
          <a:p/>
        </p:txBody>
      </p:sp>
      <p:sp>
        <p:nvSpPr>
          <p:cNvPr id="27" name="TextBox 26"/>
          <p:cNvSpPr txBox="1"/>
          <p:nvPr/>
        </p:nvSpPr>
        <p:spPr>
          <a:xfrm>
            <a:off x="3337560" y="2560320"/>
            <a:ext cx="2377439" cy="274320"/>
          </a:xfrm>
          <a:prstGeom prst="rect">
            <a:avLst/>
          </a:prstGeom>
          <a:noFill/>
        </p:spPr>
        <p:txBody>
          <a:bodyPr wrap="square">
            <a:spAutoFit/>
          </a:bodyPr>
          <a:lstStyle/>
          <a:p>
            <a:pPr algn="l"/>
            <a:r>
              <a:rPr sz="900" b="1" i="0">
                <a:solidFill>
                  <a:srgbClr val="2ECC71"/>
                </a:solidFill>
              </a:rPr>
              <a:t>Kestra 1.3.3 — Orchestration</a:t>
            </a:r>
          </a:p>
        </p:txBody>
      </p:sp>
      <p:sp>
        <p:nvSpPr>
          <p:cNvPr id="1" name="rect"/>
          <p:cNvSpPr>
            <a:spLocks noGrp="1"/>
          </p:cNvSpPr>
          <p:nvPr/>
        </p:nvSpPr>
        <p:spPr>
          <a:xfrm>
            <a:off x="3337560" y="2862072"/>
            <a:ext cx="1051560" cy="685800"/>
          </a:xfrm>
          <a:prstGeom prst="rect">
            <a:avLst/>
          </a:prstGeom>
          <a:solidFill>
            <a:srgbClr val="0F3460"/>
          </a:solidFill>
          <a:ln w="12700">
            <a:solidFill>
              <a:srgbClr val="2ECC71"/>
            </a:solidFill>
          </a:ln>
        </p:spPr>
        <p:txBody>
          <a:bodyPr/>
          <a:lstStyle/>
          <a:p/>
        </p:txBody>
      </p:sp>
      <p:sp>
        <p:nvSpPr>
          <p:cNvPr id="28" name="TextBox 27"/>
          <p:cNvSpPr txBox="1"/>
          <p:nvPr/>
        </p:nvSpPr>
        <p:spPr>
          <a:xfrm>
            <a:off x="3355848" y="2880360"/>
            <a:ext cx="1005840" cy="182880"/>
          </a:xfrm>
          <a:prstGeom prst="rect">
            <a:avLst/>
          </a:prstGeom>
          <a:noFill/>
        </p:spPr>
        <p:txBody>
          <a:bodyPr wrap="square">
            <a:spAutoFit/>
          </a:bodyPr>
          <a:lstStyle/>
          <a:p>
            <a:pPr algn="l"/>
            <a:r>
              <a:rPr sz="800" b="1" i="0">
                <a:solidFill>
                  <a:srgbClr val="2ECC71"/>
                </a:solidFill>
              </a:rPr>
              <a:t>flow_getdata</a:t>
            </a:r>
          </a:p>
        </p:txBody>
      </p:sp>
      <p:sp>
        <p:nvSpPr>
          <p:cNvPr id="29" name="TextBox 28"/>
          <p:cNvSpPr txBox="1"/>
          <p:nvPr/>
        </p:nvSpPr>
        <p:spPr>
          <a:xfrm>
            <a:off x="3355848" y="3063240"/>
            <a:ext cx="1005840" cy="457200"/>
          </a:xfrm>
          <a:prstGeom prst="rect">
            <a:avLst/>
          </a:prstGeom>
          <a:noFill/>
        </p:spPr>
        <p:txBody>
          <a:bodyPr wrap="square">
            <a:spAutoFit/>
          </a:bodyPr>
          <a:lstStyle/>
          <a:p>
            <a:pPr algn="l"/>
            <a:r>
              <a:rPr sz="700" b="0" i="0">
                <a:solidFill>
                  <a:srgbClr val="AAAACC"/>
                </a:solidFill>
              </a:rPr>
              <a:t>*/2 * * * *
Sync activités</a:t>
            </a:r>
          </a:p>
        </p:txBody>
      </p:sp>
      <p:sp>
        <p:nvSpPr>
          <p:cNvPr id="1" name="rect"/>
          <p:cNvSpPr>
            <a:spLocks noGrp="1"/>
          </p:cNvSpPr>
          <p:nvPr/>
        </p:nvSpPr>
        <p:spPr>
          <a:xfrm>
            <a:off x="4526279" y="2862072"/>
            <a:ext cx="1143000" cy="685800"/>
          </a:xfrm>
          <a:prstGeom prst="rect">
            <a:avLst/>
          </a:prstGeom>
          <a:solidFill>
            <a:srgbClr val="0F3460"/>
          </a:solidFill>
          <a:ln w="12700">
            <a:solidFill>
              <a:srgbClr val="2ECC71"/>
            </a:solidFill>
          </a:ln>
        </p:spPr>
        <p:txBody>
          <a:bodyPr/>
          <a:lstStyle/>
          <a:p/>
        </p:txBody>
      </p:sp>
      <p:sp>
        <p:nvSpPr>
          <p:cNvPr id="30" name="TextBox 29"/>
          <p:cNvSpPr txBox="1"/>
          <p:nvPr/>
        </p:nvSpPr>
        <p:spPr>
          <a:xfrm>
            <a:off x="4544568" y="2880360"/>
            <a:ext cx="1097280" cy="182880"/>
          </a:xfrm>
          <a:prstGeom prst="rect">
            <a:avLst/>
          </a:prstGeom>
          <a:noFill/>
        </p:spPr>
        <p:txBody>
          <a:bodyPr wrap="square">
            <a:spAutoFit/>
          </a:bodyPr>
          <a:lstStyle/>
          <a:p>
            <a:pPr algn="l"/>
            <a:r>
              <a:rPr sz="800" b="1" i="0">
                <a:solidFill>
                  <a:srgbClr val="2ECC71"/>
                </a:solidFill>
              </a:rPr>
              <a:t>flow_etl_primes</a:t>
            </a:r>
          </a:p>
        </p:txBody>
      </p:sp>
      <p:sp>
        <p:nvSpPr>
          <p:cNvPr id="31" name="TextBox 30"/>
          <p:cNvSpPr txBox="1"/>
          <p:nvPr/>
        </p:nvSpPr>
        <p:spPr>
          <a:xfrm>
            <a:off x="4544568" y="3063240"/>
            <a:ext cx="1097280" cy="457200"/>
          </a:xfrm>
          <a:prstGeom prst="rect">
            <a:avLst/>
          </a:prstGeom>
          <a:noFill/>
        </p:spPr>
        <p:txBody>
          <a:bodyPr wrap="square">
            <a:spAutoFit/>
          </a:bodyPr>
          <a:lstStyle/>
          <a:p>
            <a:pPr algn="l"/>
            <a:r>
              <a:rPr sz="700" b="0" i="0">
                <a:solidFill>
                  <a:srgbClr val="AAAACC"/>
                </a:solidFill>
              </a:rPr>
              <a:t>1x/mois
ETL + primes</a:t>
            </a:r>
          </a:p>
        </p:txBody>
      </p:sp>
      <p:sp>
        <p:nvSpPr>
          <p:cNvPr id="1" name="rect"/>
          <p:cNvSpPr>
            <a:spLocks noGrp="1"/>
          </p:cNvSpPr>
          <p:nvPr/>
        </p:nvSpPr>
        <p:spPr>
          <a:xfrm>
            <a:off x="6035040" y="2514600"/>
            <a:ext cx="2834640" cy="1234440"/>
          </a:xfrm>
          <a:prstGeom prst="rect">
            <a:avLst/>
          </a:prstGeom>
          <a:solidFill>
            <a:srgbClr val="16213E"/>
          </a:solidFill>
          <a:ln w="19050">
            <a:solidFill>
              <a:srgbClr val="F1C40F"/>
            </a:solidFill>
          </a:ln>
        </p:spPr>
        <p:txBody>
          <a:bodyPr/>
          <a:lstStyle/>
          <a:p/>
        </p:txBody>
      </p:sp>
      <p:sp>
        <p:nvSpPr>
          <p:cNvPr id="32" name="TextBox 31"/>
          <p:cNvSpPr txBox="1"/>
          <p:nvPr/>
        </p:nvSpPr>
        <p:spPr>
          <a:xfrm>
            <a:off x="6126479" y="2560320"/>
            <a:ext cx="2651760" cy="274320"/>
          </a:xfrm>
          <a:prstGeom prst="rect">
            <a:avLst/>
          </a:prstGeom>
          <a:noFill/>
        </p:spPr>
        <p:txBody>
          <a:bodyPr wrap="square">
            <a:spAutoFit/>
          </a:bodyPr>
          <a:lstStyle/>
          <a:p>
            <a:pPr algn="l"/>
            <a:r>
              <a:rPr sz="900" b="1" i="0">
                <a:solidFill>
                  <a:srgbClr val="F1C40F"/>
                </a:solidFill>
              </a:rPr>
              <a:t>Power BI Desktop</a:t>
            </a:r>
          </a:p>
        </p:txBody>
      </p:sp>
      <p:sp>
        <p:nvSpPr>
          <p:cNvPr id="1" name="rect"/>
          <p:cNvSpPr>
            <a:spLocks noGrp="1"/>
          </p:cNvSpPr>
          <p:nvPr/>
        </p:nvSpPr>
        <p:spPr>
          <a:xfrm>
            <a:off x="6126479" y="2862072"/>
            <a:ext cx="1234440" cy="685800"/>
          </a:xfrm>
          <a:prstGeom prst="rect">
            <a:avLst/>
          </a:prstGeom>
          <a:solidFill>
            <a:srgbClr val="0F3460"/>
          </a:solidFill>
          <a:ln w="12700">
            <a:solidFill>
              <a:srgbClr val="F1C40F"/>
            </a:solidFill>
          </a:ln>
        </p:spPr>
        <p:txBody>
          <a:bodyPr/>
          <a:lstStyle/>
          <a:p/>
        </p:txBody>
      </p:sp>
      <p:sp>
        <p:nvSpPr>
          <p:cNvPr id="33" name="TextBox 32"/>
          <p:cNvSpPr txBox="1"/>
          <p:nvPr/>
        </p:nvSpPr>
        <p:spPr>
          <a:xfrm>
            <a:off x="6144768" y="2880360"/>
            <a:ext cx="1188720" cy="182880"/>
          </a:xfrm>
          <a:prstGeom prst="rect">
            <a:avLst/>
          </a:prstGeom>
          <a:noFill/>
        </p:spPr>
        <p:txBody>
          <a:bodyPr wrap="square">
            <a:spAutoFit/>
          </a:bodyPr>
          <a:lstStyle/>
          <a:p>
            <a:pPr algn="l"/>
            <a:r>
              <a:rPr sz="800" b="1" i="0">
                <a:solidFill>
                  <a:srgbClr val="F1C40F"/>
                </a:solidFill>
              </a:rPr>
              <a:t>Vue RH</a:t>
            </a:r>
          </a:p>
        </p:txBody>
      </p:sp>
      <p:sp>
        <p:nvSpPr>
          <p:cNvPr id="34" name="TextBox 33"/>
          <p:cNvSpPr txBox="1"/>
          <p:nvPr/>
        </p:nvSpPr>
        <p:spPr>
          <a:xfrm>
            <a:off x="6144768" y="3063240"/>
            <a:ext cx="1188720" cy="457200"/>
          </a:xfrm>
          <a:prstGeom prst="rect">
            <a:avLst/>
          </a:prstGeom>
          <a:noFill/>
        </p:spPr>
        <p:txBody>
          <a:bodyPr wrap="square">
            <a:spAutoFit/>
          </a:bodyPr>
          <a:lstStyle/>
          <a:p>
            <a:pPr algn="l"/>
            <a:r>
              <a:rPr sz="700" b="0" i="0">
                <a:solidFill>
                  <a:srgbClr val="AAAACC"/>
                </a:solidFill>
              </a:rPr>
              <a:t>TDB + Trajet
5J + Activités</a:t>
            </a:r>
          </a:p>
        </p:txBody>
      </p:sp>
      <p:sp>
        <p:nvSpPr>
          <p:cNvPr id="1" name="rect"/>
          <p:cNvSpPr>
            <a:spLocks noGrp="1"/>
          </p:cNvSpPr>
          <p:nvPr/>
        </p:nvSpPr>
        <p:spPr>
          <a:xfrm>
            <a:off x="7498079" y="2862072"/>
            <a:ext cx="1234440" cy="685800"/>
          </a:xfrm>
          <a:prstGeom prst="rect">
            <a:avLst/>
          </a:prstGeom>
          <a:solidFill>
            <a:srgbClr val="0F3460"/>
          </a:solidFill>
          <a:ln w="12700">
            <a:solidFill>
              <a:srgbClr val="F1C40F"/>
            </a:solidFill>
          </a:ln>
        </p:spPr>
        <p:txBody>
          <a:bodyPr/>
          <a:lstStyle/>
          <a:p/>
        </p:txBody>
      </p:sp>
      <p:sp>
        <p:nvSpPr>
          <p:cNvPr id="35" name="TextBox 34"/>
          <p:cNvSpPr txBox="1"/>
          <p:nvPr/>
        </p:nvSpPr>
        <p:spPr>
          <a:xfrm>
            <a:off x="7516367" y="2880360"/>
            <a:ext cx="1188720" cy="182880"/>
          </a:xfrm>
          <a:prstGeom prst="rect">
            <a:avLst/>
          </a:prstGeom>
          <a:noFill/>
        </p:spPr>
        <p:txBody>
          <a:bodyPr wrap="square">
            <a:spAutoFit/>
          </a:bodyPr>
          <a:lstStyle/>
          <a:p>
            <a:pPr algn="l"/>
            <a:r>
              <a:rPr sz="800" b="1" i="0">
                <a:solidFill>
                  <a:srgbClr val="F1C40F"/>
                </a:solidFill>
              </a:rPr>
              <a:t>Vue Employé</a:t>
            </a:r>
          </a:p>
        </p:txBody>
      </p:sp>
      <p:sp>
        <p:nvSpPr>
          <p:cNvPr id="36" name="TextBox 35"/>
          <p:cNvSpPr txBox="1"/>
          <p:nvPr/>
        </p:nvSpPr>
        <p:spPr>
          <a:xfrm>
            <a:off x="7516367" y="3063240"/>
            <a:ext cx="1188720" cy="457200"/>
          </a:xfrm>
          <a:prstGeom prst="rect">
            <a:avLst/>
          </a:prstGeom>
          <a:noFill/>
        </p:spPr>
        <p:txBody>
          <a:bodyPr wrap="square">
            <a:spAutoFit/>
          </a:bodyPr>
          <a:lstStyle/>
          <a:p>
            <a:pPr algn="l"/>
            <a:r>
              <a:rPr sz="700" b="0" i="0">
                <a:solidFill>
                  <a:srgbClr val="AAAACC"/>
                </a:solidFill>
              </a:rPr>
              <a:t>Mon TDB
Mes activités</a:t>
            </a:r>
          </a:p>
        </p:txBody>
      </p:sp>
      <p:sp>
        <p:nvSpPr>
          <p:cNvPr id="1" name="arrow"/>
          <p:cNvSpPr>
            <a:spLocks noGrp="1"/>
          </p:cNvSpPr>
          <p:nvPr/>
        </p:nvSpPr>
        <p:spPr>
          <a:xfrm flipH="0" flipV="0">
            <a:off x="2971800" y="1463040"/>
            <a:ext cx="274319" cy="914"/>
          </a:xfrm>
          <a:prstGeom prst="straightConnector1">
            <a:avLst/>
          </a:prstGeom>
          <a:noFill/>
          <a:ln w="25400">
            <a:solidFill>
              <a:srgbClr val="FC4C02"/>
            </a:solidFill>
            <a:tailEnd type="arrow" w="med" len="med"/>
          </a:ln>
        </p:spPr>
        <p:txBody>
          <a:bodyPr/>
          <a:lstStyle/>
          <a:p/>
        </p:txBody>
      </p:sp>
      <p:sp>
        <p:nvSpPr>
          <p:cNvPr id="1" name="arrow"/>
          <p:cNvSpPr>
            <a:spLocks noGrp="1"/>
          </p:cNvSpPr>
          <p:nvPr/>
        </p:nvSpPr>
        <p:spPr>
          <a:xfrm flipH="0" flipV="0">
            <a:off x="5806440" y="1645919"/>
            <a:ext cx="274319" cy="914"/>
          </a:xfrm>
          <a:prstGeom prst="straightConnector1">
            <a:avLst/>
          </a:prstGeom>
          <a:noFill/>
          <a:ln w="25400">
            <a:solidFill>
              <a:srgbClr val="27AE60"/>
            </a:solidFill>
            <a:tailEnd type="arrow" w="med" len="med"/>
          </a:ln>
        </p:spPr>
        <p:txBody>
          <a:bodyPr/>
          <a:lstStyle/>
          <a:p/>
        </p:txBody>
      </p:sp>
      <p:sp>
        <p:nvSpPr>
          <p:cNvPr id="37" name="TextBox 36"/>
          <p:cNvSpPr txBox="1"/>
          <p:nvPr/>
        </p:nvSpPr>
        <p:spPr>
          <a:xfrm>
            <a:off x="5806440" y="1463040"/>
            <a:ext cx="502920" cy="228600"/>
          </a:xfrm>
          <a:prstGeom prst="rect">
            <a:avLst/>
          </a:prstGeom>
          <a:noFill/>
        </p:spPr>
        <p:txBody>
          <a:bodyPr wrap="square">
            <a:spAutoFit/>
          </a:bodyPr>
          <a:lstStyle/>
          <a:p>
            <a:pPr algn="l"/>
            <a:r>
              <a:rPr sz="800" b="1" i="0">
                <a:solidFill>
                  <a:srgbClr val="27AE60"/>
                </a:solidFill>
              </a:rPr>
              <a:t>Slack</a:t>
            </a:r>
          </a:p>
        </p:txBody>
      </p:sp>
      <p:sp>
        <p:nvSpPr>
          <p:cNvPr id="1" name="arrow"/>
          <p:cNvSpPr>
            <a:spLocks noGrp="1"/>
          </p:cNvSpPr>
          <p:nvPr/>
        </p:nvSpPr>
        <p:spPr>
          <a:xfrm flipH="0" flipV="0">
            <a:off x="3858768" y="2514600"/>
            <a:ext cx="914" cy="731519"/>
          </a:xfrm>
          <a:prstGeom prst="straightConnector1">
            <a:avLst/>
          </a:prstGeom>
          <a:noFill/>
          <a:ln w="19050">
            <a:solidFill>
              <a:srgbClr val="2ECC71"/>
            </a:solidFill>
            <a:tailEnd type="arrow" w="med" len="med"/>
          </a:ln>
        </p:spPr>
        <p:txBody>
          <a:bodyPr/>
          <a:lstStyle/>
          <a:p/>
        </p:txBody>
      </p:sp>
      <p:sp>
        <p:nvSpPr>
          <p:cNvPr id="1" name="arrow"/>
          <p:cNvSpPr>
            <a:spLocks noGrp="1"/>
          </p:cNvSpPr>
          <p:nvPr/>
        </p:nvSpPr>
        <p:spPr>
          <a:xfrm flipH="0" flipV="1">
            <a:off x="5806440" y="2377439"/>
            <a:ext cx="228600" cy="749808"/>
          </a:xfrm>
          <a:prstGeom prst="straightConnector1">
            <a:avLst/>
          </a:prstGeom>
          <a:noFill/>
          <a:ln w="19050">
            <a:solidFill>
              <a:srgbClr val="2ECC71"/>
            </a:solidFill>
            <a:tailEnd type="arrow" w="med" len="med"/>
          </a:ln>
        </p:spPr>
        <p:txBody>
          <a:bodyPr/>
          <a:lstStyle/>
          <a:p/>
        </p:txBody>
      </p:sp>
      <p:sp>
        <p:nvSpPr>
          <p:cNvPr id="1" name="arrow"/>
          <p:cNvSpPr>
            <a:spLocks noGrp="1"/>
          </p:cNvSpPr>
          <p:nvPr/>
        </p:nvSpPr>
        <p:spPr>
          <a:xfrm flipH="0" flipV="0">
            <a:off x="7452360" y="2377439"/>
            <a:ext cx="914" cy="137160"/>
          </a:xfrm>
          <a:prstGeom prst="straightConnector1">
            <a:avLst/>
          </a:prstGeom>
          <a:noFill/>
          <a:ln w="25400">
            <a:solidFill>
              <a:srgbClr val="F39C12"/>
            </a:solidFill>
            <a:tailEnd type="arrow" w="med" len="med"/>
          </a:ln>
        </p:spPr>
        <p:txBody>
          <a:bodyPr/>
          <a:lstStyle/>
          <a:p/>
        </p:txBody>
      </p:sp>
      <p:sp>
        <p:nvSpPr>
          <p:cNvPr id="1" name="rect"/>
          <p:cNvSpPr>
            <a:spLocks noGrp="1"/>
          </p:cNvSpPr>
          <p:nvPr/>
        </p:nvSpPr>
        <p:spPr>
          <a:xfrm>
            <a:off x="228600" y="4160520"/>
            <a:ext cx="1463040" cy="640080"/>
          </a:xfrm>
          <a:prstGeom prst="rect">
            <a:avLst/>
          </a:prstGeom>
          <a:solidFill>
            <a:srgbClr val="FC4C02"/>
          </a:solidFill>
          <a:ln>
            <a:noFill/>
          </a:ln>
        </p:spPr>
        <p:txBody>
          <a:bodyPr/>
          <a:lstStyle/>
          <a:p/>
        </p:txBody>
      </p:sp>
      <p:sp>
        <p:nvSpPr>
          <p:cNvPr id="38" name="TextBox 37"/>
          <p:cNvSpPr txBox="1"/>
          <p:nvPr/>
        </p:nvSpPr>
        <p:spPr>
          <a:xfrm>
            <a:off x="274320" y="4224528"/>
            <a:ext cx="1371600" cy="457200"/>
          </a:xfrm>
          <a:prstGeom prst="rect">
            <a:avLst/>
          </a:prstGeom>
          <a:noFill/>
        </p:spPr>
        <p:txBody>
          <a:bodyPr wrap="square">
            <a:spAutoFit/>
          </a:bodyPr>
          <a:lstStyle/>
          <a:p>
            <a:pPr algn="ctr"/>
            <a:r>
              <a:rPr sz="900" b="1" i="0">
                <a:solidFill>
                  <a:srgbClr val="FFFFFF"/>
                </a:solidFill>
              </a:rPr>
              <a:t>Strava API
(externe)</a:t>
            </a:r>
          </a:p>
        </p:txBody>
      </p:sp>
      <p:sp>
        <p:nvSpPr>
          <p:cNvPr id="1" name="rect"/>
          <p:cNvSpPr>
            <a:spLocks noGrp="1"/>
          </p:cNvSpPr>
          <p:nvPr/>
        </p:nvSpPr>
        <p:spPr>
          <a:xfrm>
            <a:off x="1965960" y="4160520"/>
            <a:ext cx="1463040" cy="640080"/>
          </a:xfrm>
          <a:prstGeom prst="rect">
            <a:avLst/>
          </a:prstGeom>
          <a:solidFill>
            <a:srgbClr val="34495E"/>
          </a:solidFill>
          <a:ln w="12700">
            <a:solidFill>
              <a:srgbClr val="AAAACC"/>
            </a:solidFill>
          </a:ln>
        </p:spPr>
        <p:txBody>
          <a:bodyPr/>
          <a:lstStyle/>
          <a:p/>
        </p:txBody>
      </p:sp>
      <p:sp>
        <p:nvSpPr>
          <p:cNvPr id="39" name="TextBox 38"/>
          <p:cNvSpPr txBox="1"/>
          <p:nvPr/>
        </p:nvSpPr>
        <p:spPr>
          <a:xfrm>
            <a:off x="2011680" y="4224528"/>
            <a:ext cx="1371600" cy="457200"/>
          </a:xfrm>
          <a:prstGeom prst="rect">
            <a:avLst/>
          </a:prstGeom>
          <a:noFill/>
        </p:spPr>
        <p:txBody>
          <a:bodyPr wrap="square">
            <a:spAutoFit/>
          </a:bodyPr>
          <a:lstStyle/>
          <a:p>
            <a:pPr algn="ctr"/>
            <a:r>
              <a:rPr sz="800" b="0" i="0">
                <a:solidFill>
                  <a:srgbClr val="CCCCEE"/>
                </a:solidFill>
              </a:rPr>
              <a:t>Google Maps
API (validation)</a:t>
            </a:r>
          </a:p>
        </p:txBody>
      </p:sp>
      <p:sp>
        <p:nvSpPr>
          <p:cNvPr id="1" name="arrow"/>
          <p:cNvSpPr>
            <a:spLocks noGrp="1"/>
          </p:cNvSpPr>
          <p:nvPr/>
        </p:nvSpPr>
        <p:spPr>
          <a:xfrm flipH="0" flipV="0">
            <a:off x="777240" y="3246120"/>
            <a:ext cx="914" cy="914400"/>
          </a:xfrm>
          <a:prstGeom prst="straightConnector1">
            <a:avLst/>
          </a:prstGeom>
          <a:noFill/>
          <a:ln w="19050">
            <a:solidFill>
              <a:srgbClr val="FC4C02"/>
            </a:solidFill>
            <a:tailEnd type="arrow" w="med" len="med"/>
          </a:ln>
        </p:spPr>
        <p:txBody>
          <a:bodyPr/>
          <a:lstStyle/>
          <a:p/>
        </p:txBody>
      </p:sp>
      <p:sp>
        <p:nvSpPr>
          <p:cNvPr id="1" name="arrow"/>
          <p:cNvSpPr>
            <a:spLocks noGrp="1"/>
          </p:cNvSpPr>
          <p:nvPr/>
        </p:nvSpPr>
        <p:spPr>
          <a:xfrm flipH="0" flipV="0">
            <a:off x="2697480" y="3246120"/>
            <a:ext cx="914" cy="914400"/>
          </a:xfrm>
          <a:prstGeom prst="straightConnector1">
            <a:avLst/>
          </a:prstGeom>
          <a:noFill/>
          <a:ln w="19050">
            <a:solidFill>
              <a:srgbClr val="AAAACC"/>
            </a:solidFill>
            <a:tailEnd type="arrow" w="med" len="med"/>
          </a:ln>
        </p:spPr>
        <p:txBody>
          <a:bodyPr/>
          <a:lstStyle/>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 name="rect"/>
          <p:cNvSpPr>
            <a:spLocks noGrp="1"/>
          </p:cNvSpPr>
          <p:nvPr/>
        </p:nvSpPr>
        <p:spPr>
          <a:xfrm>
            <a:off x="0" y="0"/>
            <a:ext cx="9144000" cy="5143500"/>
          </a:xfrm>
          <a:prstGeom prst="rect">
            <a:avLst/>
          </a:prstGeom>
          <a:solidFill>
            <a:srgbClr val="F8F9FA"/>
          </a:solidFill>
          <a:ln>
            <a:noFill/>
          </a:ln>
        </p:spPr>
        <p:txBody>
          <a:bodyPr/>
          <a:lstStyle/>
          <a:p/>
        </p:txBody>
      </p:sp>
      <p:sp>
        <p:nvSpPr>
          <p:cNvPr id="1" name="rect"/>
          <p:cNvSpPr>
            <a:spLocks noGrp="1"/>
          </p:cNvSpPr>
          <p:nvPr/>
        </p:nvSpPr>
        <p:spPr>
          <a:xfrm>
            <a:off x="0" y="0"/>
            <a:ext cx="9144000" cy="658368"/>
          </a:xfrm>
          <a:prstGeom prst="rect">
            <a:avLst/>
          </a:prstGeom>
          <a:solidFill>
            <a:srgbClr val="1A1A2E"/>
          </a:solidFill>
          <a:ln>
            <a:noFill/>
          </a:ln>
        </p:spPr>
        <p:txBody>
          <a:bodyPr/>
          <a:lstStyle/>
          <a:p/>
        </p:txBody>
      </p:sp>
      <p:sp>
        <p:nvSpPr>
          <p:cNvPr id="2" name="TextBox 1"/>
          <p:cNvSpPr txBox="1"/>
          <p:nvPr/>
        </p:nvSpPr>
        <p:spPr>
          <a:xfrm>
            <a:off x="274320" y="109728"/>
            <a:ext cx="8595360" cy="457200"/>
          </a:xfrm>
          <a:prstGeom prst="rect">
            <a:avLst/>
          </a:prstGeom>
          <a:noFill/>
        </p:spPr>
        <p:txBody>
          <a:bodyPr wrap="square">
            <a:spAutoFit/>
          </a:bodyPr>
          <a:lstStyle/>
          <a:p>
            <a:pPr algn="l"/>
            <a:r>
              <a:rPr sz="2000" b="1" i="0">
                <a:solidFill>
                  <a:srgbClr val="FFFFFF"/>
                </a:solidFill>
              </a:rPr>
              <a:t>Power BI — Vue RH (captures d'écran)</a:t>
            </a:r>
          </a:p>
        </p:txBody>
      </p:sp>
      <p:sp>
        <p:nvSpPr>
          <p:cNvPr id="1" name="rect"/>
          <p:cNvSpPr>
            <a:spLocks noGrp="1"/>
          </p:cNvSpPr>
          <p:nvPr/>
        </p:nvSpPr>
        <p:spPr>
          <a:xfrm>
            <a:off x="137160" y="731519"/>
            <a:ext cx="4389120" cy="3840479"/>
          </a:xfrm>
          <a:prstGeom prst="rect">
            <a:avLst/>
          </a:prstGeom>
          <a:solidFill>
            <a:srgbClr val="DDDDDD"/>
          </a:solidFill>
          <a:ln>
            <a:noFill/>
          </a:ln>
        </p:spPr>
        <p:txBody>
          <a:bodyPr/>
          <a:lstStyle/>
          <a:p/>
        </p:txBody>
      </p:sp>
      <p:pic>
        <p:nvPicPr>
          <p:cNvPr id="3" name="Picture 2" descr="RH_TBD.png"/>
          <p:cNvPicPr>
            <a:picLocks noChangeAspect="1"/>
          </p:cNvPicPr>
          <p:nvPr/>
        </p:nvPicPr>
        <p:blipFill>
          <a:blip r:embed="rId2"/>
          <a:stretch>
            <a:fillRect/>
          </a:stretch>
        </p:blipFill>
        <p:spPr>
          <a:xfrm>
            <a:off x="182880" y="777240"/>
            <a:ext cx="4297680" cy="3749039"/>
          </a:xfrm>
          <a:prstGeom prst="rect">
            <a:avLst/>
          </a:prstGeom>
        </p:spPr>
      </p:pic>
      <p:sp>
        <p:nvSpPr>
          <p:cNvPr id="4" name="TextBox 3"/>
          <p:cNvSpPr txBox="1"/>
          <p:nvPr/>
        </p:nvSpPr>
        <p:spPr>
          <a:xfrm>
            <a:off x="182880" y="4571999"/>
            <a:ext cx="4297680" cy="256032"/>
          </a:xfrm>
          <a:prstGeom prst="rect">
            <a:avLst/>
          </a:prstGeom>
          <a:noFill/>
        </p:spPr>
        <p:txBody>
          <a:bodyPr wrap="square">
            <a:spAutoFit/>
          </a:bodyPr>
          <a:lstStyle/>
          <a:p>
            <a:pPr algn="ctr"/>
            <a:r>
              <a:rPr sz="900" b="0" i="1">
                <a:solidFill>
                  <a:srgbClr val="555555"/>
                </a:solidFill>
              </a:rPr>
              <a:t>Tableau de bord — Vue RH globale</a:t>
            </a:r>
          </a:p>
        </p:txBody>
      </p:sp>
      <p:sp>
        <p:nvSpPr>
          <p:cNvPr id="1" name="rect"/>
          <p:cNvSpPr>
            <a:spLocks noGrp="1"/>
          </p:cNvSpPr>
          <p:nvPr/>
        </p:nvSpPr>
        <p:spPr>
          <a:xfrm>
            <a:off x="4617720" y="731519"/>
            <a:ext cx="4389120" cy="3840479"/>
          </a:xfrm>
          <a:prstGeom prst="rect">
            <a:avLst/>
          </a:prstGeom>
          <a:solidFill>
            <a:srgbClr val="DDDDDD"/>
          </a:solidFill>
          <a:ln>
            <a:noFill/>
          </a:ln>
        </p:spPr>
        <p:txBody>
          <a:bodyPr/>
          <a:lstStyle/>
          <a:p/>
        </p:txBody>
      </p:sp>
      <p:pic>
        <p:nvPicPr>
          <p:cNvPr id="5" name="Picture 4" descr="RH_Trajet.png"/>
          <p:cNvPicPr>
            <a:picLocks noChangeAspect="1"/>
          </p:cNvPicPr>
          <p:nvPr/>
        </p:nvPicPr>
        <p:blipFill>
          <a:blip r:embed="rId3"/>
          <a:stretch>
            <a:fillRect/>
          </a:stretch>
        </p:blipFill>
        <p:spPr>
          <a:xfrm>
            <a:off x="4663440" y="777240"/>
            <a:ext cx="4297680" cy="3749039"/>
          </a:xfrm>
          <a:prstGeom prst="rect">
            <a:avLst/>
          </a:prstGeom>
        </p:spPr>
      </p:pic>
      <p:sp>
        <p:nvSpPr>
          <p:cNvPr id="6" name="TextBox 5"/>
          <p:cNvSpPr txBox="1"/>
          <p:nvPr/>
        </p:nvSpPr>
        <p:spPr>
          <a:xfrm>
            <a:off x="4663440" y="4571999"/>
            <a:ext cx="4297680" cy="256032"/>
          </a:xfrm>
          <a:prstGeom prst="rect">
            <a:avLst/>
          </a:prstGeom>
          <a:noFill/>
        </p:spPr>
        <p:txBody>
          <a:bodyPr wrap="square">
            <a:spAutoFit/>
          </a:bodyPr>
          <a:lstStyle/>
          <a:p>
            <a:pPr algn="ctr"/>
            <a:r>
              <a:rPr sz="900" b="0" i="1">
                <a:solidFill>
                  <a:srgbClr val="555555"/>
                </a:solidFill>
              </a:rPr>
              <a:t>Prime de trajet — éligibilité par salarié</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 name="rect"/>
          <p:cNvSpPr>
            <a:spLocks noGrp="1"/>
          </p:cNvSpPr>
          <p:nvPr/>
        </p:nvSpPr>
        <p:spPr>
          <a:xfrm>
            <a:off x="0" y="0"/>
            <a:ext cx="9144000" cy="5143500"/>
          </a:xfrm>
          <a:prstGeom prst="rect">
            <a:avLst/>
          </a:prstGeom>
          <a:solidFill>
            <a:srgbClr val="F8F9FA"/>
          </a:solidFill>
          <a:ln>
            <a:noFill/>
          </a:ln>
        </p:spPr>
        <p:txBody>
          <a:bodyPr/>
          <a:lstStyle/>
          <a:p/>
        </p:txBody>
      </p:sp>
      <p:sp>
        <p:nvSpPr>
          <p:cNvPr id="1" name="rect"/>
          <p:cNvSpPr>
            <a:spLocks noGrp="1"/>
          </p:cNvSpPr>
          <p:nvPr/>
        </p:nvSpPr>
        <p:spPr>
          <a:xfrm>
            <a:off x="0" y="0"/>
            <a:ext cx="9144000" cy="658368"/>
          </a:xfrm>
          <a:prstGeom prst="rect">
            <a:avLst/>
          </a:prstGeom>
          <a:solidFill>
            <a:srgbClr val="1A1A2E"/>
          </a:solidFill>
          <a:ln>
            <a:noFill/>
          </a:ln>
        </p:spPr>
        <p:txBody>
          <a:bodyPr/>
          <a:lstStyle/>
          <a:p/>
        </p:txBody>
      </p:sp>
      <p:sp>
        <p:nvSpPr>
          <p:cNvPr id="2" name="TextBox 1"/>
          <p:cNvSpPr txBox="1"/>
          <p:nvPr/>
        </p:nvSpPr>
        <p:spPr>
          <a:xfrm>
            <a:off x="274320" y="109728"/>
            <a:ext cx="8595360" cy="457200"/>
          </a:xfrm>
          <a:prstGeom prst="rect">
            <a:avLst/>
          </a:prstGeom>
          <a:noFill/>
        </p:spPr>
        <p:txBody>
          <a:bodyPr wrap="square">
            <a:spAutoFit/>
          </a:bodyPr>
          <a:lstStyle/>
          <a:p>
            <a:pPr algn="l"/>
            <a:r>
              <a:rPr sz="2000" b="1" i="0">
                <a:solidFill>
                  <a:srgbClr val="FFFFFF"/>
                </a:solidFill>
              </a:rPr>
              <a:t>Power BI — Vue RH (suite)</a:t>
            </a:r>
          </a:p>
        </p:txBody>
      </p:sp>
      <p:sp>
        <p:nvSpPr>
          <p:cNvPr id="1" name="rect"/>
          <p:cNvSpPr>
            <a:spLocks noGrp="1"/>
          </p:cNvSpPr>
          <p:nvPr/>
        </p:nvSpPr>
        <p:spPr>
          <a:xfrm>
            <a:off x="137160" y="731519"/>
            <a:ext cx="4389120" cy="3840479"/>
          </a:xfrm>
          <a:prstGeom prst="rect">
            <a:avLst/>
          </a:prstGeom>
          <a:solidFill>
            <a:srgbClr val="DDDDDD"/>
          </a:solidFill>
          <a:ln>
            <a:noFill/>
          </a:ln>
        </p:spPr>
        <p:txBody>
          <a:bodyPr/>
          <a:lstStyle/>
          <a:p/>
        </p:txBody>
      </p:sp>
      <p:pic>
        <p:nvPicPr>
          <p:cNvPr id="3" name="Picture 2" descr="RH_5jours.png"/>
          <p:cNvPicPr>
            <a:picLocks noChangeAspect="1"/>
          </p:cNvPicPr>
          <p:nvPr/>
        </p:nvPicPr>
        <p:blipFill>
          <a:blip r:embed="rId2"/>
          <a:stretch>
            <a:fillRect/>
          </a:stretch>
        </p:blipFill>
        <p:spPr>
          <a:xfrm>
            <a:off x="182880" y="777240"/>
            <a:ext cx="4297680" cy="3749039"/>
          </a:xfrm>
          <a:prstGeom prst="rect">
            <a:avLst/>
          </a:prstGeom>
        </p:spPr>
      </p:pic>
      <p:sp>
        <p:nvSpPr>
          <p:cNvPr id="4" name="TextBox 3"/>
          <p:cNvSpPr txBox="1"/>
          <p:nvPr/>
        </p:nvSpPr>
        <p:spPr>
          <a:xfrm>
            <a:off x="182880" y="4571999"/>
            <a:ext cx="4297680" cy="256032"/>
          </a:xfrm>
          <a:prstGeom prst="rect">
            <a:avLst/>
          </a:prstGeom>
          <a:noFill/>
        </p:spPr>
        <p:txBody>
          <a:bodyPr wrap="square">
            <a:spAutoFit/>
          </a:bodyPr>
          <a:lstStyle/>
          <a:p>
            <a:pPr algn="ctr"/>
            <a:r>
              <a:rPr sz="900" b="0" i="1">
                <a:solidFill>
                  <a:srgbClr val="555555"/>
                </a:solidFill>
              </a:rPr>
              <a:t>5 Jours bien-être — éligibilité par salarié</a:t>
            </a:r>
          </a:p>
        </p:txBody>
      </p:sp>
      <p:sp>
        <p:nvSpPr>
          <p:cNvPr id="1" name="rect"/>
          <p:cNvSpPr>
            <a:spLocks noGrp="1"/>
          </p:cNvSpPr>
          <p:nvPr/>
        </p:nvSpPr>
        <p:spPr>
          <a:xfrm>
            <a:off x="4617720" y="731519"/>
            <a:ext cx="4389120" cy="3840479"/>
          </a:xfrm>
          <a:prstGeom prst="rect">
            <a:avLst/>
          </a:prstGeom>
          <a:solidFill>
            <a:srgbClr val="DDDDDD"/>
          </a:solidFill>
          <a:ln>
            <a:noFill/>
          </a:ln>
        </p:spPr>
        <p:txBody>
          <a:bodyPr/>
          <a:lstStyle/>
          <a:p/>
        </p:txBody>
      </p:sp>
      <p:pic>
        <p:nvPicPr>
          <p:cNvPr id="5" name="Picture 4" descr="RH_ActivitesSportives.png"/>
          <p:cNvPicPr>
            <a:picLocks noChangeAspect="1"/>
          </p:cNvPicPr>
          <p:nvPr/>
        </p:nvPicPr>
        <p:blipFill>
          <a:blip r:embed="rId3"/>
          <a:stretch>
            <a:fillRect/>
          </a:stretch>
        </p:blipFill>
        <p:spPr>
          <a:xfrm>
            <a:off x="4663440" y="777240"/>
            <a:ext cx="4297680" cy="3749039"/>
          </a:xfrm>
          <a:prstGeom prst="rect">
            <a:avLst/>
          </a:prstGeom>
        </p:spPr>
      </p:pic>
      <p:sp>
        <p:nvSpPr>
          <p:cNvPr id="6" name="TextBox 5"/>
          <p:cNvSpPr txBox="1"/>
          <p:nvPr/>
        </p:nvSpPr>
        <p:spPr>
          <a:xfrm>
            <a:off x="4663440" y="4571999"/>
            <a:ext cx="4297680" cy="256032"/>
          </a:xfrm>
          <a:prstGeom prst="rect">
            <a:avLst/>
          </a:prstGeom>
          <a:noFill/>
        </p:spPr>
        <p:txBody>
          <a:bodyPr wrap="square">
            <a:spAutoFit/>
          </a:bodyPr>
          <a:lstStyle/>
          <a:p>
            <a:pPr algn="ctr"/>
            <a:r>
              <a:rPr sz="900" b="0" i="1">
                <a:solidFill>
                  <a:srgbClr val="555555"/>
                </a:solidFill>
              </a:rPr>
              <a:t>Activités sportives — Vue globale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 name="rect"/>
          <p:cNvSpPr>
            <a:spLocks noGrp="1"/>
          </p:cNvSpPr>
          <p:nvPr/>
        </p:nvSpPr>
        <p:spPr>
          <a:xfrm>
            <a:off x="0" y="0"/>
            <a:ext cx="9144000" cy="5143500"/>
          </a:xfrm>
          <a:prstGeom prst="rect">
            <a:avLst/>
          </a:prstGeom>
          <a:solidFill>
            <a:srgbClr val="F8F9FA"/>
          </a:solidFill>
          <a:ln>
            <a:noFill/>
          </a:ln>
        </p:spPr>
        <p:txBody>
          <a:bodyPr/>
          <a:lstStyle/>
          <a:p/>
        </p:txBody>
      </p:sp>
      <p:sp>
        <p:nvSpPr>
          <p:cNvPr id="1" name="rect"/>
          <p:cNvSpPr>
            <a:spLocks noGrp="1"/>
          </p:cNvSpPr>
          <p:nvPr/>
        </p:nvSpPr>
        <p:spPr>
          <a:xfrm>
            <a:off x="0" y="0"/>
            <a:ext cx="9144000" cy="658368"/>
          </a:xfrm>
          <a:prstGeom prst="rect">
            <a:avLst/>
          </a:prstGeom>
          <a:solidFill>
            <a:srgbClr val="1A1A2E"/>
          </a:solidFill>
          <a:ln>
            <a:noFill/>
          </a:ln>
        </p:spPr>
        <p:txBody>
          <a:bodyPr/>
          <a:lstStyle/>
          <a:p/>
        </p:txBody>
      </p:sp>
      <p:sp>
        <p:nvSpPr>
          <p:cNvPr id="2" name="TextBox 1"/>
          <p:cNvSpPr txBox="1"/>
          <p:nvPr/>
        </p:nvSpPr>
        <p:spPr>
          <a:xfrm>
            <a:off x="274320" y="109728"/>
            <a:ext cx="8595360" cy="457200"/>
          </a:xfrm>
          <a:prstGeom prst="rect">
            <a:avLst/>
          </a:prstGeom>
          <a:noFill/>
        </p:spPr>
        <p:txBody>
          <a:bodyPr wrap="square">
            <a:spAutoFit/>
          </a:bodyPr>
          <a:lstStyle/>
          <a:p>
            <a:pPr algn="l"/>
            <a:r>
              <a:rPr sz="2000" b="1" i="0">
                <a:solidFill>
                  <a:srgbClr val="FFFFFF"/>
                </a:solidFill>
              </a:rPr>
              <a:t>Power BI — Vue Employé (captures d'écran)</a:t>
            </a:r>
          </a:p>
        </p:txBody>
      </p:sp>
      <p:sp>
        <p:nvSpPr>
          <p:cNvPr id="1" name="rect"/>
          <p:cNvSpPr>
            <a:spLocks noGrp="1"/>
          </p:cNvSpPr>
          <p:nvPr/>
        </p:nvSpPr>
        <p:spPr>
          <a:xfrm>
            <a:off x="137160" y="731519"/>
            <a:ext cx="4389120" cy="3840479"/>
          </a:xfrm>
          <a:prstGeom prst="rect">
            <a:avLst/>
          </a:prstGeom>
          <a:solidFill>
            <a:srgbClr val="DDDDDD"/>
          </a:solidFill>
          <a:ln>
            <a:noFill/>
          </a:ln>
        </p:spPr>
        <p:txBody>
          <a:bodyPr/>
          <a:lstStyle/>
          <a:p/>
        </p:txBody>
      </p:sp>
      <p:pic>
        <p:nvPicPr>
          <p:cNvPr id="3" name="Picture 2" descr="Employe_TDB.png"/>
          <p:cNvPicPr>
            <a:picLocks noChangeAspect="1"/>
          </p:cNvPicPr>
          <p:nvPr/>
        </p:nvPicPr>
        <p:blipFill>
          <a:blip r:embed="rId2"/>
          <a:stretch>
            <a:fillRect/>
          </a:stretch>
        </p:blipFill>
        <p:spPr>
          <a:xfrm>
            <a:off x="182880" y="777240"/>
            <a:ext cx="4297680" cy="3749039"/>
          </a:xfrm>
          <a:prstGeom prst="rect">
            <a:avLst/>
          </a:prstGeom>
        </p:spPr>
      </p:pic>
      <p:sp>
        <p:nvSpPr>
          <p:cNvPr id="4" name="TextBox 3"/>
          <p:cNvSpPr txBox="1"/>
          <p:nvPr/>
        </p:nvSpPr>
        <p:spPr>
          <a:xfrm>
            <a:off x="182880" y="4571999"/>
            <a:ext cx="4297680" cy="256032"/>
          </a:xfrm>
          <a:prstGeom prst="rect">
            <a:avLst/>
          </a:prstGeom>
          <a:noFill/>
        </p:spPr>
        <p:txBody>
          <a:bodyPr wrap="square">
            <a:spAutoFit/>
          </a:bodyPr>
          <a:lstStyle/>
          <a:p>
            <a:pPr algn="ctr"/>
            <a:r>
              <a:rPr sz="900" b="0" i="1">
                <a:solidFill>
                  <a:srgbClr val="555555"/>
                </a:solidFill>
              </a:rPr>
              <a:t>Mon tableau de bord — Avantages Sportifs</a:t>
            </a:r>
          </a:p>
        </p:txBody>
      </p:sp>
      <p:sp>
        <p:nvSpPr>
          <p:cNvPr id="1" name="rect"/>
          <p:cNvSpPr>
            <a:spLocks noGrp="1"/>
          </p:cNvSpPr>
          <p:nvPr/>
        </p:nvSpPr>
        <p:spPr>
          <a:xfrm>
            <a:off x="4617720" y="731519"/>
            <a:ext cx="4389120" cy="3840479"/>
          </a:xfrm>
          <a:prstGeom prst="rect">
            <a:avLst/>
          </a:prstGeom>
          <a:solidFill>
            <a:srgbClr val="DDDDDD"/>
          </a:solidFill>
          <a:ln>
            <a:noFill/>
          </a:ln>
        </p:spPr>
        <p:txBody>
          <a:bodyPr/>
          <a:lstStyle/>
          <a:p/>
        </p:txBody>
      </p:sp>
      <p:pic>
        <p:nvPicPr>
          <p:cNvPr id="5" name="Picture 4" descr="Employe_ActiviteSportive.png"/>
          <p:cNvPicPr>
            <a:picLocks noChangeAspect="1"/>
          </p:cNvPicPr>
          <p:nvPr/>
        </p:nvPicPr>
        <p:blipFill>
          <a:blip r:embed="rId3"/>
          <a:stretch>
            <a:fillRect/>
          </a:stretch>
        </p:blipFill>
        <p:spPr>
          <a:xfrm>
            <a:off x="4663440" y="777240"/>
            <a:ext cx="4297680" cy="3749039"/>
          </a:xfrm>
          <a:prstGeom prst="rect">
            <a:avLst/>
          </a:prstGeom>
        </p:spPr>
      </p:pic>
      <p:sp>
        <p:nvSpPr>
          <p:cNvPr id="6" name="TextBox 5"/>
          <p:cNvSpPr txBox="1"/>
          <p:nvPr/>
        </p:nvSpPr>
        <p:spPr>
          <a:xfrm>
            <a:off x="4663440" y="4571999"/>
            <a:ext cx="4297680" cy="256032"/>
          </a:xfrm>
          <a:prstGeom prst="rect">
            <a:avLst/>
          </a:prstGeom>
          <a:noFill/>
        </p:spPr>
        <p:txBody>
          <a:bodyPr wrap="square">
            <a:spAutoFit/>
          </a:bodyPr>
          <a:lstStyle/>
          <a:p>
            <a:pPr algn="ctr"/>
            <a:r>
              <a:rPr sz="900" b="0" i="1">
                <a:solidFill>
                  <a:srgbClr val="555555"/>
                </a:solidFill>
              </a:rPr>
              <a:t>Mes activités — 12 derniers mois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2499</Words>
  <Application>Microsoft Office PowerPoint</Application>
  <PresentationFormat>On-screen Show (16:9)</PresentationFormat>
  <Paragraphs>265</Paragraphs>
  <Slides>17</Slides>
  <Notes>17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17</vt:i4>
      </vt:variant>
    </vt:vector>
  </HeadingPairs>
  <TitlesOfParts>
    <vt:vector size="1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Avantages Sportifs — POC</dc:title>
  <dc:subject>PptxGenJS Presentation</dc:subject>
  <dc:creator>Sport Data Solution</dc:creator>
  <cp:lastModifiedBy>ardit karaboja</cp:lastModifiedBy>
  <cp:revision>3</cp:revision>
  <dcterms:created xsi:type="dcterms:W3CDTF">2026-06-16T13:19:31Z</dcterms:created>
  <dcterms:modified xsi:type="dcterms:W3CDTF">2026-06-16T13:27:46Z</dcterms:modified>
</cp:coreProperties>
</file>